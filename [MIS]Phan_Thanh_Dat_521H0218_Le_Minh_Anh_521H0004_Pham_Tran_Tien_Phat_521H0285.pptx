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Lst>
  <p:sldSz cx="18288000" cy="10287000"/>
  <p:notesSz cx="6858000" cy="9144000"/>
  <p:embeddedFontLst>
    <p:embeddedFont>
      <p:font typeface="DM Sans" pitchFamily="2" charset="0"/>
      <p:regular r:id="rId47"/>
    </p:embeddedFont>
    <p:embeddedFont>
      <p:font typeface="Muli" panose="020B0604020202020204" charset="0"/>
      <p:regular r:id="rId48"/>
    </p:embeddedFont>
    <p:embeddedFont>
      <p:font typeface="Muli Bold" panose="020B0604020202020204" charset="0"/>
      <p:regular r:id="rId49"/>
    </p:embeddedFont>
    <p:embeddedFont>
      <p:font typeface="Muli Semi-Bold" panose="020B0604020202020204" charset="0"/>
      <p:regular r:id="rId50"/>
    </p:embeddedFont>
    <p:embeddedFont>
      <p:font typeface="Times New Roman Bold" panose="02020803070505020304" pitchFamily="18" charset="0"/>
      <p:regular r:id="rId51"/>
      <p:bold r:id="rId52"/>
    </p:embeddedFont>
    <p:embeddedFont>
      <p:font typeface="Times New Roman Bold Italics" panose="020B0604020202020204" charset="0"/>
      <p:regular r:id="rId53"/>
    </p:embeddedFont>
    <p:embeddedFont>
      <p:font typeface="Times New Roman Italics" panose="020B0604020202020204" charset="0"/>
      <p:regular r:id="rId54"/>
    </p:embeddedFont>
    <p:embeddedFont>
      <p:font typeface="Times New Roman Semi-Bold" panose="020B0604020202020204" charset="0"/>
      <p:regular r:id="rId5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3" d="100"/>
          <a:sy n="33" d="100"/>
        </p:scale>
        <p:origin x="1954" y="6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font" Target="fonts/font9.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7.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png"/><Relationship Id="rId9" Type="http://schemas.openxmlformats.org/officeDocument/2006/relationships/image" Target="../media/image16.sv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svg"/><Relationship Id="rId10" Type="http://schemas.openxmlformats.org/officeDocument/2006/relationships/image" Target="../media/image16.svg"/><Relationship Id="rId4" Type="http://schemas.openxmlformats.org/officeDocument/2006/relationships/image" Target="../media/image19.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16.sv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32.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16.svg"/></Relationships>
</file>

<file path=ppt/slides/_rels/slide12.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15.png"/><Relationship Id="rId7" Type="http://schemas.openxmlformats.org/officeDocument/2006/relationships/image" Target="../media/image35.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34.sv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16.svg"/><Relationship Id="rId9" Type="http://schemas.openxmlformats.org/officeDocument/2006/relationships/image" Target="../media/image37.png"/></Relationships>
</file>

<file path=ppt/slides/_rels/slide13.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15.png"/><Relationship Id="rId7" Type="http://schemas.openxmlformats.org/officeDocument/2006/relationships/image" Target="../media/image41.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16.sv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45.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16.sv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docs.google.com/spreadsheets/d/1DUF2isFWsqVSYhbaACYtbgcLi_YjDqpE3GLQIVgkKQg/edit#gid=69851113" TargetMode="External"/><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 Id="rId9" Type="http://schemas.openxmlformats.org/officeDocument/2006/relationships/hyperlink" Target="https://docs.google.com/spreadsheets/d/1DUF2isFWsqVSYhbaACYtbgcLi_YjDqpE3GLQIVgkKQg/edit#gid=69851113"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21.png"/><Relationship Id="rId7" Type="http://schemas.openxmlformats.org/officeDocument/2006/relationships/image" Target="../media/image54.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22.svg"/></Relationships>
</file>

<file path=ppt/slides/_rels/slide1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59.svg"/><Relationship Id="rId5" Type="http://schemas.openxmlformats.org/officeDocument/2006/relationships/image" Target="../media/image58.png"/><Relationship Id="rId4" Type="http://schemas.openxmlformats.org/officeDocument/2006/relationships/image" Target="../media/image57.svg"/></Relationships>
</file>

<file path=ppt/slides/_rels/slide2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s>
</file>

<file path=ppt/slides/_rels/slide21.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svg"/><Relationship Id="rId3" Type="http://schemas.openxmlformats.org/officeDocument/2006/relationships/image" Target="../media/image16.svg"/><Relationship Id="rId7" Type="http://schemas.openxmlformats.org/officeDocument/2006/relationships/image" Target="../media/image67.svg"/><Relationship Id="rId12" Type="http://schemas.openxmlformats.org/officeDocument/2006/relationships/image" Target="../media/image72.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66.png"/><Relationship Id="rId11" Type="http://schemas.openxmlformats.org/officeDocument/2006/relationships/image" Target="../media/image71.svg"/><Relationship Id="rId5" Type="http://schemas.openxmlformats.org/officeDocument/2006/relationships/image" Target="../media/image65.svg"/><Relationship Id="rId15" Type="http://schemas.openxmlformats.org/officeDocument/2006/relationships/image" Target="../media/image8.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svg"/><Relationship Id="rId14" Type="http://schemas.openxmlformats.org/officeDocument/2006/relationships/hyperlink" Target="https://docs.google.com/spreadsheets/d/1DUF2isFWsqVSYhbaACYtbgcLi_YjDqpE3GLQIVgkKQg/edit#gid=69851113"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75.svg"/><Relationship Id="rId13" Type="http://schemas.openxmlformats.org/officeDocument/2006/relationships/hyperlink" Target="https://docs.google.com/spreadsheets/d/1DUF2isFWsqVSYhbaACYtbgcLi_YjDqpE3GLQIVgkKQg/edit#gid=69851113" TargetMode="External"/><Relationship Id="rId3" Type="http://schemas.openxmlformats.org/officeDocument/2006/relationships/image" Target="../media/image16.svg"/><Relationship Id="rId7" Type="http://schemas.openxmlformats.org/officeDocument/2006/relationships/image" Target="../media/image74.png"/><Relationship Id="rId12" Type="http://schemas.openxmlformats.org/officeDocument/2006/relationships/image" Target="../media/image79.sv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78.png"/><Relationship Id="rId5" Type="http://schemas.openxmlformats.org/officeDocument/2006/relationships/image" Target="../media/image71.svg"/><Relationship Id="rId10" Type="http://schemas.openxmlformats.org/officeDocument/2006/relationships/image" Target="../media/image77.svg"/><Relationship Id="rId4" Type="http://schemas.openxmlformats.org/officeDocument/2006/relationships/image" Target="../media/image70.png"/><Relationship Id="rId9" Type="http://schemas.openxmlformats.org/officeDocument/2006/relationships/image" Target="../media/image76.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2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7.xml"/><Relationship Id="rId6" Type="http://schemas.openxmlformats.org/officeDocument/2006/relationships/image" Target="../media/image83.png"/><Relationship Id="rId5" Type="http://schemas.openxmlformats.org/officeDocument/2006/relationships/image" Target="../media/image8.png"/><Relationship Id="rId4" Type="http://schemas.openxmlformats.org/officeDocument/2006/relationships/image" Target="../media/image82.png"/></Relationships>
</file>

<file path=ppt/slides/_rels/slide2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image" Target="../media/image85.svg"/><Relationship Id="rId7" Type="http://schemas.openxmlformats.org/officeDocument/2006/relationships/image" Target="../media/image8.png"/><Relationship Id="rId2" Type="http://schemas.openxmlformats.org/officeDocument/2006/relationships/image" Target="../media/image84.png"/><Relationship Id="rId1" Type="http://schemas.openxmlformats.org/officeDocument/2006/relationships/slideLayout" Target="../slideLayouts/slideLayout7.xml"/><Relationship Id="rId6" Type="http://schemas.openxmlformats.org/officeDocument/2006/relationships/image" Target="../media/image88.png"/><Relationship Id="rId5" Type="http://schemas.openxmlformats.org/officeDocument/2006/relationships/image" Target="../media/image87.svg"/><Relationship Id="rId4" Type="http://schemas.openxmlformats.org/officeDocument/2006/relationships/image" Target="../media/image86.png"/></Relationships>
</file>

<file path=ppt/slides/_rels/slide3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85.svg"/><Relationship Id="rId7" Type="http://schemas.openxmlformats.org/officeDocument/2006/relationships/image" Target="../media/image90.png"/><Relationship Id="rId2" Type="http://schemas.openxmlformats.org/officeDocument/2006/relationships/image" Target="../media/image84.png"/><Relationship Id="rId1" Type="http://schemas.openxmlformats.org/officeDocument/2006/relationships/slideLayout" Target="../slideLayouts/slideLayout7.xml"/><Relationship Id="rId6" Type="http://schemas.openxmlformats.org/officeDocument/2006/relationships/image" Target="../media/image89.png"/><Relationship Id="rId5" Type="http://schemas.openxmlformats.org/officeDocument/2006/relationships/image" Target="../media/image87.svg"/><Relationship Id="rId4" Type="http://schemas.openxmlformats.org/officeDocument/2006/relationships/image" Target="../media/image86.png"/></Relationships>
</file>

<file path=ppt/slides/_rels/slide3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85.svg"/><Relationship Id="rId2" Type="http://schemas.openxmlformats.org/officeDocument/2006/relationships/image" Target="../media/image84.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85.svg"/><Relationship Id="rId4" Type="http://schemas.openxmlformats.org/officeDocument/2006/relationships/image" Target="../media/image84.png"/></Relationships>
</file>

<file path=ppt/slides/_rels/slide3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85.svg"/><Relationship Id="rId4" Type="http://schemas.openxmlformats.org/officeDocument/2006/relationships/image" Target="../media/image84.png"/></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93.svg"/><Relationship Id="rId2" Type="http://schemas.openxmlformats.org/officeDocument/2006/relationships/image" Target="../media/image92.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94.png"/></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5.png"/><Relationship Id="rId1" Type="http://schemas.openxmlformats.org/officeDocument/2006/relationships/slideLayout" Target="../slideLayouts/slideLayout7.xml"/><Relationship Id="rId5" Type="http://schemas.openxmlformats.org/officeDocument/2006/relationships/image" Target="../media/image14.svg"/><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hyperlink" Target="https://docs.google.com/spreadsheets/d/1DUF2isFWsqVSYhbaACYtbgcLi_YjDqpE3GLQIVgkKQg/edit#gid=69851113" TargetMode="External"/><Relationship Id="rId3" Type="http://schemas.openxmlformats.org/officeDocument/2006/relationships/image" Target="../media/image99.svg"/><Relationship Id="rId7" Type="http://schemas.openxmlformats.org/officeDocument/2006/relationships/image" Target="../media/image103.svg"/><Relationship Id="rId2" Type="http://schemas.openxmlformats.org/officeDocument/2006/relationships/image" Target="../media/image98.png"/><Relationship Id="rId1" Type="http://schemas.openxmlformats.org/officeDocument/2006/relationships/slideLayout" Target="../slideLayouts/slideLayout7.xml"/><Relationship Id="rId6" Type="http://schemas.openxmlformats.org/officeDocument/2006/relationships/image" Target="../media/image102.png"/><Relationship Id="rId5" Type="http://schemas.openxmlformats.org/officeDocument/2006/relationships/image" Target="../media/image101.svg"/><Relationship Id="rId4" Type="http://schemas.openxmlformats.org/officeDocument/2006/relationships/image" Target="../media/image100.png"/><Relationship Id="rId9" Type="http://schemas.openxmlformats.org/officeDocument/2006/relationships/image" Target="../media/image8.png"/></Relationships>
</file>

<file path=ppt/slides/_rels/slide41.xml.rels><?xml version="1.0" encoding="UTF-8" standalone="yes"?>
<Relationships xmlns="http://schemas.openxmlformats.org/package/2006/relationships"><Relationship Id="rId3" Type="http://schemas.openxmlformats.org/officeDocument/2006/relationships/image" Target="../media/image105.png"/><Relationship Id="rId7" Type="http://schemas.openxmlformats.org/officeDocument/2006/relationships/image" Target="../media/image8.png"/><Relationship Id="rId2" Type="http://schemas.openxmlformats.org/officeDocument/2006/relationships/image" Target="../media/image104.png"/><Relationship Id="rId1" Type="http://schemas.openxmlformats.org/officeDocument/2006/relationships/slideLayout" Target="../slideLayouts/slideLayout7.xml"/><Relationship Id="rId6" Type="http://schemas.openxmlformats.org/officeDocument/2006/relationships/hyperlink" Target="https://docs.google.com/spreadsheets/d/1DUF2isFWsqVSYhbaACYtbgcLi_YjDqpE3GLQIVgkKQg/edit#gid=69851113" TargetMode="External"/><Relationship Id="rId5" Type="http://schemas.openxmlformats.org/officeDocument/2006/relationships/image" Target="../media/image107.png"/><Relationship Id="rId4" Type="http://schemas.openxmlformats.org/officeDocument/2006/relationships/image" Target="../media/image106.png"/></Relationships>
</file>

<file path=ppt/slides/_rels/slide4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09.svg"/></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11.gif"/><Relationship Id="rId2" Type="http://schemas.openxmlformats.org/officeDocument/2006/relationships/image" Target="../media/image110.g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190033" y="497441"/>
            <a:ext cx="3907922" cy="2158036"/>
          </a:xfrm>
          <a:custGeom>
            <a:avLst/>
            <a:gdLst/>
            <a:ahLst/>
            <a:cxnLst/>
            <a:rect l="l" t="t" r="r" b="b"/>
            <a:pathLst>
              <a:path w="3907922" h="2158036">
                <a:moveTo>
                  <a:pt x="0" y="0"/>
                </a:moveTo>
                <a:lnTo>
                  <a:pt x="3907922" y="0"/>
                </a:lnTo>
                <a:lnTo>
                  <a:pt x="3907922" y="2158036"/>
                </a:lnTo>
                <a:lnTo>
                  <a:pt x="0" y="2158036"/>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4830587" y="3588075"/>
            <a:ext cx="8626814" cy="1151484"/>
          </a:xfrm>
          <a:prstGeom prst="rect">
            <a:avLst/>
          </a:prstGeom>
        </p:spPr>
        <p:txBody>
          <a:bodyPr lIns="0" tIns="0" rIns="0" bIns="0" rtlCol="0" anchor="t">
            <a:spAutoFit/>
          </a:bodyPr>
          <a:lstStyle/>
          <a:p>
            <a:pPr algn="ctr">
              <a:lnSpc>
                <a:spcPts val="8416"/>
              </a:lnSpc>
            </a:pPr>
            <a:r>
              <a:rPr lang="en-US" sz="6011" spc="-84">
                <a:solidFill>
                  <a:srgbClr val="000000"/>
                </a:solidFill>
                <a:latin typeface="Times New Roman"/>
              </a:rPr>
              <a:t>Final Report </a:t>
            </a:r>
          </a:p>
        </p:txBody>
      </p:sp>
      <p:sp>
        <p:nvSpPr>
          <p:cNvPr id="4" name="TextBox 4"/>
          <p:cNvSpPr txBox="1"/>
          <p:nvPr/>
        </p:nvSpPr>
        <p:spPr>
          <a:xfrm>
            <a:off x="8012712" y="7648374"/>
            <a:ext cx="2262564" cy="739141"/>
          </a:xfrm>
          <a:prstGeom prst="rect">
            <a:avLst/>
          </a:prstGeom>
        </p:spPr>
        <p:txBody>
          <a:bodyPr lIns="0" tIns="0" rIns="0" bIns="0" rtlCol="0" anchor="t">
            <a:spAutoFit/>
          </a:bodyPr>
          <a:lstStyle/>
          <a:p>
            <a:pPr algn="l">
              <a:lnSpc>
                <a:spcPts val="5459"/>
              </a:lnSpc>
            </a:pPr>
            <a:r>
              <a:rPr lang="en-US" sz="3899" spc="58">
                <a:solidFill>
                  <a:srgbClr val="000000"/>
                </a:solidFill>
                <a:latin typeface="Times New Roman Italics"/>
              </a:rPr>
              <a:t>Group: 05</a:t>
            </a:r>
          </a:p>
        </p:txBody>
      </p:sp>
      <p:sp>
        <p:nvSpPr>
          <p:cNvPr id="5" name="Freeform 5"/>
          <p:cNvSpPr/>
          <p:nvPr/>
        </p:nvSpPr>
        <p:spPr>
          <a:xfrm>
            <a:off x="838200" y="9258300"/>
            <a:ext cx="16725899" cy="525470"/>
          </a:xfrm>
          <a:custGeom>
            <a:avLst/>
            <a:gdLst/>
            <a:ahLst/>
            <a:cxnLst/>
            <a:rect l="l" t="t" r="r" b="b"/>
            <a:pathLst>
              <a:path w="13874746" h="380369">
                <a:moveTo>
                  <a:pt x="0" y="0"/>
                </a:moveTo>
                <a:lnTo>
                  <a:pt x="13874746" y="0"/>
                </a:lnTo>
                <a:lnTo>
                  <a:pt x="13874746" y="380369"/>
                </a:lnTo>
                <a:lnTo>
                  <a:pt x="0" y="3803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1295400" y="5327451"/>
            <a:ext cx="16268700" cy="1305037"/>
          </a:xfrm>
          <a:prstGeom prst="rect">
            <a:avLst/>
          </a:prstGeom>
        </p:spPr>
        <p:txBody>
          <a:bodyPr wrap="square" lIns="0" tIns="0" rIns="0" bIns="0" rtlCol="0" anchor="t">
            <a:spAutoFit/>
          </a:bodyPr>
          <a:lstStyle/>
          <a:p>
            <a:pPr algn="ctr">
              <a:lnSpc>
                <a:spcPts val="11059"/>
              </a:lnSpc>
              <a:spcBef>
                <a:spcPct val="0"/>
              </a:spcBef>
            </a:pPr>
            <a:r>
              <a:rPr lang="en-US" sz="7899">
                <a:solidFill>
                  <a:srgbClr val="000000"/>
                </a:solidFill>
                <a:latin typeface="Times New Roman Bold"/>
              </a:rPr>
              <a:t>Management of Information 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6551635" y="219075"/>
          <a:ext cx="8407587" cy="9848850"/>
        </p:xfrm>
        <a:graphic>
          <a:graphicData uri="http://schemas.openxmlformats.org/drawingml/2006/table">
            <a:tbl>
              <a:tblPr/>
              <a:tblGrid>
                <a:gridCol w="5762238">
                  <a:extLst>
                    <a:ext uri="{9D8B030D-6E8A-4147-A177-3AD203B41FA5}">
                      <a16:colId xmlns:a16="http://schemas.microsoft.com/office/drawing/2014/main" val="20000"/>
                    </a:ext>
                  </a:extLst>
                </a:gridCol>
                <a:gridCol w="2645349">
                  <a:extLst>
                    <a:ext uri="{9D8B030D-6E8A-4147-A177-3AD203B41FA5}">
                      <a16:colId xmlns:a16="http://schemas.microsoft.com/office/drawing/2014/main" val="20001"/>
                    </a:ext>
                  </a:extLst>
                </a:gridCol>
              </a:tblGrid>
              <a:tr h="3448530">
                <a:tc>
                  <a:txBody>
                    <a:bodyPr/>
                    <a:lstStyle/>
                    <a:p>
                      <a:pPr marL="604524" lvl="1" indent="-302262" algn="l">
                        <a:lnSpc>
                          <a:spcPts val="3920"/>
                        </a:lnSpc>
                        <a:buFont typeface="Arial"/>
                        <a:buChar char="•"/>
                        <a:defRPr/>
                      </a:pPr>
                      <a:r>
                        <a:rPr lang="en-US" sz="2800">
                          <a:solidFill>
                            <a:srgbClr val="000000"/>
                          </a:solidFill>
                          <a:latin typeface="Times New Roman"/>
                        </a:rPr>
                        <a:t>Describe your business.</a:t>
                      </a:r>
                      <a:endParaRPr lang="en-US" sz="1100"/>
                    </a:p>
                    <a:p>
                      <a:pPr marL="604524" lvl="1" indent="-302262" algn="l">
                        <a:lnSpc>
                          <a:spcPts val="3920"/>
                        </a:lnSpc>
                        <a:buFont typeface="Arial"/>
                        <a:buChar char="•"/>
                      </a:pPr>
                      <a:r>
                        <a:rPr lang="en-US" sz="2800">
                          <a:solidFill>
                            <a:srgbClr val="000000"/>
                          </a:solidFill>
                          <a:latin typeface="Times New Roman"/>
                        </a:rPr>
                        <a:t>Strategy.</a:t>
                      </a:r>
                    </a:p>
                    <a:p>
                      <a:pPr marL="604524" lvl="1" indent="-302262" algn="l">
                        <a:lnSpc>
                          <a:spcPts val="3920"/>
                        </a:lnSpc>
                        <a:buFont typeface="Arial"/>
                        <a:buChar char="•"/>
                      </a:pPr>
                      <a:r>
                        <a:rPr lang="en-US" sz="2800">
                          <a:solidFill>
                            <a:srgbClr val="000000"/>
                          </a:solidFill>
                          <a:latin typeface="Times New Roman"/>
                        </a:rPr>
                        <a:t>Information structure.</a:t>
                      </a:r>
                    </a:p>
                    <a:p>
                      <a:pPr marL="604524" lvl="1" indent="-302262" algn="l">
                        <a:lnSpc>
                          <a:spcPts val="3920"/>
                        </a:lnSpc>
                        <a:buFont typeface="Arial"/>
                        <a:buChar char="•"/>
                      </a:pPr>
                      <a:r>
                        <a:rPr lang="en-US" sz="2800">
                          <a:solidFill>
                            <a:srgbClr val="000000"/>
                          </a:solidFill>
                          <a:latin typeface="Times New Roman"/>
                        </a:rPr>
                        <a:t>Existing problems.</a:t>
                      </a:r>
                    </a:p>
                    <a:p>
                      <a:pPr marL="604524" lvl="1" indent="-302262" algn="l">
                        <a:lnSpc>
                          <a:spcPts val="3920"/>
                        </a:lnSpc>
                        <a:buFont typeface="Arial"/>
                        <a:buChar char="•"/>
                      </a:pPr>
                      <a:r>
                        <a:rPr lang="en-US" sz="2800">
                          <a:solidFill>
                            <a:srgbClr val="000000"/>
                          </a:solidFill>
                          <a:latin typeface="Times New Roman"/>
                        </a:rPr>
                        <a:t>Source code.</a:t>
                      </a:r>
                    </a:p>
                    <a:p>
                      <a:pPr marL="604524" lvl="1" indent="-302262" algn="l">
                        <a:lnSpc>
                          <a:spcPts val="3920"/>
                        </a:lnSpc>
                        <a:buFont typeface="Arial"/>
                        <a:buChar char="•"/>
                      </a:pPr>
                      <a:r>
                        <a:rPr lang="en-US" sz="2800">
                          <a:solidFill>
                            <a:srgbClr val="000000"/>
                          </a:solidFill>
                          <a:latin typeface="Times New Roman"/>
                        </a:rPr>
                        <a:t>Presentation.</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Muli"/>
                        </a:rPr>
                        <a:t>100%</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455048">
                <a:tc>
                  <a:txBody>
                    <a:bodyPr/>
                    <a:lstStyle/>
                    <a:p>
                      <a:pPr marL="604521" lvl="1" indent="-302261" algn="l">
                        <a:lnSpc>
                          <a:spcPts val="3920"/>
                        </a:lnSpc>
                        <a:buFont typeface="Arial"/>
                        <a:buChar char="•"/>
                        <a:defRPr/>
                      </a:pPr>
                      <a:r>
                        <a:rPr lang="en-US" sz="2800">
                          <a:solidFill>
                            <a:srgbClr val="000000"/>
                          </a:solidFill>
                          <a:latin typeface="Times New Roman"/>
                        </a:rPr>
                        <a:t>Usecase Diagram ,ERD.</a:t>
                      </a:r>
                      <a:endParaRPr lang="en-US" sz="1100"/>
                    </a:p>
                    <a:p>
                      <a:pPr marL="604521" lvl="1" indent="-302261" algn="l">
                        <a:lnSpc>
                          <a:spcPts val="3920"/>
                        </a:lnSpc>
                        <a:buFont typeface="Arial"/>
                        <a:buChar char="•"/>
                      </a:pPr>
                      <a:r>
                        <a:rPr lang="en-US" sz="2800">
                          <a:solidFill>
                            <a:srgbClr val="000000"/>
                          </a:solidFill>
                          <a:latin typeface="Times New Roman"/>
                        </a:rPr>
                        <a:t>Improvements.</a:t>
                      </a:r>
                    </a:p>
                    <a:p>
                      <a:pPr marL="604521" lvl="1" indent="-302261" algn="l">
                        <a:lnSpc>
                          <a:spcPts val="3920"/>
                        </a:lnSpc>
                        <a:buFont typeface="Arial"/>
                        <a:buChar char="•"/>
                      </a:pPr>
                      <a:r>
                        <a:rPr lang="en-US" sz="2800">
                          <a:solidFill>
                            <a:srgbClr val="000000"/>
                          </a:solidFill>
                          <a:latin typeface="Times New Roman"/>
                        </a:rPr>
                        <a:t>Analyze the improvements.</a:t>
                      </a:r>
                    </a:p>
                    <a:p>
                      <a:pPr marL="604521" lvl="1" indent="-302261" algn="l">
                        <a:lnSpc>
                          <a:spcPts val="3920"/>
                        </a:lnSpc>
                        <a:buFont typeface="Arial"/>
                        <a:buChar char="•"/>
                      </a:pPr>
                      <a:r>
                        <a:rPr lang="en-US" sz="2800">
                          <a:solidFill>
                            <a:srgbClr val="000000"/>
                          </a:solidFill>
                          <a:latin typeface="Times New Roman"/>
                        </a:rPr>
                        <a:t>Source code.</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DM Sans"/>
                        </a:rPr>
                        <a:t>100%</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945272">
                <a:tc>
                  <a:txBody>
                    <a:bodyPr/>
                    <a:lstStyle/>
                    <a:p>
                      <a:pPr marL="604521" lvl="1" indent="-302261" algn="l">
                        <a:lnSpc>
                          <a:spcPts val="3920"/>
                        </a:lnSpc>
                        <a:buFont typeface="Arial"/>
                        <a:buChar char="•"/>
                        <a:defRPr/>
                      </a:pPr>
                      <a:r>
                        <a:rPr lang="en-US" sz="2800">
                          <a:solidFill>
                            <a:srgbClr val="000000"/>
                          </a:solidFill>
                          <a:latin typeface="Times New Roman"/>
                        </a:rPr>
                        <a:t>Industry structure.</a:t>
                      </a:r>
                      <a:endParaRPr lang="en-US" sz="1100"/>
                    </a:p>
                    <a:p>
                      <a:pPr marL="604521" lvl="1" indent="-302261" algn="l">
                        <a:lnSpc>
                          <a:spcPts val="3920"/>
                        </a:lnSpc>
                        <a:buFont typeface="Arial"/>
                        <a:buChar char="•"/>
                      </a:pPr>
                      <a:r>
                        <a:rPr lang="en-US" sz="2800">
                          <a:solidFill>
                            <a:srgbClr val="000000"/>
                          </a:solidFill>
                          <a:latin typeface="Times New Roman"/>
                        </a:rPr>
                        <a:t>Value chain.</a:t>
                      </a:r>
                    </a:p>
                    <a:p>
                      <a:pPr marL="604521" lvl="1" indent="-302261" algn="l">
                        <a:lnSpc>
                          <a:spcPts val="3920"/>
                        </a:lnSpc>
                        <a:buFont typeface="Arial"/>
                        <a:buChar char="•"/>
                      </a:pPr>
                      <a:r>
                        <a:rPr lang="en-US" sz="2800">
                          <a:solidFill>
                            <a:srgbClr val="000000"/>
                          </a:solidFill>
                          <a:latin typeface="Times New Roman"/>
                        </a:rPr>
                        <a:t>Inducement.</a:t>
                      </a:r>
                    </a:p>
                    <a:p>
                      <a:pPr marL="604521" lvl="1" indent="-302261" algn="l">
                        <a:lnSpc>
                          <a:spcPts val="3920"/>
                        </a:lnSpc>
                        <a:buFont typeface="Arial"/>
                        <a:buChar char="•"/>
                      </a:pPr>
                      <a:r>
                        <a:rPr lang="en-US" sz="2800">
                          <a:solidFill>
                            <a:srgbClr val="000000"/>
                          </a:solidFill>
                          <a:latin typeface="Times New Roman"/>
                        </a:rPr>
                        <a:t>Identify ethical and privacy issues.</a:t>
                      </a:r>
                    </a:p>
                    <a:p>
                      <a:pPr marL="604521" lvl="1" indent="-302261" algn="l">
                        <a:lnSpc>
                          <a:spcPts val="3920"/>
                        </a:lnSpc>
                        <a:buFont typeface="Arial"/>
                        <a:buChar char="•"/>
                      </a:pPr>
                      <a:r>
                        <a:rPr lang="en-US" sz="2800">
                          <a:solidFill>
                            <a:srgbClr val="000000"/>
                          </a:solidFill>
                          <a:latin typeface="Times New Roman"/>
                        </a:rPr>
                        <a:t>Evaluation, conclusion.</a:t>
                      </a:r>
                    </a:p>
                    <a:p>
                      <a:pPr marL="604521" lvl="1" indent="-302261" algn="l">
                        <a:lnSpc>
                          <a:spcPts val="3920"/>
                        </a:lnSpc>
                        <a:buFont typeface="Arial"/>
                        <a:buChar char="•"/>
                      </a:pPr>
                      <a:r>
                        <a:rPr lang="en-US" sz="2800">
                          <a:solidFill>
                            <a:srgbClr val="000000"/>
                          </a:solidFill>
                          <a:latin typeface="Times New Roman"/>
                        </a:rPr>
                        <a:t>Source code.</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4200"/>
                        </a:lnSpc>
                        <a:defRPr/>
                      </a:pPr>
                      <a:r>
                        <a:rPr lang="en-US" sz="3000">
                          <a:solidFill>
                            <a:srgbClr val="000000"/>
                          </a:solidFill>
                          <a:latin typeface="DM Sans"/>
                        </a:rPr>
                        <a:t>100%</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pSp>
        <p:nvGrpSpPr>
          <p:cNvPr id="3" name="Group 3"/>
          <p:cNvGrpSpPr/>
          <p:nvPr/>
        </p:nvGrpSpPr>
        <p:grpSpPr>
          <a:xfrm>
            <a:off x="2604521" y="7242189"/>
            <a:ext cx="3434899" cy="2819822"/>
            <a:chOff x="0" y="0"/>
            <a:chExt cx="4579865" cy="3759763"/>
          </a:xfrm>
        </p:grpSpPr>
        <p:sp>
          <p:nvSpPr>
            <p:cNvPr id="4" name="TextBox 4"/>
            <p:cNvSpPr txBox="1"/>
            <p:nvPr/>
          </p:nvSpPr>
          <p:spPr>
            <a:xfrm>
              <a:off x="0" y="2754896"/>
              <a:ext cx="4579865" cy="503204"/>
            </a:xfrm>
            <a:prstGeom prst="rect">
              <a:avLst/>
            </a:prstGeom>
          </p:spPr>
          <p:txBody>
            <a:bodyPr lIns="0" tIns="0" rIns="0" bIns="0" rtlCol="0" anchor="t">
              <a:spAutoFit/>
            </a:bodyPr>
            <a:lstStyle/>
            <a:p>
              <a:pPr algn="ctr">
                <a:lnSpc>
                  <a:spcPts val="2971"/>
                </a:lnSpc>
              </a:pPr>
              <a:r>
                <a:rPr lang="en-US" sz="2476">
                  <a:solidFill>
                    <a:srgbClr val="31356E"/>
                  </a:solidFill>
                  <a:latin typeface="Muli Semi-Bold"/>
                </a:rPr>
                <a:t>Phan Thành Đạt</a:t>
              </a:r>
            </a:p>
          </p:txBody>
        </p:sp>
        <p:sp>
          <p:nvSpPr>
            <p:cNvPr id="5" name="TextBox 5"/>
            <p:cNvSpPr txBox="1"/>
            <p:nvPr/>
          </p:nvSpPr>
          <p:spPr>
            <a:xfrm>
              <a:off x="0" y="2761522"/>
              <a:ext cx="4579865" cy="550829"/>
            </a:xfrm>
            <a:prstGeom prst="rect">
              <a:avLst/>
            </a:prstGeom>
          </p:spPr>
          <p:txBody>
            <a:bodyPr lIns="0" tIns="0" rIns="0" bIns="0" rtlCol="0" anchor="t">
              <a:spAutoFit/>
            </a:bodyPr>
            <a:lstStyle/>
            <a:p>
              <a:pPr algn="ctr">
                <a:lnSpc>
                  <a:spcPts val="3466"/>
                </a:lnSpc>
              </a:pPr>
              <a:endParaRPr/>
            </a:p>
          </p:txBody>
        </p:sp>
        <p:sp>
          <p:nvSpPr>
            <p:cNvPr id="6" name="TextBox 6"/>
            <p:cNvSpPr txBox="1"/>
            <p:nvPr/>
          </p:nvSpPr>
          <p:spPr>
            <a:xfrm>
              <a:off x="1041494" y="3208934"/>
              <a:ext cx="2135173" cy="550829"/>
            </a:xfrm>
            <a:prstGeom prst="rect">
              <a:avLst/>
            </a:prstGeom>
          </p:spPr>
          <p:txBody>
            <a:bodyPr lIns="0" tIns="0" rIns="0" bIns="0" rtlCol="0" anchor="t">
              <a:spAutoFit/>
            </a:bodyPr>
            <a:lstStyle/>
            <a:p>
              <a:pPr algn="ctr">
                <a:lnSpc>
                  <a:spcPts val="3466"/>
                </a:lnSpc>
                <a:spcBef>
                  <a:spcPct val="0"/>
                </a:spcBef>
              </a:pPr>
              <a:r>
                <a:rPr lang="en-US" sz="2476">
                  <a:solidFill>
                    <a:srgbClr val="000000"/>
                  </a:solidFill>
                  <a:latin typeface="Muli"/>
                </a:rPr>
                <a:t>521H0218</a:t>
              </a:r>
            </a:p>
          </p:txBody>
        </p:sp>
        <p:sp>
          <p:nvSpPr>
            <p:cNvPr id="7" name="Freeform 7"/>
            <p:cNvSpPr/>
            <p:nvPr/>
          </p:nvSpPr>
          <p:spPr>
            <a:xfrm>
              <a:off x="905767" y="0"/>
              <a:ext cx="2670018" cy="2587490"/>
            </a:xfrm>
            <a:custGeom>
              <a:avLst/>
              <a:gdLst/>
              <a:ahLst/>
              <a:cxnLst/>
              <a:rect l="l" t="t" r="r" b="b"/>
              <a:pathLst>
                <a:path w="2670018" h="2587490">
                  <a:moveTo>
                    <a:pt x="0" y="0"/>
                  </a:moveTo>
                  <a:lnTo>
                    <a:pt x="2670019" y="0"/>
                  </a:lnTo>
                  <a:lnTo>
                    <a:pt x="2670019" y="2587490"/>
                  </a:lnTo>
                  <a:lnTo>
                    <a:pt x="0" y="258749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grpSp>
        <p:nvGrpSpPr>
          <p:cNvPr id="8" name="Group 8"/>
          <p:cNvGrpSpPr/>
          <p:nvPr/>
        </p:nvGrpSpPr>
        <p:grpSpPr>
          <a:xfrm>
            <a:off x="2941317" y="3615215"/>
            <a:ext cx="2761308" cy="3056570"/>
            <a:chOff x="0" y="0"/>
            <a:chExt cx="3681744" cy="4075427"/>
          </a:xfrm>
        </p:grpSpPr>
        <p:sp>
          <p:nvSpPr>
            <p:cNvPr id="9" name="Freeform 9"/>
            <p:cNvSpPr/>
            <p:nvPr/>
          </p:nvSpPr>
          <p:spPr>
            <a:xfrm>
              <a:off x="468476" y="0"/>
              <a:ext cx="2744792" cy="2904542"/>
            </a:xfrm>
            <a:custGeom>
              <a:avLst/>
              <a:gdLst/>
              <a:ahLst/>
              <a:cxnLst/>
              <a:rect l="l" t="t" r="r" b="b"/>
              <a:pathLst>
                <a:path w="2744792" h="2904542">
                  <a:moveTo>
                    <a:pt x="0" y="0"/>
                  </a:moveTo>
                  <a:lnTo>
                    <a:pt x="2744792" y="0"/>
                  </a:lnTo>
                  <a:lnTo>
                    <a:pt x="2744792" y="2904542"/>
                  </a:lnTo>
                  <a:lnTo>
                    <a:pt x="0" y="2904542"/>
                  </a:lnTo>
                  <a:lnTo>
                    <a:pt x="0" y="0"/>
                  </a:lnTo>
                  <a:close/>
                </a:path>
              </a:pathLst>
            </a:custGeom>
            <a:blipFill>
              <a:blip r:embed="rId4"/>
              <a:stretch>
                <a:fillRect/>
              </a:stretch>
            </a:blipFill>
          </p:spPr>
          <p:txBody>
            <a:bodyPr/>
            <a:lstStyle/>
            <a:p>
              <a:endParaRPr lang="en-US"/>
            </a:p>
          </p:txBody>
        </p:sp>
        <p:sp>
          <p:nvSpPr>
            <p:cNvPr id="10" name="TextBox 10"/>
            <p:cNvSpPr txBox="1"/>
            <p:nvPr/>
          </p:nvSpPr>
          <p:spPr>
            <a:xfrm>
              <a:off x="0" y="2895017"/>
              <a:ext cx="3681744" cy="492468"/>
            </a:xfrm>
            <a:prstGeom prst="rect">
              <a:avLst/>
            </a:prstGeom>
          </p:spPr>
          <p:txBody>
            <a:bodyPr lIns="0" tIns="0" rIns="0" bIns="0" rtlCol="0" anchor="t">
              <a:spAutoFit/>
            </a:bodyPr>
            <a:lstStyle/>
            <a:p>
              <a:pPr algn="ctr">
                <a:lnSpc>
                  <a:spcPts val="2852"/>
                </a:lnSpc>
              </a:pPr>
              <a:r>
                <a:rPr lang="en-US" sz="2376">
                  <a:solidFill>
                    <a:srgbClr val="31356E"/>
                  </a:solidFill>
                  <a:latin typeface="Muli Semi-Bold"/>
                </a:rPr>
                <a:t>Lê Minh Anh</a:t>
              </a:r>
            </a:p>
          </p:txBody>
        </p:sp>
        <p:sp>
          <p:nvSpPr>
            <p:cNvPr id="11" name="TextBox 11"/>
            <p:cNvSpPr txBox="1"/>
            <p:nvPr/>
          </p:nvSpPr>
          <p:spPr>
            <a:xfrm>
              <a:off x="0" y="3535334"/>
              <a:ext cx="3681744" cy="540093"/>
            </a:xfrm>
            <a:prstGeom prst="rect">
              <a:avLst/>
            </a:prstGeom>
          </p:spPr>
          <p:txBody>
            <a:bodyPr lIns="0" tIns="0" rIns="0" bIns="0" rtlCol="0" anchor="t">
              <a:spAutoFit/>
            </a:bodyPr>
            <a:lstStyle/>
            <a:p>
              <a:pPr algn="ctr">
                <a:lnSpc>
                  <a:spcPts val="3327"/>
                </a:lnSpc>
              </a:pPr>
              <a:r>
                <a:rPr lang="en-US" sz="2376">
                  <a:solidFill>
                    <a:srgbClr val="242424"/>
                  </a:solidFill>
                  <a:latin typeface="Muli"/>
                </a:rPr>
                <a:t>521H00004</a:t>
              </a:r>
            </a:p>
          </p:txBody>
        </p:sp>
      </p:grpSp>
      <p:grpSp>
        <p:nvGrpSpPr>
          <p:cNvPr id="12" name="Group 12"/>
          <p:cNvGrpSpPr/>
          <p:nvPr/>
        </p:nvGrpSpPr>
        <p:grpSpPr>
          <a:xfrm>
            <a:off x="2356881" y="593253"/>
            <a:ext cx="3930180" cy="2780674"/>
            <a:chOff x="0" y="0"/>
            <a:chExt cx="5240240" cy="3707565"/>
          </a:xfrm>
        </p:grpSpPr>
        <p:grpSp>
          <p:nvGrpSpPr>
            <p:cNvPr id="13" name="Group 13"/>
            <p:cNvGrpSpPr/>
            <p:nvPr/>
          </p:nvGrpSpPr>
          <p:grpSpPr>
            <a:xfrm>
              <a:off x="1273474" y="0"/>
              <a:ext cx="2693292" cy="2693292"/>
              <a:chOff x="0" y="0"/>
              <a:chExt cx="6350000" cy="6350000"/>
            </a:xfrm>
          </p:grpSpPr>
          <p:sp>
            <p:nvSpPr>
              <p:cNvPr id="14" name="Freeform 14"/>
              <p:cNvSpPr/>
              <p:nvPr/>
            </p:nvSpPr>
            <p:spPr>
              <a:xfrm>
                <a:off x="37846" y="116586"/>
                <a:ext cx="6274308" cy="6116828"/>
              </a:xfrm>
              <a:custGeom>
                <a:avLst/>
                <a:gdLst/>
                <a:ahLst/>
                <a:cxnLst/>
                <a:rect l="l" t="t" r="r" b="b"/>
                <a:pathLst>
                  <a:path w="6274308" h="6116828">
                    <a:moveTo>
                      <a:pt x="3137154" y="0"/>
                    </a:moveTo>
                    <a:lnTo>
                      <a:pt x="621411" y="1211453"/>
                    </a:lnTo>
                    <a:lnTo>
                      <a:pt x="0" y="3933825"/>
                    </a:lnTo>
                    <a:lnTo>
                      <a:pt x="1741043" y="6116828"/>
                    </a:lnTo>
                    <a:lnTo>
                      <a:pt x="4533265" y="6116828"/>
                    </a:lnTo>
                    <a:lnTo>
                      <a:pt x="6274308" y="3933825"/>
                    </a:lnTo>
                    <a:lnTo>
                      <a:pt x="5652897" y="1211453"/>
                    </a:lnTo>
                    <a:close/>
                  </a:path>
                </a:pathLst>
              </a:custGeom>
              <a:blipFill>
                <a:blip r:embed="rId5"/>
                <a:stretch>
                  <a:fillRect t="-3774" b="-3774"/>
                </a:stretch>
              </a:blipFill>
            </p:spPr>
            <p:txBody>
              <a:bodyPr/>
              <a:lstStyle/>
              <a:p>
                <a:endParaRPr lang="en-US"/>
              </a:p>
            </p:txBody>
          </p:sp>
        </p:grpSp>
        <p:sp>
          <p:nvSpPr>
            <p:cNvPr id="15" name="TextBox 15"/>
            <p:cNvSpPr txBox="1"/>
            <p:nvPr/>
          </p:nvSpPr>
          <p:spPr>
            <a:xfrm>
              <a:off x="346995" y="3223421"/>
              <a:ext cx="4893245" cy="484144"/>
            </a:xfrm>
            <a:prstGeom prst="rect">
              <a:avLst/>
            </a:prstGeom>
          </p:spPr>
          <p:txBody>
            <a:bodyPr lIns="0" tIns="0" rIns="0" bIns="0" rtlCol="0" anchor="t">
              <a:spAutoFit/>
            </a:bodyPr>
            <a:lstStyle/>
            <a:p>
              <a:pPr algn="ctr">
                <a:lnSpc>
                  <a:spcPts val="3025"/>
                </a:lnSpc>
              </a:pPr>
              <a:r>
                <a:rPr lang="en-US" sz="2161">
                  <a:solidFill>
                    <a:srgbClr val="242424"/>
                  </a:solidFill>
                  <a:latin typeface="Muli"/>
                </a:rPr>
                <a:t>521H0285</a:t>
              </a:r>
            </a:p>
          </p:txBody>
        </p:sp>
        <p:sp>
          <p:nvSpPr>
            <p:cNvPr id="16" name="TextBox 16"/>
            <p:cNvSpPr txBox="1"/>
            <p:nvPr/>
          </p:nvSpPr>
          <p:spPr>
            <a:xfrm>
              <a:off x="0" y="2760725"/>
              <a:ext cx="5240240" cy="510321"/>
            </a:xfrm>
            <a:prstGeom prst="rect">
              <a:avLst/>
            </a:prstGeom>
          </p:spPr>
          <p:txBody>
            <a:bodyPr lIns="0" tIns="0" rIns="0" bIns="0" rtlCol="0" anchor="t">
              <a:spAutoFit/>
            </a:bodyPr>
            <a:lstStyle/>
            <a:p>
              <a:pPr algn="ctr">
                <a:lnSpc>
                  <a:spcPts val="3240"/>
                </a:lnSpc>
              </a:pPr>
              <a:r>
                <a:rPr lang="en-US" sz="2314">
                  <a:solidFill>
                    <a:srgbClr val="242424"/>
                  </a:solidFill>
                  <a:latin typeface="Muli"/>
                </a:rPr>
                <a:t>Phạm Trần Tiến Phát</a:t>
              </a:r>
            </a:p>
          </p:txBody>
        </p:sp>
      </p:grpSp>
      <p:sp>
        <p:nvSpPr>
          <p:cNvPr id="17" name="Freeform 17"/>
          <p:cNvSpPr/>
          <p:nvPr/>
        </p:nvSpPr>
        <p:spPr>
          <a:xfrm>
            <a:off x="241628" y="316022"/>
            <a:ext cx="1708249" cy="936303"/>
          </a:xfrm>
          <a:custGeom>
            <a:avLst/>
            <a:gdLst/>
            <a:ahLst/>
            <a:cxnLst/>
            <a:rect l="l" t="t" r="r" b="b"/>
            <a:pathLst>
              <a:path w="1708249" h="936303">
                <a:moveTo>
                  <a:pt x="0" y="0"/>
                </a:moveTo>
                <a:lnTo>
                  <a:pt x="1708249" y="0"/>
                </a:lnTo>
                <a:lnTo>
                  <a:pt x="1708249" y="936303"/>
                </a:lnTo>
                <a:lnTo>
                  <a:pt x="0" y="936303"/>
                </a:lnTo>
                <a:lnTo>
                  <a:pt x="0" y="0"/>
                </a:lnTo>
                <a:close/>
              </a:path>
            </a:pathLst>
          </a:custGeom>
          <a:blipFill>
            <a:blip r:embed="rId6"/>
            <a:stretch>
              <a:fillRect t="-993" r="-757" b="-993"/>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a:xfrm>
            <a:off x="10550988" y="0"/>
            <a:ext cx="7737012" cy="5449450"/>
            <a:chOff x="0" y="0"/>
            <a:chExt cx="1950569" cy="1373855"/>
          </a:xfrm>
        </p:grpSpPr>
        <p:sp>
          <p:nvSpPr>
            <p:cNvPr id="3" name="Freeform 3"/>
            <p:cNvSpPr>
              <a:spLocks/>
            </p:cNvSpPr>
            <p:nvPr/>
          </p:nvSpPr>
          <p:spPr>
            <a:xfrm>
              <a:off x="0" y="0"/>
              <a:ext cx="1950570" cy="1373855"/>
            </a:xfrm>
            <a:custGeom>
              <a:avLst/>
              <a:gdLst/>
              <a:ahLst/>
              <a:cxnLst/>
              <a:rect l="l" t="t" r="r" b="b"/>
              <a:pathLst>
                <a:path w="1950570" h="1373855">
                  <a:moveTo>
                    <a:pt x="0" y="0"/>
                  </a:moveTo>
                  <a:lnTo>
                    <a:pt x="975285" y="1373855"/>
                  </a:lnTo>
                  <a:lnTo>
                    <a:pt x="1950570" y="0"/>
                  </a:lnTo>
                  <a:close/>
                </a:path>
              </a:pathLst>
            </a:custGeom>
            <a:gradFill rotWithShape="1">
              <a:gsLst>
                <a:gs pos="0">
                  <a:srgbClr val="FFF7AD">
                    <a:alpha val="100000"/>
                  </a:srgbClr>
                </a:gs>
                <a:gs pos="100000">
                  <a:srgbClr val="FFA9F9">
                    <a:alpha val="100000"/>
                  </a:srgbClr>
                </a:gs>
              </a:gsLst>
              <a:path path="circle">
                <a:fillToRect l="50000" t="50000" r="50000" b="50000"/>
              </a:path>
            </a:gradFill>
          </p:spPr>
          <p:txBody>
            <a:bodyPr/>
            <a:lstStyle/>
            <a:p>
              <a:endParaRPr lang="en-US"/>
            </a:p>
          </p:txBody>
        </p:sp>
      </p:grpSp>
      <p:grpSp>
        <p:nvGrpSpPr>
          <p:cNvPr id="4" name="Group 4"/>
          <p:cNvGrpSpPr/>
          <p:nvPr/>
        </p:nvGrpSpPr>
        <p:grpSpPr>
          <a:xfrm rot="-10800000">
            <a:off x="10550988" y="4893583"/>
            <a:ext cx="7737012" cy="5449450"/>
            <a:chOff x="0" y="0"/>
            <a:chExt cx="1950569" cy="1373855"/>
          </a:xfrm>
        </p:grpSpPr>
        <p:sp>
          <p:nvSpPr>
            <p:cNvPr id="5" name="Freeform 5"/>
            <p:cNvSpPr/>
            <p:nvPr/>
          </p:nvSpPr>
          <p:spPr>
            <a:xfrm>
              <a:off x="0" y="0"/>
              <a:ext cx="1950570" cy="1373855"/>
            </a:xfrm>
            <a:custGeom>
              <a:avLst/>
              <a:gdLst/>
              <a:ahLst/>
              <a:cxnLst/>
              <a:rect l="l" t="t" r="r" b="b"/>
              <a:pathLst>
                <a:path w="1950570" h="1373855">
                  <a:moveTo>
                    <a:pt x="0" y="0"/>
                  </a:moveTo>
                  <a:lnTo>
                    <a:pt x="975285" y="1373855"/>
                  </a:lnTo>
                  <a:lnTo>
                    <a:pt x="1950570" y="0"/>
                  </a:lnTo>
                  <a:close/>
                </a:path>
              </a:pathLst>
            </a:custGeom>
            <a:gradFill rotWithShape="1">
              <a:gsLst>
                <a:gs pos="0">
                  <a:srgbClr val="FFF7AD">
                    <a:alpha val="100000"/>
                  </a:srgbClr>
                </a:gs>
                <a:gs pos="100000">
                  <a:srgbClr val="FFA9F9">
                    <a:alpha val="100000"/>
                  </a:srgbClr>
                </a:gs>
              </a:gsLst>
              <a:path path="circle">
                <a:fillToRect l="50000" t="50000" r="50000" b="50000"/>
              </a:path>
            </a:gradFill>
          </p:spPr>
          <p:txBody>
            <a:bodyPr/>
            <a:lstStyle/>
            <a:p>
              <a:endParaRPr lang="en-US"/>
            </a:p>
          </p:txBody>
        </p:sp>
      </p:grpSp>
      <p:grpSp>
        <p:nvGrpSpPr>
          <p:cNvPr id="6" name="Group 6"/>
          <p:cNvGrpSpPr/>
          <p:nvPr/>
        </p:nvGrpSpPr>
        <p:grpSpPr>
          <a:xfrm>
            <a:off x="11816432" y="2780758"/>
            <a:ext cx="4626569" cy="4710442"/>
            <a:chOff x="0" y="0"/>
            <a:chExt cx="812800" cy="827535"/>
          </a:xfrm>
        </p:grpSpPr>
        <p:sp>
          <p:nvSpPr>
            <p:cNvPr id="7" name="Freeform 7"/>
            <p:cNvSpPr/>
            <p:nvPr/>
          </p:nvSpPr>
          <p:spPr>
            <a:xfrm>
              <a:off x="0" y="0"/>
              <a:ext cx="812800" cy="827535"/>
            </a:xfrm>
            <a:custGeom>
              <a:avLst/>
              <a:gdLst/>
              <a:ahLst/>
              <a:cxnLst/>
              <a:rect l="l" t="t" r="r" b="b"/>
              <a:pathLst>
                <a:path w="812800" h="827535">
                  <a:moveTo>
                    <a:pt x="406400" y="0"/>
                  </a:moveTo>
                  <a:cubicBezTo>
                    <a:pt x="181951" y="0"/>
                    <a:pt x="0" y="185250"/>
                    <a:pt x="0" y="413767"/>
                  </a:cubicBezTo>
                  <a:cubicBezTo>
                    <a:pt x="0" y="642285"/>
                    <a:pt x="181951" y="827535"/>
                    <a:pt x="406400" y="827535"/>
                  </a:cubicBezTo>
                  <a:cubicBezTo>
                    <a:pt x="630849" y="827535"/>
                    <a:pt x="812800" y="642285"/>
                    <a:pt x="812800" y="413767"/>
                  </a:cubicBezTo>
                  <a:cubicBezTo>
                    <a:pt x="812800" y="185250"/>
                    <a:pt x="630849" y="0"/>
                    <a:pt x="406400" y="0"/>
                  </a:cubicBezTo>
                  <a:close/>
                </a:path>
              </a:pathLst>
            </a:custGeom>
            <a:blipFill>
              <a:blip r:embed="rId2"/>
              <a:stretch>
                <a:fillRect l="-435" r="-435"/>
              </a:stretch>
            </a:blipFill>
          </p:spPr>
          <p:txBody>
            <a:bodyPr/>
            <a:lstStyle/>
            <a:p>
              <a:endParaRPr lang="en-US"/>
            </a:p>
          </p:txBody>
        </p:sp>
      </p:grpSp>
      <p:sp>
        <p:nvSpPr>
          <p:cNvPr id="8" name="TextBox 8"/>
          <p:cNvSpPr txBox="1"/>
          <p:nvPr/>
        </p:nvSpPr>
        <p:spPr>
          <a:xfrm>
            <a:off x="2414468" y="2047761"/>
            <a:ext cx="7737016" cy="1694631"/>
          </a:xfrm>
          <a:prstGeom prst="rect">
            <a:avLst/>
          </a:prstGeom>
        </p:spPr>
        <p:txBody>
          <a:bodyPr wrap="square" lIns="0" tIns="0" rIns="0" bIns="0" rtlCol="0" anchor="t">
            <a:spAutoFit/>
          </a:bodyPr>
          <a:lstStyle/>
          <a:p>
            <a:pPr algn="ctr">
              <a:lnSpc>
                <a:spcPts val="14418"/>
              </a:lnSpc>
              <a:spcBef>
                <a:spcPct val="0"/>
              </a:spcBef>
            </a:pPr>
            <a:r>
              <a:rPr lang="en-US" sz="10299">
                <a:solidFill>
                  <a:srgbClr val="010101"/>
                </a:solidFill>
                <a:latin typeface="Times New Roman Bold"/>
              </a:rPr>
              <a:t>Introduction</a:t>
            </a:r>
          </a:p>
        </p:txBody>
      </p:sp>
      <p:sp>
        <p:nvSpPr>
          <p:cNvPr id="9" name="TextBox 9"/>
          <p:cNvSpPr txBox="1"/>
          <p:nvPr/>
        </p:nvSpPr>
        <p:spPr>
          <a:xfrm>
            <a:off x="712383" y="4292753"/>
            <a:ext cx="10939070" cy="4010026"/>
          </a:xfrm>
          <a:prstGeom prst="rect">
            <a:avLst/>
          </a:prstGeom>
        </p:spPr>
        <p:txBody>
          <a:bodyPr lIns="0" tIns="0" rIns="0" bIns="0" rtlCol="0" anchor="t">
            <a:spAutoFit/>
          </a:bodyPr>
          <a:lstStyle/>
          <a:p>
            <a:pPr algn="just">
              <a:lnSpc>
                <a:spcPts val="6299"/>
              </a:lnSpc>
              <a:spcBef>
                <a:spcPct val="0"/>
              </a:spcBef>
            </a:pPr>
            <a:r>
              <a:rPr lang="en-US" sz="4499">
                <a:solidFill>
                  <a:srgbClr val="010101"/>
                </a:solidFill>
                <a:latin typeface="Times New Roman Bold"/>
              </a:rPr>
              <a:t>“Prestige Imperial”</a:t>
            </a:r>
            <a:r>
              <a:rPr lang="en-US" sz="4499">
                <a:solidFill>
                  <a:srgbClr val="010101"/>
                </a:solidFill>
                <a:latin typeface="Times New Roman"/>
              </a:rPr>
              <a:t> is a hotel located in the heart of Ho Chi Minh City, providing a classy living space with modern architecture and sophisticated design for customers to enjoy a luxurious lifestyle.</a:t>
            </a:r>
          </a:p>
        </p:txBody>
      </p:sp>
      <p:sp>
        <p:nvSpPr>
          <p:cNvPr id="10" name="Freeform 10"/>
          <p:cNvSpPr/>
          <p:nvPr/>
        </p:nvSpPr>
        <p:spPr>
          <a:xfrm>
            <a:off x="241628" y="316022"/>
            <a:ext cx="2002767" cy="1097730"/>
          </a:xfrm>
          <a:custGeom>
            <a:avLst/>
            <a:gdLst/>
            <a:ahLst/>
            <a:cxnLst/>
            <a:rect l="l" t="t" r="r" b="b"/>
            <a:pathLst>
              <a:path w="2002767" h="1097730">
                <a:moveTo>
                  <a:pt x="0" y="0"/>
                </a:moveTo>
                <a:lnTo>
                  <a:pt x="2002767" y="0"/>
                </a:lnTo>
                <a:lnTo>
                  <a:pt x="2002767" y="1097730"/>
                </a:lnTo>
                <a:lnTo>
                  <a:pt x="0" y="1097730"/>
                </a:lnTo>
                <a:lnTo>
                  <a:pt x="0" y="0"/>
                </a:lnTo>
                <a:close/>
              </a:path>
            </a:pathLst>
          </a:custGeom>
          <a:blipFill>
            <a:blip r:embed="rId3"/>
            <a:stretch>
              <a:fillRect t="-993" r="-757" b="-993"/>
            </a:stretch>
          </a:blipFill>
        </p:spPr>
        <p:txBody>
          <a:bodyPr/>
          <a:lstStyle/>
          <a:p>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barn(inVertical)">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11321" y="4680046"/>
            <a:ext cx="3469101" cy="3389892"/>
          </a:xfrm>
          <a:custGeom>
            <a:avLst/>
            <a:gdLst/>
            <a:ahLst/>
            <a:cxnLst/>
            <a:rect l="l" t="t" r="r" b="b"/>
            <a:pathLst>
              <a:path w="3469101" h="3389892">
                <a:moveTo>
                  <a:pt x="0" y="0"/>
                </a:moveTo>
                <a:lnTo>
                  <a:pt x="3469101" y="0"/>
                </a:lnTo>
                <a:lnTo>
                  <a:pt x="3469101" y="3389892"/>
                </a:lnTo>
                <a:lnTo>
                  <a:pt x="0" y="3389892"/>
                </a:lnTo>
                <a:lnTo>
                  <a:pt x="0" y="0"/>
                </a:lnTo>
                <a:close/>
              </a:path>
            </a:pathLst>
          </a:custGeom>
          <a:blipFill>
            <a:blip r:embed="rId2"/>
            <a:stretch>
              <a:fillRect r="-2654"/>
            </a:stretch>
          </a:blipFill>
        </p:spPr>
        <p:txBody>
          <a:bodyPr/>
          <a:lstStyle/>
          <a:p>
            <a:endParaRPr lang="en-US"/>
          </a:p>
        </p:txBody>
      </p:sp>
      <p:grpSp>
        <p:nvGrpSpPr>
          <p:cNvPr id="3" name="Group 3"/>
          <p:cNvGrpSpPr/>
          <p:nvPr/>
        </p:nvGrpSpPr>
        <p:grpSpPr>
          <a:xfrm>
            <a:off x="0" y="7923926"/>
            <a:ext cx="2366861" cy="2363074"/>
            <a:chOff x="0" y="0"/>
            <a:chExt cx="6350000" cy="6339840"/>
          </a:xfrm>
        </p:grpSpPr>
        <p:sp>
          <p:nvSpPr>
            <p:cNvPr id="4" name="Freeform 4"/>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FFFFFF"/>
            </a:solidFill>
          </p:spPr>
          <p:txBody>
            <a:bodyPr/>
            <a:lstStyle/>
            <a:p>
              <a:endParaRPr lang="en-US"/>
            </a:p>
          </p:txBody>
        </p:sp>
      </p:grpSp>
      <p:sp>
        <p:nvSpPr>
          <p:cNvPr id="5" name="Freeform 5"/>
          <p:cNvSpPr/>
          <p:nvPr/>
        </p:nvSpPr>
        <p:spPr>
          <a:xfrm>
            <a:off x="8018945" y="4050224"/>
            <a:ext cx="2711752" cy="2928018"/>
          </a:xfrm>
          <a:custGeom>
            <a:avLst/>
            <a:gdLst/>
            <a:ahLst/>
            <a:cxnLst/>
            <a:rect l="l" t="t" r="r" b="b"/>
            <a:pathLst>
              <a:path w="2711752" h="2928018">
                <a:moveTo>
                  <a:pt x="0" y="0"/>
                </a:moveTo>
                <a:lnTo>
                  <a:pt x="2711752" y="0"/>
                </a:lnTo>
                <a:lnTo>
                  <a:pt x="2711752" y="2928018"/>
                </a:lnTo>
                <a:lnTo>
                  <a:pt x="0" y="2928018"/>
                </a:lnTo>
                <a:lnTo>
                  <a:pt x="0" y="0"/>
                </a:lnTo>
                <a:close/>
              </a:path>
            </a:pathLst>
          </a:custGeom>
          <a:blipFill>
            <a:blip r:embed="rId3"/>
            <a:stretch>
              <a:fillRect l="-4362"/>
            </a:stretch>
          </a:blipFill>
        </p:spPr>
        <p:txBody>
          <a:bodyPr/>
          <a:lstStyle/>
          <a:p>
            <a:endParaRPr lang="en-US"/>
          </a:p>
        </p:txBody>
      </p:sp>
      <p:sp>
        <p:nvSpPr>
          <p:cNvPr id="6" name="Freeform 6"/>
          <p:cNvSpPr/>
          <p:nvPr/>
        </p:nvSpPr>
        <p:spPr>
          <a:xfrm>
            <a:off x="13915526" y="3419742"/>
            <a:ext cx="2846678" cy="2955250"/>
          </a:xfrm>
          <a:custGeom>
            <a:avLst/>
            <a:gdLst/>
            <a:ahLst/>
            <a:cxnLst/>
            <a:rect l="l" t="t" r="r" b="b"/>
            <a:pathLst>
              <a:path w="2846678" h="2955250">
                <a:moveTo>
                  <a:pt x="0" y="0"/>
                </a:moveTo>
                <a:lnTo>
                  <a:pt x="2846678" y="0"/>
                </a:lnTo>
                <a:lnTo>
                  <a:pt x="2846678" y="2955250"/>
                </a:lnTo>
                <a:lnTo>
                  <a:pt x="0" y="2955250"/>
                </a:lnTo>
                <a:lnTo>
                  <a:pt x="0" y="0"/>
                </a:lnTo>
                <a:close/>
              </a:path>
            </a:pathLst>
          </a:custGeom>
          <a:blipFill>
            <a:blip r:embed="rId4"/>
            <a:stretch>
              <a:fillRect r="-5791"/>
            </a:stretch>
          </a:blipFill>
          <a:ln cap="sq">
            <a:noFill/>
            <a:prstDash val="solid"/>
            <a:miter/>
          </a:ln>
        </p:spPr>
        <p:txBody>
          <a:bodyPr/>
          <a:lstStyle/>
          <a:p>
            <a:endParaRPr lang="en-US"/>
          </a:p>
        </p:txBody>
      </p:sp>
      <p:sp>
        <p:nvSpPr>
          <p:cNvPr id="7" name="TextBox 7"/>
          <p:cNvSpPr txBox="1"/>
          <p:nvPr/>
        </p:nvSpPr>
        <p:spPr>
          <a:xfrm>
            <a:off x="288443" y="8429188"/>
            <a:ext cx="7031988" cy="676275"/>
          </a:xfrm>
          <a:prstGeom prst="rect">
            <a:avLst/>
          </a:prstGeom>
        </p:spPr>
        <p:txBody>
          <a:bodyPr lIns="0" tIns="0" rIns="0" bIns="0" rtlCol="0" anchor="t">
            <a:spAutoFit/>
          </a:bodyPr>
          <a:lstStyle/>
          <a:p>
            <a:pPr algn="just">
              <a:lnSpc>
                <a:spcPts val="4799"/>
              </a:lnSpc>
            </a:pPr>
            <a:r>
              <a:rPr lang="en-US" sz="3999">
                <a:solidFill>
                  <a:srgbClr val="000000"/>
                </a:solidFill>
                <a:latin typeface="Times New Roman"/>
              </a:rPr>
              <a:t>Leading the tourism industry.</a:t>
            </a:r>
          </a:p>
        </p:txBody>
      </p:sp>
      <p:sp>
        <p:nvSpPr>
          <p:cNvPr id="8" name="TextBox 8"/>
          <p:cNvSpPr txBox="1"/>
          <p:nvPr/>
        </p:nvSpPr>
        <p:spPr>
          <a:xfrm>
            <a:off x="7424726" y="6825842"/>
            <a:ext cx="3900190" cy="755651"/>
          </a:xfrm>
          <a:prstGeom prst="rect">
            <a:avLst/>
          </a:prstGeom>
        </p:spPr>
        <p:txBody>
          <a:bodyPr lIns="0" tIns="0" rIns="0" bIns="0" rtlCol="0" anchor="t">
            <a:spAutoFit/>
          </a:bodyPr>
          <a:lstStyle/>
          <a:p>
            <a:pPr algn="ctr">
              <a:lnSpc>
                <a:spcPts val="5599"/>
              </a:lnSpc>
              <a:spcBef>
                <a:spcPct val="0"/>
              </a:spcBef>
            </a:pPr>
            <a:r>
              <a:rPr lang="en-US" sz="3999">
                <a:solidFill>
                  <a:srgbClr val="000000"/>
                </a:solidFill>
                <a:latin typeface="Times New Roman"/>
              </a:rPr>
              <a:t>Unique creativity.</a:t>
            </a:r>
          </a:p>
        </p:txBody>
      </p:sp>
      <p:sp>
        <p:nvSpPr>
          <p:cNvPr id="9" name="TextBox 9"/>
          <p:cNvSpPr txBox="1"/>
          <p:nvPr/>
        </p:nvSpPr>
        <p:spPr>
          <a:xfrm>
            <a:off x="13759575" y="6222592"/>
            <a:ext cx="3158579" cy="755650"/>
          </a:xfrm>
          <a:prstGeom prst="rect">
            <a:avLst/>
          </a:prstGeom>
        </p:spPr>
        <p:txBody>
          <a:bodyPr lIns="0" tIns="0" rIns="0" bIns="0" rtlCol="0" anchor="t">
            <a:spAutoFit/>
          </a:bodyPr>
          <a:lstStyle/>
          <a:p>
            <a:pPr algn="ctr">
              <a:lnSpc>
                <a:spcPts val="5599"/>
              </a:lnSpc>
              <a:spcBef>
                <a:spcPct val="0"/>
              </a:spcBef>
            </a:pPr>
            <a:r>
              <a:rPr lang="en-US" sz="3999">
                <a:solidFill>
                  <a:srgbClr val="000000"/>
                </a:solidFill>
                <a:latin typeface="Times New Roman"/>
              </a:rPr>
              <a:t>Luxury brand.</a:t>
            </a:r>
          </a:p>
        </p:txBody>
      </p:sp>
      <p:sp>
        <p:nvSpPr>
          <p:cNvPr id="10" name="Freeform 10"/>
          <p:cNvSpPr/>
          <p:nvPr/>
        </p:nvSpPr>
        <p:spPr>
          <a:xfrm>
            <a:off x="288443" y="283879"/>
            <a:ext cx="1979657" cy="1085064"/>
          </a:xfrm>
          <a:custGeom>
            <a:avLst/>
            <a:gdLst/>
            <a:ahLst/>
            <a:cxnLst/>
            <a:rect l="l" t="t" r="r" b="b"/>
            <a:pathLst>
              <a:path w="1979657" h="1085064">
                <a:moveTo>
                  <a:pt x="0" y="0"/>
                </a:moveTo>
                <a:lnTo>
                  <a:pt x="1979657" y="0"/>
                </a:lnTo>
                <a:lnTo>
                  <a:pt x="1979657" y="1085063"/>
                </a:lnTo>
                <a:lnTo>
                  <a:pt x="0" y="1085063"/>
                </a:lnTo>
                <a:lnTo>
                  <a:pt x="0" y="0"/>
                </a:lnTo>
                <a:close/>
              </a:path>
            </a:pathLst>
          </a:custGeom>
          <a:blipFill>
            <a:blip r:embed="rId5"/>
            <a:stretch>
              <a:fillRect t="-993" r="-757" b="-993"/>
            </a:stretch>
          </a:blipFill>
        </p:spPr>
        <p:txBody>
          <a:bodyPr/>
          <a:lstStyle/>
          <a:p>
            <a:endParaRPr lang="en-US"/>
          </a:p>
        </p:txBody>
      </p:sp>
      <p:sp>
        <p:nvSpPr>
          <p:cNvPr id="11" name="Freeform 11"/>
          <p:cNvSpPr/>
          <p:nvPr/>
        </p:nvSpPr>
        <p:spPr>
          <a:xfrm rot="8233486">
            <a:off x="15641698" y="8773185"/>
            <a:ext cx="3682181" cy="1845693"/>
          </a:xfrm>
          <a:custGeom>
            <a:avLst/>
            <a:gdLst/>
            <a:ahLst/>
            <a:cxnLst/>
            <a:rect l="l" t="t" r="r" b="b"/>
            <a:pathLst>
              <a:path w="3682181" h="1845693">
                <a:moveTo>
                  <a:pt x="0" y="0"/>
                </a:moveTo>
                <a:lnTo>
                  <a:pt x="3682181" y="0"/>
                </a:lnTo>
                <a:lnTo>
                  <a:pt x="3682181" y="1845693"/>
                </a:lnTo>
                <a:lnTo>
                  <a:pt x="0" y="184569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2" name="Freeform 12"/>
          <p:cNvSpPr/>
          <p:nvPr/>
        </p:nvSpPr>
        <p:spPr>
          <a:xfrm>
            <a:off x="4834744" y="1080469"/>
            <a:ext cx="8618512" cy="2366173"/>
          </a:xfrm>
          <a:custGeom>
            <a:avLst/>
            <a:gdLst/>
            <a:ahLst/>
            <a:cxnLst/>
            <a:rect l="l" t="t" r="r" b="b"/>
            <a:pathLst>
              <a:path w="8618512" h="2366173">
                <a:moveTo>
                  <a:pt x="0" y="0"/>
                </a:moveTo>
                <a:lnTo>
                  <a:pt x="8618512" y="0"/>
                </a:lnTo>
                <a:lnTo>
                  <a:pt x="8618512" y="2366173"/>
                </a:lnTo>
                <a:lnTo>
                  <a:pt x="0" y="236617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3" name="TextBox 13"/>
          <p:cNvSpPr txBox="1"/>
          <p:nvPr/>
        </p:nvSpPr>
        <p:spPr>
          <a:xfrm>
            <a:off x="6633819" y="1197492"/>
            <a:ext cx="5482004" cy="1562100"/>
          </a:xfrm>
          <a:prstGeom prst="rect">
            <a:avLst/>
          </a:prstGeom>
        </p:spPr>
        <p:txBody>
          <a:bodyPr lIns="0" tIns="0" rIns="0" bIns="0" rtlCol="0" anchor="t">
            <a:spAutoFit/>
          </a:bodyPr>
          <a:lstStyle/>
          <a:p>
            <a:pPr algn="l">
              <a:lnSpc>
                <a:spcPts val="10976"/>
              </a:lnSpc>
            </a:pPr>
            <a:r>
              <a:rPr lang="en-US" sz="9147">
                <a:solidFill>
                  <a:srgbClr val="212122"/>
                </a:solidFill>
                <a:latin typeface="Times New Roman Bold"/>
              </a:rPr>
              <a:t>Objectives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0484" y="4821277"/>
            <a:ext cx="4299934" cy="3619763"/>
          </a:xfrm>
          <a:custGeom>
            <a:avLst/>
            <a:gdLst/>
            <a:ahLst/>
            <a:cxnLst/>
            <a:rect l="l" t="t" r="r" b="b"/>
            <a:pathLst>
              <a:path w="4299934" h="3619763">
                <a:moveTo>
                  <a:pt x="0" y="0"/>
                </a:moveTo>
                <a:lnTo>
                  <a:pt x="4299934" y="0"/>
                </a:lnTo>
                <a:lnTo>
                  <a:pt x="4299934" y="3619763"/>
                </a:lnTo>
                <a:lnTo>
                  <a:pt x="0" y="36197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7293498" y="3459970"/>
            <a:ext cx="3152352" cy="3152352"/>
          </a:xfrm>
          <a:custGeom>
            <a:avLst/>
            <a:gdLst/>
            <a:ahLst/>
            <a:cxnLst/>
            <a:rect l="l" t="t" r="r" b="b"/>
            <a:pathLst>
              <a:path w="3152352" h="3152352">
                <a:moveTo>
                  <a:pt x="0" y="0"/>
                </a:moveTo>
                <a:lnTo>
                  <a:pt x="3152352" y="0"/>
                </a:lnTo>
                <a:lnTo>
                  <a:pt x="3152352" y="3152352"/>
                </a:lnTo>
                <a:lnTo>
                  <a:pt x="0" y="315235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13576724" y="2166451"/>
            <a:ext cx="2439652" cy="2654826"/>
          </a:xfrm>
          <a:custGeom>
            <a:avLst/>
            <a:gdLst/>
            <a:ahLst/>
            <a:cxnLst/>
            <a:rect l="l" t="t" r="r" b="b"/>
            <a:pathLst>
              <a:path w="2439652" h="2654826">
                <a:moveTo>
                  <a:pt x="0" y="0"/>
                </a:moveTo>
                <a:lnTo>
                  <a:pt x="2439652" y="0"/>
                </a:lnTo>
                <a:lnTo>
                  <a:pt x="2439652" y="2654826"/>
                </a:lnTo>
                <a:lnTo>
                  <a:pt x="0" y="265482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TextBox 5"/>
          <p:cNvSpPr txBox="1"/>
          <p:nvPr/>
        </p:nvSpPr>
        <p:spPr>
          <a:xfrm>
            <a:off x="421820" y="8610600"/>
            <a:ext cx="4299934" cy="647700"/>
          </a:xfrm>
          <a:prstGeom prst="rect">
            <a:avLst/>
          </a:prstGeom>
        </p:spPr>
        <p:txBody>
          <a:bodyPr lIns="0" tIns="0" rIns="0" bIns="0" rtlCol="0" anchor="t">
            <a:spAutoFit/>
          </a:bodyPr>
          <a:lstStyle/>
          <a:p>
            <a:pPr algn="just">
              <a:lnSpc>
                <a:spcPts val="4559"/>
              </a:lnSpc>
            </a:pPr>
            <a:r>
              <a:rPr lang="en-US" sz="3799">
                <a:solidFill>
                  <a:srgbClr val="242424"/>
                </a:solidFill>
                <a:latin typeface="Times New Roman"/>
              </a:rPr>
              <a:t>Smart environment.</a:t>
            </a:r>
          </a:p>
        </p:txBody>
      </p:sp>
      <p:sp>
        <p:nvSpPr>
          <p:cNvPr id="6" name="TextBox 6"/>
          <p:cNvSpPr txBox="1"/>
          <p:nvPr/>
        </p:nvSpPr>
        <p:spPr>
          <a:xfrm>
            <a:off x="11469189" y="4372610"/>
            <a:ext cx="6654722" cy="1389380"/>
          </a:xfrm>
          <a:prstGeom prst="rect">
            <a:avLst/>
          </a:prstGeom>
        </p:spPr>
        <p:txBody>
          <a:bodyPr lIns="0" tIns="0" rIns="0" bIns="0" rtlCol="0" anchor="t">
            <a:spAutoFit/>
          </a:bodyPr>
          <a:lstStyle/>
          <a:p>
            <a:pPr algn="ctr">
              <a:lnSpc>
                <a:spcPts val="5320"/>
              </a:lnSpc>
              <a:spcBef>
                <a:spcPct val="0"/>
              </a:spcBef>
            </a:pPr>
            <a:r>
              <a:rPr lang="en-US" sz="3800">
                <a:solidFill>
                  <a:srgbClr val="000000"/>
                </a:solidFill>
                <a:latin typeface="Times New Roman"/>
              </a:rPr>
              <a:t> .</a:t>
            </a:r>
          </a:p>
          <a:p>
            <a:pPr algn="ctr">
              <a:lnSpc>
                <a:spcPts val="5320"/>
              </a:lnSpc>
              <a:spcBef>
                <a:spcPct val="0"/>
              </a:spcBef>
            </a:pPr>
            <a:r>
              <a:rPr lang="en-US" sz="3800">
                <a:solidFill>
                  <a:srgbClr val="000000"/>
                </a:solidFill>
                <a:latin typeface="Times New Roman"/>
              </a:rPr>
              <a:t>Enhance customer experiences.</a:t>
            </a:r>
          </a:p>
        </p:txBody>
      </p:sp>
      <p:sp>
        <p:nvSpPr>
          <p:cNvPr id="7" name="TextBox 7"/>
          <p:cNvSpPr txBox="1"/>
          <p:nvPr/>
        </p:nvSpPr>
        <p:spPr>
          <a:xfrm>
            <a:off x="5615410" y="6659947"/>
            <a:ext cx="6508529" cy="722630"/>
          </a:xfrm>
          <a:prstGeom prst="rect">
            <a:avLst/>
          </a:prstGeom>
        </p:spPr>
        <p:txBody>
          <a:bodyPr lIns="0" tIns="0" rIns="0" bIns="0" rtlCol="0" anchor="t">
            <a:spAutoFit/>
          </a:bodyPr>
          <a:lstStyle/>
          <a:p>
            <a:pPr algn="ctr">
              <a:lnSpc>
                <a:spcPts val="5320"/>
              </a:lnSpc>
              <a:spcBef>
                <a:spcPct val="0"/>
              </a:spcBef>
            </a:pPr>
            <a:r>
              <a:rPr lang="en-US" sz="3800">
                <a:solidFill>
                  <a:srgbClr val="000000"/>
                </a:solidFill>
                <a:latin typeface="Times New Roman"/>
              </a:rPr>
              <a:t>Design a modern living space.</a:t>
            </a:r>
          </a:p>
        </p:txBody>
      </p:sp>
      <p:sp>
        <p:nvSpPr>
          <p:cNvPr id="8" name="Freeform 8"/>
          <p:cNvSpPr/>
          <p:nvPr/>
        </p:nvSpPr>
        <p:spPr>
          <a:xfrm>
            <a:off x="421820" y="213898"/>
            <a:ext cx="1943788" cy="1065404"/>
          </a:xfrm>
          <a:custGeom>
            <a:avLst/>
            <a:gdLst/>
            <a:ahLst/>
            <a:cxnLst/>
            <a:rect l="l" t="t" r="r" b="b"/>
            <a:pathLst>
              <a:path w="1943788" h="1065404">
                <a:moveTo>
                  <a:pt x="0" y="0"/>
                </a:moveTo>
                <a:lnTo>
                  <a:pt x="1943788" y="0"/>
                </a:lnTo>
                <a:lnTo>
                  <a:pt x="1943788" y="1065404"/>
                </a:lnTo>
                <a:lnTo>
                  <a:pt x="0" y="1065404"/>
                </a:lnTo>
                <a:lnTo>
                  <a:pt x="0" y="0"/>
                </a:lnTo>
                <a:close/>
              </a:path>
            </a:pathLst>
          </a:custGeom>
          <a:blipFill>
            <a:blip r:embed="rId8"/>
            <a:stretch>
              <a:fillRect t="-993" r="-757" b="-993"/>
            </a:stretch>
          </a:blipFill>
        </p:spPr>
        <p:txBody>
          <a:bodyPr/>
          <a:lstStyle/>
          <a:p>
            <a:endParaRPr lang="en-US"/>
          </a:p>
        </p:txBody>
      </p:sp>
      <p:sp>
        <p:nvSpPr>
          <p:cNvPr id="9" name="Freeform 9"/>
          <p:cNvSpPr/>
          <p:nvPr/>
        </p:nvSpPr>
        <p:spPr>
          <a:xfrm>
            <a:off x="4560418" y="891552"/>
            <a:ext cx="8618512" cy="2366173"/>
          </a:xfrm>
          <a:custGeom>
            <a:avLst/>
            <a:gdLst/>
            <a:ahLst/>
            <a:cxnLst/>
            <a:rect l="l" t="t" r="r" b="b"/>
            <a:pathLst>
              <a:path w="8618512" h="2366173">
                <a:moveTo>
                  <a:pt x="0" y="0"/>
                </a:moveTo>
                <a:lnTo>
                  <a:pt x="8618512" y="0"/>
                </a:lnTo>
                <a:lnTo>
                  <a:pt x="8618512" y="2366174"/>
                </a:lnTo>
                <a:lnTo>
                  <a:pt x="0" y="236617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0" name="TextBox 10"/>
          <p:cNvSpPr txBox="1"/>
          <p:nvPr/>
        </p:nvSpPr>
        <p:spPr>
          <a:xfrm>
            <a:off x="4012473" y="1079277"/>
            <a:ext cx="9714403" cy="1790700"/>
          </a:xfrm>
          <a:prstGeom prst="rect">
            <a:avLst/>
          </a:prstGeom>
        </p:spPr>
        <p:txBody>
          <a:bodyPr lIns="0" tIns="0" rIns="0" bIns="0" rtlCol="0" anchor="t">
            <a:spAutoFit/>
          </a:bodyPr>
          <a:lstStyle/>
          <a:p>
            <a:pPr algn="ctr">
              <a:lnSpc>
                <a:spcPts val="12599"/>
              </a:lnSpc>
            </a:pPr>
            <a:r>
              <a:rPr lang="en-US" sz="10499">
                <a:solidFill>
                  <a:srgbClr val="212122"/>
                </a:solidFill>
                <a:latin typeface="Times New Roman Bold"/>
              </a:rPr>
              <a:t>Mission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0338" y="238046"/>
            <a:ext cx="2273763" cy="1246265"/>
          </a:xfrm>
          <a:custGeom>
            <a:avLst/>
            <a:gdLst/>
            <a:ahLst/>
            <a:cxnLst/>
            <a:rect l="l" t="t" r="r" b="b"/>
            <a:pathLst>
              <a:path w="2273763" h="1246265">
                <a:moveTo>
                  <a:pt x="0" y="0"/>
                </a:moveTo>
                <a:lnTo>
                  <a:pt x="2273763" y="0"/>
                </a:lnTo>
                <a:lnTo>
                  <a:pt x="2273763" y="1246265"/>
                </a:lnTo>
                <a:lnTo>
                  <a:pt x="0" y="1246265"/>
                </a:lnTo>
                <a:lnTo>
                  <a:pt x="0" y="0"/>
                </a:lnTo>
                <a:close/>
              </a:path>
            </a:pathLst>
          </a:custGeom>
          <a:blipFill>
            <a:blip r:embed="rId2"/>
            <a:stretch>
              <a:fillRect t="-993" r="-757" b="-993"/>
            </a:stretch>
          </a:blipFill>
        </p:spPr>
        <p:txBody>
          <a:bodyPr/>
          <a:lstStyle/>
          <a:p>
            <a:endParaRPr lang="en-US"/>
          </a:p>
        </p:txBody>
      </p:sp>
      <p:sp>
        <p:nvSpPr>
          <p:cNvPr id="3" name="Freeform 3"/>
          <p:cNvSpPr/>
          <p:nvPr/>
        </p:nvSpPr>
        <p:spPr>
          <a:xfrm>
            <a:off x="252119" y="2289968"/>
            <a:ext cx="17783762" cy="7558993"/>
          </a:xfrm>
          <a:custGeom>
            <a:avLst/>
            <a:gdLst/>
            <a:ahLst/>
            <a:cxnLst/>
            <a:rect l="l" t="t" r="r" b="b"/>
            <a:pathLst>
              <a:path w="17783762" h="7558993">
                <a:moveTo>
                  <a:pt x="0" y="0"/>
                </a:moveTo>
                <a:lnTo>
                  <a:pt x="17783762" y="0"/>
                </a:lnTo>
                <a:lnTo>
                  <a:pt x="17783762" y="7558993"/>
                </a:lnTo>
                <a:lnTo>
                  <a:pt x="0" y="7558993"/>
                </a:lnTo>
                <a:lnTo>
                  <a:pt x="0" y="0"/>
                </a:lnTo>
                <a:close/>
              </a:path>
            </a:pathLst>
          </a:custGeom>
          <a:blipFill>
            <a:blip r:embed="rId3"/>
            <a:stretch>
              <a:fillRect t="-3887" b="-3887"/>
            </a:stretch>
          </a:blipFill>
        </p:spPr>
        <p:txBody>
          <a:bodyPr/>
          <a:lstStyle/>
          <a:p>
            <a:endParaRPr lang="en-US"/>
          </a:p>
        </p:txBody>
      </p:sp>
      <p:sp>
        <p:nvSpPr>
          <p:cNvPr id="4" name="Freeform 4"/>
          <p:cNvSpPr/>
          <p:nvPr/>
        </p:nvSpPr>
        <p:spPr>
          <a:xfrm>
            <a:off x="5050830" y="674480"/>
            <a:ext cx="8618512" cy="2366173"/>
          </a:xfrm>
          <a:custGeom>
            <a:avLst/>
            <a:gdLst/>
            <a:ahLst/>
            <a:cxnLst/>
            <a:rect l="l" t="t" r="r" b="b"/>
            <a:pathLst>
              <a:path w="8618512" h="2366173">
                <a:moveTo>
                  <a:pt x="0" y="0"/>
                </a:moveTo>
                <a:lnTo>
                  <a:pt x="8618512" y="0"/>
                </a:lnTo>
                <a:lnTo>
                  <a:pt x="8618512" y="2366173"/>
                </a:lnTo>
                <a:lnTo>
                  <a:pt x="0" y="23661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TextBox 5"/>
          <p:cNvSpPr txBox="1"/>
          <p:nvPr/>
        </p:nvSpPr>
        <p:spPr>
          <a:xfrm>
            <a:off x="5324486" y="1085331"/>
            <a:ext cx="8071200" cy="2275924"/>
          </a:xfrm>
          <a:prstGeom prst="rect">
            <a:avLst/>
          </a:prstGeom>
        </p:spPr>
        <p:txBody>
          <a:bodyPr lIns="0" tIns="0" rIns="0" bIns="0" rtlCol="0" anchor="t">
            <a:spAutoFit/>
          </a:bodyPr>
          <a:lstStyle/>
          <a:p>
            <a:pPr algn="ctr">
              <a:lnSpc>
                <a:spcPts val="8485"/>
              </a:lnSpc>
            </a:pPr>
            <a:r>
              <a:rPr lang="en-US" sz="7071">
                <a:solidFill>
                  <a:srgbClr val="010101"/>
                </a:solidFill>
                <a:latin typeface="Times New Roman Bold"/>
              </a:rPr>
              <a:t>Organization chart</a:t>
            </a:r>
          </a:p>
          <a:p>
            <a:pPr algn="ctr">
              <a:lnSpc>
                <a:spcPts val="8485"/>
              </a:lnSpc>
            </a:pPr>
            <a:endParaRPr lang="en-US" sz="7071">
              <a:solidFill>
                <a:srgbClr val="010101"/>
              </a:solidFill>
              <a:latin typeface="Times New Roman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27541" y="3761638"/>
            <a:ext cx="13232917" cy="3633037"/>
          </a:xfrm>
          <a:custGeom>
            <a:avLst/>
            <a:gdLst/>
            <a:ahLst/>
            <a:cxnLst/>
            <a:rect l="l" t="t" r="r" b="b"/>
            <a:pathLst>
              <a:path w="13232917" h="3633037">
                <a:moveTo>
                  <a:pt x="0" y="0"/>
                </a:moveTo>
                <a:lnTo>
                  <a:pt x="13232918" y="0"/>
                </a:lnTo>
                <a:lnTo>
                  <a:pt x="13232918" y="3633038"/>
                </a:lnTo>
                <a:lnTo>
                  <a:pt x="0" y="36330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4569104" y="3948063"/>
            <a:ext cx="9559131" cy="2699484"/>
          </a:xfrm>
          <a:prstGeom prst="rect">
            <a:avLst/>
          </a:prstGeom>
        </p:spPr>
        <p:txBody>
          <a:bodyPr lIns="0" tIns="0" rIns="0" bIns="0" rtlCol="0" anchor="t">
            <a:spAutoFit/>
          </a:bodyPr>
          <a:lstStyle/>
          <a:p>
            <a:pPr algn="ctr">
              <a:lnSpc>
                <a:spcPts val="10049"/>
              </a:lnSpc>
            </a:pPr>
            <a:r>
              <a:rPr lang="en-US" sz="8374">
                <a:solidFill>
                  <a:srgbClr val="010101"/>
                </a:solidFill>
                <a:latin typeface="Times New Roman Bold"/>
              </a:rPr>
              <a:t>INDUSTRY STRUCTURE</a:t>
            </a:r>
          </a:p>
        </p:txBody>
      </p:sp>
      <p:sp>
        <p:nvSpPr>
          <p:cNvPr id="4" name="Freeform 4"/>
          <p:cNvSpPr/>
          <p:nvPr/>
        </p:nvSpPr>
        <p:spPr>
          <a:xfrm>
            <a:off x="7970398" y="1028700"/>
            <a:ext cx="2347203" cy="1286518"/>
          </a:xfrm>
          <a:custGeom>
            <a:avLst/>
            <a:gdLst/>
            <a:ahLst/>
            <a:cxnLst/>
            <a:rect l="l" t="t" r="r" b="b"/>
            <a:pathLst>
              <a:path w="2347203" h="1286518">
                <a:moveTo>
                  <a:pt x="0" y="0"/>
                </a:moveTo>
                <a:lnTo>
                  <a:pt x="2347204" y="0"/>
                </a:lnTo>
                <a:lnTo>
                  <a:pt x="2347204" y="1286518"/>
                </a:lnTo>
                <a:lnTo>
                  <a:pt x="0" y="1286518"/>
                </a:lnTo>
                <a:lnTo>
                  <a:pt x="0" y="0"/>
                </a:lnTo>
                <a:close/>
              </a:path>
            </a:pathLst>
          </a:custGeom>
          <a:blipFill>
            <a:blip r:embed="rId4"/>
            <a:stretch>
              <a:fillRect t="-993" r="-757" b="-993"/>
            </a:stretch>
          </a:blip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880405" y="-99091"/>
            <a:ext cx="9407595" cy="10386091"/>
          </a:xfrm>
          <a:prstGeom prst="rect">
            <a:avLst/>
          </a:prstGeom>
          <a:solidFill>
            <a:srgbClr val="FFC7C7"/>
          </a:solidFill>
        </p:spPr>
        <p:txBody>
          <a:bodyPr/>
          <a:lstStyle/>
          <a:p>
            <a:endParaRPr lang="en-US"/>
          </a:p>
        </p:txBody>
      </p:sp>
      <p:sp>
        <p:nvSpPr>
          <p:cNvPr id="3" name="Freeform 3"/>
          <p:cNvSpPr/>
          <p:nvPr/>
        </p:nvSpPr>
        <p:spPr>
          <a:xfrm>
            <a:off x="8514070" y="4498103"/>
            <a:ext cx="9773930" cy="1092613"/>
          </a:xfrm>
          <a:custGeom>
            <a:avLst/>
            <a:gdLst/>
            <a:ahLst/>
            <a:cxnLst/>
            <a:rect l="l" t="t" r="r" b="b"/>
            <a:pathLst>
              <a:path w="9773930" h="1092613">
                <a:moveTo>
                  <a:pt x="0" y="0"/>
                </a:moveTo>
                <a:lnTo>
                  <a:pt x="9773930" y="0"/>
                </a:lnTo>
                <a:lnTo>
                  <a:pt x="9773930" y="1092613"/>
                </a:lnTo>
                <a:lnTo>
                  <a:pt x="0" y="1092613"/>
                </a:lnTo>
                <a:lnTo>
                  <a:pt x="0" y="0"/>
                </a:lnTo>
                <a:close/>
              </a:path>
            </a:pathLst>
          </a:custGeom>
          <a:blipFill>
            <a:blip r:embed="rId2"/>
            <a:stretch>
              <a:fillRect t="-3444" b="-3444"/>
            </a:stretch>
          </a:blipFill>
        </p:spPr>
        <p:txBody>
          <a:bodyPr/>
          <a:lstStyle/>
          <a:p>
            <a:endParaRPr lang="en-US"/>
          </a:p>
        </p:txBody>
      </p:sp>
      <p:sp>
        <p:nvSpPr>
          <p:cNvPr id="4" name="Freeform 4"/>
          <p:cNvSpPr/>
          <p:nvPr/>
        </p:nvSpPr>
        <p:spPr>
          <a:xfrm rot="1780920">
            <a:off x="3857563" y="859214"/>
            <a:ext cx="4226862" cy="2855314"/>
          </a:xfrm>
          <a:custGeom>
            <a:avLst/>
            <a:gdLst/>
            <a:ahLst/>
            <a:cxnLst/>
            <a:rect l="l" t="t" r="r" b="b"/>
            <a:pathLst>
              <a:path w="4226862" h="2855314">
                <a:moveTo>
                  <a:pt x="0" y="0"/>
                </a:moveTo>
                <a:lnTo>
                  <a:pt x="4226861" y="0"/>
                </a:lnTo>
                <a:lnTo>
                  <a:pt x="4226861" y="2855314"/>
                </a:lnTo>
                <a:lnTo>
                  <a:pt x="0" y="2855314"/>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29596" y="3652437"/>
            <a:ext cx="7966420" cy="5179695"/>
          </a:xfrm>
          <a:prstGeom prst="rect">
            <a:avLst/>
          </a:prstGeom>
        </p:spPr>
        <p:txBody>
          <a:bodyPr lIns="0" tIns="0" rIns="0" bIns="0" rtlCol="0" anchor="t">
            <a:spAutoFit/>
          </a:bodyPr>
          <a:lstStyle/>
          <a:p>
            <a:pPr marL="798007" lvl="1" indent="-399003" algn="just">
              <a:lnSpc>
                <a:spcPts val="4435"/>
              </a:lnSpc>
              <a:buFont typeface="Arial"/>
              <a:buChar char="•"/>
            </a:pPr>
            <a:r>
              <a:rPr lang="en-US" sz="3696">
                <a:latin typeface="Times New Roman" panose="02020603050405020304" pitchFamily="18" charset="0"/>
                <a:cs typeface="Times New Roman" panose="02020603050405020304" pitchFamily="18" charset="0"/>
              </a:rPr>
              <a:t>In March 2020, the number of tourists decreased sharply to only nearly 450,000 visitors.</a:t>
            </a:r>
          </a:p>
          <a:p>
            <a:pPr algn="just">
              <a:lnSpc>
                <a:spcPts val="4435"/>
              </a:lnSpc>
            </a:pPr>
            <a:endParaRPr lang="en-US" sz="3696">
              <a:latin typeface="Times New Roman" panose="02020603050405020304" pitchFamily="18" charset="0"/>
              <a:cs typeface="Times New Roman" panose="02020603050405020304" pitchFamily="18" charset="0"/>
            </a:endParaRPr>
          </a:p>
          <a:p>
            <a:pPr marL="798007" lvl="1" indent="-399003" algn="just">
              <a:lnSpc>
                <a:spcPts val="4435"/>
              </a:lnSpc>
              <a:buFont typeface="Arial"/>
              <a:buChar char="•"/>
            </a:pPr>
            <a:r>
              <a:rPr lang="en-US" sz="3696">
                <a:latin typeface="Times New Roman" panose="02020603050405020304" pitchFamily="18" charset="0"/>
                <a:cs typeface="Times New Roman" panose="02020603050405020304" pitchFamily="18" charset="0"/>
              </a:rPr>
              <a:t>A decrease of 68.1% compared to the same period in 2019.</a:t>
            </a:r>
          </a:p>
          <a:p>
            <a:pPr algn="just">
              <a:lnSpc>
                <a:spcPts val="4435"/>
              </a:lnSpc>
            </a:pPr>
            <a:endParaRPr lang="en-US" sz="3696">
              <a:latin typeface="Times New Roman" panose="02020603050405020304" pitchFamily="18" charset="0"/>
              <a:cs typeface="Times New Roman" panose="02020603050405020304" pitchFamily="18" charset="0"/>
            </a:endParaRPr>
          </a:p>
          <a:p>
            <a:pPr marL="798007" lvl="1" indent="-399003" algn="just">
              <a:lnSpc>
                <a:spcPts val="4435"/>
              </a:lnSpc>
              <a:buFont typeface="Arial"/>
              <a:buChar char="•"/>
            </a:pPr>
            <a:r>
              <a:rPr lang="en-US" sz="3696">
                <a:latin typeface="Times New Roman" panose="02020603050405020304" pitchFamily="18" charset="0"/>
                <a:cs typeface="Times New Roman" panose="02020603050405020304" pitchFamily="18" charset="0"/>
              </a:rPr>
              <a:t>Tourism revenue is 7,800 billion VND.</a:t>
            </a:r>
          </a:p>
        </p:txBody>
      </p:sp>
      <p:sp>
        <p:nvSpPr>
          <p:cNvPr id="6" name="TextBox 6"/>
          <p:cNvSpPr txBox="1"/>
          <p:nvPr/>
        </p:nvSpPr>
        <p:spPr>
          <a:xfrm>
            <a:off x="9007934" y="1778867"/>
            <a:ext cx="9794839" cy="581506"/>
          </a:xfrm>
          <a:prstGeom prst="rect">
            <a:avLst/>
          </a:prstGeom>
        </p:spPr>
        <p:txBody>
          <a:bodyPr lIns="0" tIns="0" rIns="0" bIns="0" rtlCol="0" anchor="t">
            <a:spAutoFit/>
          </a:bodyPr>
          <a:lstStyle/>
          <a:p>
            <a:pPr algn="ctr">
              <a:lnSpc>
                <a:spcPts val="4785"/>
              </a:lnSpc>
            </a:pPr>
            <a:r>
              <a:rPr lang="en-US" sz="3987">
                <a:solidFill>
                  <a:srgbClr val="000000"/>
                </a:solidFill>
                <a:latin typeface="Times New Roman" panose="02020603050405020304" pitchFamily="18" charset="0"/>
                <a:cs typeface="Times New Roman" panose="02020603050405020304" pitchFamily="18" charset="0"/>
              </a:rPr>
              <a:t>March 15, 2022 Reopening for tourism.</a:t>
            </a:r>
          </a:p>
        </p:txBody>
      </p:sp>
      <p:sp>
        <p:nvSpPr>
          <p:cNvPr id="7" name="TextBox 7"/>
          <p:cNvSpPr txBox="1"/>
          <p:nvPr/>
        </p:nvSpPr>
        <p:spPr>
          <a:xfrm>
            <a:off x="11965231" y="-9525"/>
            <a:ext cx="3880246" cy="1952625"/>
          </a:xfrm>
          <a:prstGeom prst="rect">
            <a:avLst/>
          </a:prstGeom>
        </p:spPr>
        <p:txBody>
          <a:bodyPr lIns="0" tIns="0" rIns="0" bIns="0" rtlCol="0" anchor="t">
            <a:spAutoFit/>
          </a:bodyPr>
          <a:lstStyle/>
          <a:p>
            <a:pPr algn="l">
              <a:lnSpc>
                <a:spcPts val="13200"/>
              </a:lnSpc>
            </a:pPr>
            <a:r>
              <a:rPr lang="en-US" sz="12000" spc="179">
                <a:solidFill>
                  <a:srgbClr val="000000"/>
                </a:solidFill>
                <a:latin typeface="Times New Roman Bold"/>
              </a:rPr>
              <a:t>2022</a:t>
            </a:r>
          </a:p>
        </p:txBody>
      </p:sp>
      <p:sp>
        <p:nvSpPr>
          <p:cNvPr id="8" name="TextBox 8"/>
          <p:cNvSpPr txBox="1"/>
          <p:nvPr/>
        </p:nvSpPr>
        <p:spPr>
          <a:xfrm>
            <a:off x="11315909" y="3128962"/>
            <a:ext cx="4170253" cy="581506"/>
          </a:xfrm>
          <a:prstGeom prst="rect">
            <a:avLst/>
          </a:prstGeom>
        </p:spPr>
        <p:txBody>
          <a:bodyPr lIns="0" tIns="0" rIns="0" bIns="0" rtlCol="0" anchor="t">
            <a:spAutoFit/>
          </a:bodyPr>
          <a:lstStyle/>
          <a:p>
            <a:pPr algn="ctr">
              <a:lnSpc>
                <a:spcPts val="4785"/>
              </a:lnSpc>
            </a:pPr>
            <a:r>
              <a:rPr lang="en-US" sz="3987">
                <a:solidFill>
                  <a:srgbClr val="000000"/>
                </a:solidFill>
                <a:latin typeface="Times New Roman Bold"/>
              </a:rPr>
              <a:t>Quarter 3 / 2022</a:t>
            </a:r>
          </a:p>
        </p:txBody>
      </p:sp>
      <p:sp>
        <p:nvSpPr>
          <p:cNvPr id="9" name="Freeform 9"/>
          <p:cNvSpPr/>
          <p:nvPr/>
        </p:nvSpPr>
        <p:spPr>
          <a:xfrm>
            <a:off x="29596" y="9051207"/>
            <a:ext cx="1790154" cy="981196"/>
          </a:xfrm>
          <a:custGeom>
            <a:avLst/>
            <a:gdLst/>
            <a:ahLst/>
            <a:cxnLst/>
            <a:rect l="l" t="t" r="r" b="b"/>
            <a:pathLst>
              <a:path w="1790154" h="981196">
                <a:moveTo>
                  <a:pt x="0" y="0"/>
                </a:moveTo>
                <a:lnTo>
                  <a:pt x="1790154" y="0"/>
                </a:lnTo>
                <a:lnTo>
                  <a:pt x="1790154" y="981196"/>
                </a:lnTo>
                <a:lnTo>
                  <a:pt x="0" y="981196"/>
                </a:lnTo>
                <a:lnTo>
                  <a:pt x="0" y="0"/>
                </a:lnTo>
                <a:close/>
              </a:path>
            </a:pathLst>
          </a:custGeom>
          <a:blipFill>
            <a:blip r:embed="rId4"/>
            <a:stretch>
              <a:fillRect t="-993" r="-757" b="-993"/>
            </a:stretch>
          </a:blipFill>
        </p:spPr>
        <p:txBody>
          <a:bodyPr/>
          <a:lstStyle/>
          <a:p>
            <a:endParaRPr lang="en-US"/>
          </a:p>
        </p:txBody>
      </p:sp>
      <p:grpSp>
        <p:nvGrpSpPr>
          <p:cNvPr id="10" name="Group 10"/>
          <p:cNvGrpSpPr/>
          <p:nvPr/>
        </p:nvGrpSpPr>
        <p:grpSpPr>
          <a:xfrm>
            <a:off x="325627" y="-92869"/>
            <a:ext cx="17596039" cy="8289862"/>
            <a:chOff x="0" y="-123825"/>
            <a:chExt cx="23461385" cy="11053149"/>
          </a:xfrm>
        </p:grpSpPr>
        <p:sp>
          <p:nvSpPr>
            <p:cNvPr id="11" name="TextBox 11"/>
            <p:cNvSpPr txBox="1"/>
            <p:nvPr/>
          </p:nvSpPr>
          <p:spPr>
            <a:xfrm>
              <a:off x="0" y="-123825"/>
              <a:ext cx="9832479" cy="4514056"/>
            </a:xfrm>
            <a:prstGeom prst="rect">
              <a:avLst/>
            </a:prstGeom>
          </p:spPr>
          <p:txBody>
            <a:bodyPr lIns="0" tIns="0" rIns="0" bIns="0" rtlCol="0" anchor="t">
              <a:spAutoFit/>
            </a:bodyPr>
            <a:lstStyle/>
            <a:p>
              <a:pPr algn="l">
                <a:lnSpc>
                  <a:spcPts val="13200"/>
                </a:lnSpc>
              </a:pPr>
              <a:r>
                <a:rPr lang="en-US" sz="12000" spc="179">
                  <a:solidFill>
                    <a:srgbClr val="000000"/>
                  </a:solidFill>
                  <a:latin typeface="Times New Roman Bold"/>
                </a:rPr>
                <a:t>COVID</a:t>
              </a:r>
              <a:endParaRPr lang="vi-VN" sz="12000" spc="179">
                <a:solidFill>
                  <a:srgbClr val="000000"/>
                </a:solidFill>
                <a:latin typeface="Times New Roman Bold"/>
              </a:endParaRPr>
            </a:p>
            <a:p>
              <a:pPr algn="l">
                <a:lnSpc>
                  <a:spcPts val="13200"/>
                </a:lnSpc>
              </a:pPr>
              <a:r>
                <a:rPr lang="vi-VN" sz="12000" spc="179">
                  <a:solidFill>
                    <a:srgbClr val="000000"/>
                  </a:solidFill>
                  <a:latin typeface="Times New Roman Bold"/>
                </a:rPr>
                <a:t>-</a:t>
              </a:r>
              <a:r>
                <a:rPr lang="en-US" sz="12000" spc="179">
                  <a:solidFill>
                    <a:srgbClr val="000000"/>
                  </a:solidFill>
                  <a:latin typeface="Times New Roman Bold"/>
                </a:rPr>
                <a:t>19</a:t>
              </a:r>
            </a:p>
          </p:txBody>
        </p:sp>
        <p:sp>
          <p:nvSpPr>
            <p:cNvPr id="12" name="TextBox 12"/>
            <p:cNvSpPr txBox="1"/>
            <p:nvPr/>
          </p:nvSpPr>
          <p:spPr>
            <a:xfrm>
              <a:off x="11406371" y="8672296"/>
              <a:ext cx="12055014" cy="2257028"/>
            </a:xfrm>
            <a:prstGeom prst="rect">
              <a:avLst/>
            </a:prstGeom>
          </p:spPr>
          <p:txBody>
            <a:bodyPr lIns="0" tIns="0" rIns="0" bIns="0" rtlCol="0" anchor="t">
              <a:spAutoFit/>
            </a:bodyPr>
            <a:lstStyle/>
            <a:p>
              <a:pPr marL="798829" lvl="1" indent="-399415" algn="just">
                <a:lnSpc>
                  <a:spcPts val="4439"/>
                </a:lnSpc>
                <a:buFont typeface="Arial"/>
                <a:buChar char="•"/>
              </a:pPr>
              <a:r>
                <a:rPr lang="en-US" sz="3699">
                  <a:solidFill>
                    <a:srgbClr val="000000"/>
                  </a:solidFill>
                  <a:latin typeface="Times New Roman" panose="02020603050405020304" pitchFamily="18" charset="0"/>
                  <a:cs typeface="Times New Roman" panose="02020603050405020304" pitchFamily="18" charset="0"/>
                </a:rPr>
                <a:t>Tourism revenue in 2022 reaches 120,000 billion VND.</a:t>
              </a:r>
            </a:p>
            <a:p>
              <a:pPr marL="798829" lvl="1" indent="-399415" algn="just">
                <a:lnSpc>
                  <a:spcPts val="4439"/>
                </a:lnSpc>
                <a:buFont typeface="Arial"/>
                <a:buChar char="•"/>
              </a:pPr>
              <a:r>
                <a:rPr lang="en-US" sz="3699">
                  <a:solidFill>
                    <a:srgbClr val="000000"/>
                  </a:solidFill>
                  <a:latin typeface="Times New Roman" panose="02020603050405020304" pitchFamily="18" charset="0"/>
                  <a:cs typeface="Times New Roman" panose="02020603050405020304" pitchFamily="18" charset="0"/>
                </a:rPr>
                <a:t>Increased 171% but 14% lower than 2019.</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9361" y="-57150"/>
            <a:ext cx="9144000" cy="10401300"/>
          </a:xfrm>
          <a:prstGeom prst="rect">
            <a:avLst/>
          </a:prstGeom>
          <a:solidFill>
            <a:srgbClr val="FFC7C7"/>
          </a:solidFill>
        </p:spPr>
        <p:txBody>
          <a:bodyPr/>
          <a:lstStyle/>
          <a:p>
            <a:endParaRPr lang="en-US"/>
          </a:p>
        </p:txBody>
      </p:sp>
      <p:grpSp>
        <p:nvGrpSpPr>
          <p:cNvPr id="3" name="Group 3"/>
          <p:cNvGrpSpPr/>
          <p:nvPr/>
        </p:nvGrpSpPr>
        <p:grpSpPr>
          <a:xfrm>
            <a:off x="337338" y="630568"/>
            <a:ext cx="8508046" cy="9025865"/>
            <a:chOff x="0" y="0"/>
            <a:chExt cx="11344061" cy="12034487"/>
          </a:xfrm>
        </p:grpSpPr>
        <p:sp>
          <p:nvSpPr>
            <p:cNvPr id="4" name="Freeform 4"/>
            <p:cNvSpPr/>
            <p:nvPr/>
          </p:nvSpPr>
          <p:spPr>
            <a:xfrm>
              <a:off x="0" y="0"/>
              <a:ext cx="11344061" cy="6903835"/>
            </a:xfrm>
            <a:custGeom>
              <a:avLst/>
              <a:gdLst/>
              <a:ahLst/>
              <a:cxnLst/>
              <a:rect l="l" t="t" r="r" b="b"/>
              <a:pathLst>
                <a:path w="11344061" h="6903835">
                  <a:moveTo>
                    <a:pt x="0" y="0"/>
                  </a:moveTo>
                  <a:lnTo>
                    <a:pt x="11344061" y="0"/>
                  </a:lnTo>
                  <a:lnTo>
                    <a:pt x="11344061" y="6903835"/>
                  </a:lnTo>
                  <a:lnTo>
                    <a:pt x="0" y="6903835"/>
                  </a:lnTo>
                  <a:lnTo>
                    <a:pt x="0" y="0"/>
                  </a:lnTo>
                  <a:close/>
                </a:path>
              </a:pathLst>
            </a:custGeom>
            <a:blipFill>
              <a:blip r:embed="rId2"/>
              <a:stretch>
                <a:fillRect/>
              </a:stretch>
            </a:blipFill>
          </p:spPr>
          <p:txBody>
            <a:bodyPr/>
            <a:lstStyle/>
            <a:p>
              <a:endParaRPr lang="en-US"/>
            </a:p>
          </p:txBody>
        </p:sp>
        <p:sp>
          <p:nvSpPr>
            <p:cNvPr id="5" name="TextBox 5"/>
            <p:cNvSpPr txBox="1"/>
            <p:nvPr/>
          </p:nvSpPr>
          <p:spPr>
            <a:xfrm>
              <a:off x="0" y="7635418"/>
              <a:ext cx="11344061" cy="4399068"/>
            </a:xfrm>
            <a:prstGeom prst="rect">
              <a:avLst/>
            </a:prstGeom>
          </p:spPr>
          <p:txBody>
            <a:bodyPr lIns="0" tIns="0" rIns="0" bIns="0" rtlCol="0" anchor="t">
              <a:spAutoFit/>
            </a:bodyPr>
            <a:lstStyle/>
            <a:p>
              <a:pPr algn="just">
                <a:lnSpc>
                  <a:spcPts val="5179"/>
                </a:lnSpc>
                <a:spcBef>
                  <a:spcPct val="0"/>
                </a:spcBef>
              </a:pPr>
              <a:r>
                <a:rPr lang="en-US" sz="3699">
                  <a:solidFill>
                    <a:srgbClr val="000000"/>
                  </a:solidFill>
                  <a:latin typeface="Times New Roman"/>
                </a:rPr>
                <a:t>By the end of 2022, in Ho Chi Minh City, hotel supply will reach more than </a:t>
              </a:r>
              <a:r>
                <a:rPr lang="en-US" sz="3699">
                  <a:solidFill>
                    <a:srgbClr val="000000"/>
                  </a:solidFill>
                  <a:latin typeface="Times New Roman Bold"/>
                </a:rPr>
                <a:t>15,500 rooms from 111 projects.</a:t>
              </a:r>
            </a:p>
            <a:p>
              <a:pPr algn="just">
                <a:lnSpc>
                  <a:spcPts val="5179"/>
                </a:lnSpc>
                <a:spcBef>
                  <a:spcPct val="0"/>
                </a:spcBef>
              </a:pPr>
              <a:r>
                <a:rPr lang="en-US" sz="3699">
                  <a:solidFill>
                    <a:srgbClr val="000000"/>
                  </a:solidFill>
                  <a:latin typeface="Times New Roman"/>
                </a:rPr>
                <a:t> </a:t>
              </a:r>
            </a:p>
            <a:p>
              <a:pPr algn="just">
                <a:lnSpc>
                  <a:spcPts val="5179"/>
                </a:lnSpc>
                <a:spcBef>
                  <a:spcPct val="0"/>
                </a:spcBef>
              </a:pPr>
              <a:r>
                <a:rPr lang="en-US" sz="3699">
                  <a:solidFill>
                    <a:srgbClr val="000000"/>
                  </a:solidFill>
                  <a:latin typeface="Times New Roman"/>
                </a:rPr>
                <a:t>Increased </a:t>
              </a:r>
              <a:r>
                <a:rPr lang="en-US" sz="3699">
                  <a:solidFill>
                    <a:srgbClr val="000000"/>
                  </a:solidFill>
                  <a:latin typeface="Times New Roman Bold"/>
                </a:rPr>
                <a:t>8%</a:t>
              </a:r>
              <a:r>
                <a:rPr lang="en-US" sz="3699">
                  <a:solidFill>
                    <a:srgbClr val="000000"/>
                  </a:solidFill>
                  <a:latin typeface="Times New Roman"/>
                </a:rPr>
                <a:t> year-on-year.</a:t>
              </a:r>
            </a:p>
          </p:txBody>
        </p:sp>
      </p:grpSp>
      <p:grpSp>
        <p:nvGrpSpPr>
          <p:cNvPr id="6" name="Group 6"/>
          <p:cNvGrpSpPr/>
          <p:nvPr/>
        </p:nvGrpSpPr>
        <p:grpSpPr>
          <a:xfrm>
            <a:off x="9191936" y="352042"/>
            <a:ext cx="8693065" cy="9954008"/>
            <a:chOff x="0" y="0"/>
            <a:chExt cx="11590754" cy="13272010"/>
          </a:xfrm>
        </p:grpSpPr>
        <p:sp>
          <p:nvSpPr>
            <p:cNvPr id="7" name="Freeform 7"/>
            <p:cNvSpPr/>
            <p:nvPr/>
          </p:nvSpPr>
          <p:spPr>
            <a:xfrm>
              <a:off x="2761521" y="6123093"/>
              <a:ext cx="7194453" cy="7148917"/>
            </a:xfrm>
            <a:custGeom>
              <a:avLst/>
              <a:gdLst/>
              <a:ahLst/>
              <a:cxnLst/>
              <a:rect l="l" t="t" r="r" b="b"/>
              <a:pathLst>
                <a:path w="7194453" h="7148917">
                  <a:moveTo>
                    <a:pt x="0" y="0"/>
                  </a:moveTo>
                  <a:lnTo>
                    <a:pt x="7194453" y="0"/>
                  </a:lnTo>
                  <a:lnTo>
                    <a:pt x="7194453" y="7148917"/>
                  </a:lnTo>
                  <a:lnTo>
                    <a:pt x="0" y="7148917"/>
                  </a:lnTo>
                  <a:lnTo>
                    <a:pt x="0" y="0"/>
                  </a:lnTo>
                  <a:close/>
                </a:path>
              </a:pathLst>
            </a:custGeom>
            <a:blipFill>
              <a:blip r:embed="rId3"/>
              <a:stretch>
                <a:fillRect r="-102911"/>
              </a:stretch>
            </a:blipFill>
          </p:spPr>
          <p:txBody>
            <a:bodyPr/>
            <a:lstStyle/>
            <a:p>
              <a:endParaRPr lang="en-US"/>
            </a:p>
          </p:txBody>
        </p:sp>
        <p:sp>
          <p:nvSpPr>
            <p:cNvPr id="8" name="TextBox 8"/>
            <p:cNvSpPr txBox="1"/>
            <p:nvPr/>
          </p:nvSpPr>
          <p:spPr>
            <a:xfrm>
              <a:off x="0" y="-142875"/>
              <a:ext cx="11590754" cy="6151668"/>
            </a:xfrm>
            <a:prstGeom prst="rect">
              <a:avLst/>
            </a:prstGeom>
          </p:spPr>
          <p:txBody>
            <a:bodyPr lIns="0" tIns="0" rIns="0" bIns="0" rtlCol="0" anchor="t">
              <a:spAutoFit/>
            </a:bodyPr>
            <a:lstStyle/>
            <a:p>
              <a:pPr marL="798829" lvl="1" indent="-399415" algn="just">
                <a:lnSpc>
                  <a:spcPts val="5179"/>
                </a:lnSpc>
                <a:buFont typeface="Arial"/>
                <a:buChar char="•"/>
              </a:pPr>
              <a:r>
                <a:rPr lang="en-US" sz="3699">
                  <a:solidFill>
                    <a:srgbClr val="000000"/>
                  </a:solidFill>
                  <a:latin typeface="Times New Roman"/>
                </a:rPr>
                <a:t>The</a:t>
              </a:r>
              <a:r>
                <a:rPr lang="en-US" sz="3699">
                  <a:solidFill>
                    <a:srgbClr val="000000"/>
                  </a:solidFill>
                  <a:latin typeface="Times New Roman Bold"/>
                </a:rPr>
                <a:t> hotel industry in Vietnam</a:t>
              </a:r>
              <a:r>
                <a:rPr lang="en-US" sz="3699">
                  <a:solidFill>
                    <a:srgbClr val="000000"/>
                  </a:solidFill>
                  <a:latin typeface="Times New Roman"/>
                </a:rPr>
                <a:t> has grown continuously based on </a:t>
              </a:r>
              <a:r>
                <a:rPr lang="en-US" sz="3699">
                  <a:solidFill>
                    <a:srgbClr val="000000"/>
                  </a:solidFill>
                  <a:latin typeface="Times New Roman Bold"/>
                </a:rPr>
                <a:t>increased tourism.</a:t>
              </a:r>
            </a:p>
            <a:p>
              <a:pPr marL="798829" lvl="1" indent="-399415" algn="just">
                <a:lnSpc>
                  <a:spcPts val="5179"/>
                </a:lnSpc>
                <a:buFont typeface="Arial"/>
                <a:buChar char="•"/>
              </a:pPr>
              <a:r>
                <a:rPr lang="en-US" sz="3699">
                  <a:solidFill>
                    <a:srgbClr val="000000"/>
                  </a:solidFill>
                  <a:latin typeface="Times New Roman"/>
                </a:rPr>
                <a:t>Influenced by both </a:t>
              </a:r>
              <a:r>
                <a:rPr lang="en-US" sz="3699">
                  <a:solidFill>
                    <a:srgbClr val="000000"/>
                  </a:solidFill>
                  <a:latin typeface="Times New Roman Bold"/>
                </a:rPr>
                <a:t>international and domestic visitors.</a:t>
              </a:r>
            </a:p>
            <a:p>
              <a:pPr marL="798829" lvl="1" indent="-399415" algn="just">
                <a:lnSpc>
                  <a:spcPts val="5179"/>
                </a:lnSpc>
                <a:buFont typeface="Arial"/>
                <a:buChar char="•"/>
              </a:pPr>
              <a:r>
                <a:rPr lang="en-US" sz="3699">
                  <a:solidFill>
                    <a:srgbClr val="000000"/>
                  </a:solidFill>
                  <a:latin typeface="Times New Roman"/>
                </a:rPr>
                <a:t>The majority of </a:t>
              </a:r>
              <a:r>
                <a:rPr lang="en-US" sz="3699">
                  <a:solidFill>
                    <a:srgbClr val="000000"/>
                  </a:solidFill>
                  <a:latin typeface="Times New Roman Bold"/>
                </a:rPr>
                <a:t>hotels in Vietnam</a:t>
              </a:r>
              <a:r>
                <a:rPr lang="en-US" sz="3699">
                  <a:solidFill>
                    <a:srgbClr val="000000"/>
                  </a:solidFill>
                  <a:latin typeface="Times New Roman"/>
                </a:rPr>
                <a:t> are </a:t>
              </a:r>
              <a:r>
                <a:rPr lang="en-US" sz="3699">
                  <a:solidFill>
                    <a:srgbClr val="000000"/>
                  </a:solidFill>
                  <a:latin typeface="Times New Roman Bold"/>
                </a:rPr>
                <a:t>independent or domestic.</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2785" y="283879"/>
            <a:ext cx="2204332" cy="1208210"/>
          </a:xfrm>
          <a:custGeom>
            <a:avLst/>
            <a:gdLst/>
            <a:ahLst/>
            <a:cxnLst/>
            <a:rect l="l" t="t" r="r" b="b"/>
            <a:pathLst>
              <a:path w="2204332" h="1208210">
                <a:moveTo>
                  <a:pt x="0" y="0"/>
                </a:moveTo>
                <a:lnTo>
                  <a:pt x="2204331" y="0"/>
                </a:lnTo>
                <a:lnTo>
                  <a:pt x="2204331" y="1208209"/>
                </a:lnTo>
                <a:lnTo>
                  <a:pt x="0" y="1208209"/>
                </a:lnTo>
                <a:lnTo>
                  <a:pt x="0" y="0"/>
                </a:lnTo>
                <a:close/>
              </a:path>
            </a:pathLst>
          </a:custGeom>
          <a:blipFill>
            <a:blip r:embed="rId2"/>
            <a:stretch>
              <a:fillRect t="-993" r="-757" b="-993"/>
            </a:stretch>
          </a:blipFill>
        </p:spPr>
        <p:txBody>
          <a:bodyPr/>
          <a:lstStyle/>
          <a:p>
            <a:endParaRPr lang="en-US"/>
          </a:p>
        </p:txBody>
      </p:sp>
      <p:sp>
        <p:nvSpPr>
          <p:cNvPr id="3" name="Freeform 3"/>
          <p:cNvSpPr/>
          <p:nvPr/>
        </p:nvSpPr>
        <p:spPr>
          <a:xfrm>
            <a:off x="4839689" y="272695"/>
            <a:ext cx="8882998" cy="2438787"/>
          </a:xfrm>
          <a:custGeom>
            <a:avLst/>
            <a:gdLst/>
            <a:ahLst/>
            <a:cxnLst/>
            <a:rect l="l" t="t" r="r" b="b"/>
            <a:pathLst>
              <a:path w="8882998" h="2438787">
                <a:moveTo>
                  <a:pt x="0" y="0"/>
                </a:moveTo>
                <a:lnTo>
                  <a:pt x="8882998" y="0"/>
                </a:lnTo>
                <a:lnTo>
                  <a:pt x="8882998" y="2438787"/>
                </a:lnTo>
                <a:lnTo>
                  <a:pt x="0" y="243878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10479557" y="2780982"/>
            <a:ext cx="6945429" cy="3974266"/>
          </a:xfrm>
          <a:custGeom>
            <a:avLst/>
            <a:gdLst/>
            <a:ahLst/>
            <a:cxnLst/>
            <a:rect l="l" t="t" r="r" b="b"/>
            <a:pathLst>
              <a:path w="6945429" h="3974266">
                <a:moveTo>
                  <a:pt x="0" y="0"/>
                </a:moveTo>
                <a:lnTo>
                  <a:pt x="6945428" y="0"/>
                </a:lnTo>
                <a:lnTo>
                  <a:pt x="6945428" y="3974266"/>
                </a:lnTo>
                <a:lnTo>
                  <a:pt x="0" y="3974266"/>
                </a:lnTo>
                <a:lnTo>
                  <a:pt x="0" y="0"/>
                </a:lnTo>
                <a:close/>
              </a:path>
            </a:pathLst>
          </a:custGeom>
          <a:blipFill>
            <a:blip r:embed="rId5"/>
            <a:stretch>
              <a:fillRect t="-6700" b="-6700"/>
            </a:stretch>
          </a:blipFill>
        </p:spPr>
        <p:txBody>
          <a:bodyPr/>
          <a:lstStyle/>
          <a:p>
            <a:endParaRPr lang="en-US"/>
          </a:p>
        </p:txBody>
      </p:sp>
      <p:sp>
        <p:nvSpPr>
          <p:cNvPr id="5" name="Freeform 5"/>
          <p:cNvSpPr/>
          <p:nvPr/>
        </p:nvSpPr>
        <p:spPr>
          <a:xfrm>
            <a:off x="822952" y="6726995"/>
            <a:ext cx="7295936" cy="3295341"/>
          </a:xfrm>
          <a:custGeom>
            <a:avLst/>
            <a:gdLst/>
            <a:ahLst/>
            <a:cxnLst/>
            <a:rect l="l" t="t" r="r" b="b"/>
            <a:pathLst>
              <a:path w="7295936" h="3295341">
                <a:moveTo>
                  <a:pt x="0" y="0"/>
                </a:moveTo>
                <a:lnTo>
                  <a:pt x="7295935" y="0"/>
                </a:lnTo>
                <a:lnTo>
                  <a:pt x="7295935" y="3295341"/>
                </a:lnTo>
                <a:lnTo>
                  <a:pt x="0" y="3295341"/>
                </a:lnTo>
                <a:lnTo>
                  <a:pt x="0" y="0"/>
                </a:lnTo>
                <a:close/>
              </a:path>
            </a:pathLst>
          </a:custGeom>
          <a:blipFill>
            <a:blip r:embed="rId6"/>
            <a:stretch>
              <a:fillRect l="-21787" t="-9098" b="-9098"/>
            </a:stretch>
          </a:blipFill>
        </p:spPr>
        <p:txBody>
          <a:bodyPr/>
          <a:lstStyle/>
          <a:p>
            <a:endParaRPr lang="en-US"/>
          </a:p>
        </p:txBody>
      </p:sp>
      <p:sp>
        <p:nvSpPr>
          <p:cNvPr id="6" name="TextBox 6"/>
          <p:cNvSpPr txBox="1"/>
          <p:nvPr/>
        </p:nvSpPr>
        <p:spPr>
          <a:xfrm>
            <a:off x="5398083" y="124140"/>
            <a:ext cx="8882998" cy="1305037"/>
          </a:xfrm>
          <a:prstGeom prst="rect">
            <a:avLst/>
          </a:prstGeom>
        </p:spPr>
        <p:txBody>
          <a:bodyPr wrap="square" lIns="0" tIns="0" rIns="0" bIns="0" rtlCol="0" anchor="t">
            <a:spAutoFit/>
          </a:bodyPr>
          <a:lstStyle/>
          <a:p>
            <a:pPr algn="ctr">
              <a:lnSpc>
                <a:spcPts val="11059"/>
              </a:lnSpc>
              <a:spcBef>
                <a:spcPct val="0"/>
              </a:spcBef>
            </a:pPr>
            <a:r>
              <a:rPr lang="en-US" sz="7899">
                <a:solidFill>
                  <a:srgbClr val="000000"/>
                </a:solidFill>
                <a:latin typeface="Times New Roman Bold"/>
              </a:rPr>
              <a:t>Competitive forces</a:t>
            </a:r>
          </a:p>
        </p:txBody>
      </p:sp>
      <p:sp>
        <p:nvSpPr>
          <p:cNvPr id="7" name="TextBox 7"/>
          <p:cNvSpPr txBox="1"/>
          <p:nvPr/>
        </p:nvSpPr>
        <p:spPr>
          <a:xfrm>
            <a:off x="5988976" y="1476060"/>
            <a:ext cx="6310047" cy="755651"/>
          </a:xfrm>
          <a:prstGeom prst="rect">
            <a:avLst/>
          </a:prstGeom>
        </p:spPr>
        <p:txBody>
          <a:bodyPr lIns="0" tIns="0" rIns="0" bIns="0" rtlCol="0" anchor="t">
            <a:spAutoFit/>
          </a:bodyPr>
          <a:lstStyle/>
          <a:p>
            <a:pPr algn="ctr">
              <a:lnSpc>
                <a:spcPts val="5599"/>
              </a:lnSpc>
              <a:spcBef>
                <a:spcPct val="0"/>
              </a:spcBef>
            </a:pPr>
            <a:r>
              <a:rPr lang="en-US" sz="3999">
                <a:solidFill>
                  <a:srgbClr val="F64F59"/>
                </a:solidFill>
                <a:latin typeface="Times New Roman Bold"/>
              </a:rPr>
              <a:t>Traditional competitor</a:t>
            </a:r>
          </a:p>
        </p:txBody>
      </p:sp>
      <p:sp>
        <p:nvSpPr>
          <p:cNvPr id="8" name="TextBox 8"/>
          <p:cNvSpPr txBox="1"/>
          <p:nvPr/>
        </p:nvSpPr>
        <p:spPr>
          <a:xfrm>
            <a:off x="1277226" y="3357780"/>
            <a:ext cx="7716194" cy="2677795"/>
          </a:xfrm>
          <a:prstGeom prst="rect">
            <a:avLst/>
          </a:prstGeom>
        </p:spPr>
        <p:txBody>
          <a:bodyPr lIns="0" tIns="0" rIns="0" bIns="0" rtlCol="0" anchor="t">
            <a:spAutoFit/>
          </a:bodyPr>
          <a:lstStyle/>
          <a:p>
            <a:pPr algn="just">
              <a:lnSpc>
                <a:spcPts val="5179"/>
              </a:lnSpc>
              <a:spcBef>
                <a:spcPct val="0"/>
              </a:spcBef>
            </a:pPr>
            <a:r>
              <a:rPr lang="en-US" sz="3699">
                <a:solidFill>
                  <a:srgbClr val="000000"/>
                </a:solidFill>
                <a:latin typeface="Times New Roman Bold"/>
              </a:rPr>
              <a:t>Rex Hotel Saigon: </a:t>
            </a:r>
          </a:p>
          <a:p>
            <a:pPr marL="798829" lvl="1" indent="-399415" algn="just">
              <a:lnSpc>
                <a:spcPts val="5179"/>
              </a:lnSpc>
              <a:buFont typeface="Arial"/>
              <a:buChar char="•"/>
            </a:pPr>
            <a:r>
              <a:rPr lang="en-US" sz="3699">
                <a:solidFill>
                  <a:srgbClr val="000000"/>
                </a:solidFill>
                <a:latin typeface="Times New Roman"/>
              </a:rPr>
              <a:t>A prestigious </a:t>
            </a:r>
            <a:r>
              <a:rPr lang="en-US" sz="3699">
                <a:solidFill>
                  <a:srgbClr val="000000"/>
                </a:solidFill>
                <a:latin typeface="Times New Roman Bold"/>
              </a:rPr>
              <a:t>5-star</a:t>
            </a:r>
            <a:r>
              <a:rPr lang="en-US" sz="3699">
                <a:solidFill>
                  <a:srgbClr val="000000"/>
                </a:solidFill>
                <a:latin typeface="Times New Roman"/>
              </a:rPr>
              <a:t> hotel.</a:t>
            </a:r>
          </a:p>
          <a:p>
            <a:pPr marL="798829" lvl="1" indent="-399415" algn="just">
              <a:lnSpc>
                <a:spcPts val="5179"/>
              </a:lnSpc>
              <a:buFont typeface="Arial"/>
              <a:buChar char="•"/>
            </a:pPr>
            <a:r>
              <a:rPr lang="en-US" sz="3699">
                <a:solidFill>
                  <a:srgbClr val="000000"/>
                </a:solidFill>
                <a:latin typeface="Times New Roman"/>
              </a:rPr>
              <a:t>Operating for more than </a:t>
            </a:r>
            <a:r>
              <a:rPr lang="en-US" sz="3699">
                <a:solidFill>
                  <a:srgbClr val="000000"/>
                </a:solidFill>
                <a:latin typeface="Times New Roman Bold"/>
              </a:rPr>
              <a:t>90 years</a:t>
            </a:r>
            <a:r>
              <a:rPr lang="en-US" sz="3699">
                <a:solidFill>
                  <a:srgbClr val="000000"/>
                </a:solidFill>
                <a:latin typeface="Times New Roman"/>
              </a:rPr>
              <a:t>.</a:t>
            </a:r>
          </a:p>
          <a:p>
            <a:pPr marL="798829" lvl="1" indent="-399415" algn="just">
              <a:lnSpc>
                <a:spcPts val="5179"/>
              </a:lnSpc>
              <a:buFont typeface="Arial"/>
              <a:buChar char="•"/>
            </a:pPr>
            <a:r>
              <a:rPr lang="en-US" sz="3699">
                <a:solidFill>
                  <a:srgbClr val="000000"/>
                </a:solidFill>
                <a:latin typeface="Times New Roman"/>
              </a:rPr>
              <a:t>Located in the center of </a:t>
            </a:r>
            <a:r>
              <a:rPr lang="en-US" sz="3699">
                <a:solidFill>
                  <a:srgbClr val="000000"/>
                </a:solidFill>
                <a:latin typeface="Times New Roman Bold"/>
              </a:rPr>
              <a:t>District 1.</a:t>
            </a:r>
          </a:p>
        </p:txBody>
      </p:sp>
      <p:sp>
        <p:nvSpPr>
          <p:cNvPr id="9" name="TextBox 9"/>
          <p:cNvSpPr txBox="1"/>
          <p:nvPr/>
        </p:nvSpPr>
        <p:spPr>
          <a:xfrm>
            <a:off x="8993420" y="7461423"/>
            <a:ext cx="9006812" cy="2020570"/>
          </a:xfrm>
          <a:prstGeom prst="rect">
            <a:avLst/>
          </a:prstGeom>
        </p:spPr>
        <p:txBody>
          <a:bodyPr lIns="0" tIns="0" rIns="0" bIns="0" rtlCol="0" anchor="t">
            <a:spAutoFit/>
          </a:bodyPr>
          <a:lstStyle/>
          <a:p>
            <a:pPr algn="l">
              <a:lnSpc>
                <a:spcPts val="5179"/>
              </a:lnSpc>
              <a:spcBef>
                <a:spcPct val="0"/>
              </a:spcBef>
            </a:pPr>
            <a:r>
              <a:rPr lang="en-US" sz="3699">
                <a:solidFill>
                  <a:srgbClr val="000000"/>
                </a:solidFill>
                <a:latin typeface="Times New Roman Bold"/>
              </a:rPr>
              <a:t>New World Saigon:</a:t>
            </a:r>
            <a:r>
              <a:rPr lang="en-US" sz="3699">
                <a:solidFill>
                  <a:srgbClr val="000000"/>
                </a:solidFill>
                <a:latin typeface="Times New Roman"/>
              </a:rPr>
              <a:t> </a:t>
            </a:r>
          </a:p>
          <a:p>
            <a:pPr marL="798829" lvl="1" indent="-399415" algn="l">
              <a:lnSpc>
                <a:spcPts val="5179"/>
              </a:lnSpc>
              <a:buFont typeface="Arial"/>
              <a:buChar char="•"/>
            </a:pPr>
            <a:r>
              <a:rPr lang="en-US" sz="3699">
                <a:solidFill>
                  <a:srgbClr val="000000"/>
                </a:solidFill>
                <a:latin typeface="Times New Roman"/>
              </a:rPr>
              <a:t>A </a:t>
            </a:r>
            <a:r>
              <a:rPr lang="en-US" sz="3699">
                <a:solidFill>
                  <a:srgbClr val="000000"/>
                </a:solidFill>
                <a:latin typeface="Times New Roman Bold"/>
              </a:rPr>
              <a:t>pioneer 5-star</a:t>
            </a:r>
            <a:r>
              <a:rPr lang="en-US" sz="3699">
                <a:solidFill>
                  <a:srgbClr val="000000"/>
                </a:solidFill>
                <a:latin typeface="Times New Roman"/>
              </a:rPr>
              <a:t> hotel in a </a:t>
            </a:r>
            <a:r>
              <a:rPr lang="en-US" sz="3699">
                <a:solidFill>
                  <a:srgbClr val="000000"/>
                </a:solidFill>
                <a:latin typeface="Times New Roman Bold"/>
              </a:rPr>
              <a:t>prime location. </a:t>
            </a:r>
          </a:p>
          <a:p>
            <a:pPr marL="798829" lvl="1" indent="-399415" algn="l">
              <a:lnSpc>
                <a:spcPts val="5179"/>
              </a:lnSpc>
              <a:buFont typeface="Arial"/>
              <a:buChar char="•"/>
            </a:pPr>
            <a:r>
              <a:rPr lang="en-US" sz="3699">
                <a:solidFill>
                  <a:srgbClr val="000000"/>
                </a:solidFill>
                <a:latin typeface="Times New Roman"/>
              </a:rPr>
              <a:t>History of more than</a:t>
            </a:r>
            <a:r>
              <a:rPr lang="en-US" sz="3699">
                <a:solidFill>
                  <a:srgbClr val="000000"/>
                </a:solidFill>
                <a:latin typeface="Times New Roman Bold"/>
              </a:rPr>
              <a:t> 25 years.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2785" y="283879"/>
            <a:ext cx="2204332" cy="1208210"/>
          </a:xfrm>
          <a:custGeom>
            <a:avLst/>
            <a:gdLst/>
            <a:ahLst/>
            <a:cxnLst/>
            <a:rect l="l" t="t" r="r" b="b"/>
            <a:pathLst>
              <a:path w="2204332" h="1208210">
                <a:moveTo>
                  <a:pt x="0" y="0"/>
                </a:moveTo>
                <a:lnTo>
                  <a:pt x="2204331" y="0"/>
                </a:lnTo>
                <a:lnTo>
                  <a:pt x="2204331" y="1208209"/>
                </a:lnTo>
                <a:lnTo>
                  <a:pt x="0" y="1208209"/>
                </a:lnTo>
                <a:lnTo>
                  <a:pt x="0" y="0"/>
                </a:lnTo>
                <a:close/>
              </a:path>
            </a:pathLst>
          </a:custGeom>
          <a:blipFill>
            <a:blip r:embed="rId2"/>
            <a:stretch>
              <a:fillRect t="-993" r="-757" b="-993"/>
            </a:stretch>
          </a:blipFill>
        </p:spPr>
        <p:txBody>
          <a:bodyPr/>
          <a:lstStyle/>
          <a:p>
            <a:endParaRPr lang="en-US"/>
          </a:p>
        </p:txBody>
      </p:sp>
      <p:sp>
        <p:nvSpPr>
          <p:cNvPr id="3" name="Freeform 3"/>
          <p:cNvSpPr/>
          <p:nvPr/>
        </p:nvSpPr>
        <p:spPr>
          <a:xfrm>
            <a:off x="4702501" y="353767"/>
            <a:ext cx="8882998" cy="2438787"/>
          </a:xfrm>
          <a:custGeom>
            <a:avLst/>
            <a:gdLst/>
            <a:ahLst/>
            <a:cxnLst/>
            <a:rect l="l" t="t" r="r" b="b"/>
            <a:pathLst>
              <a:path w="8882998" h="2438787">
                <a:moveTo>
                  <a:pt x="0" y="0"/>
                </a:moveTo>
                <a:lnTo>
                  <a:pt x="8882998" y="0"/>
                </a:lnTo>
                <a:lnTo>
                  <a:pt x="8882998" y="2438786"/>
                </a:lnTo>
                <a:lnTo>
                  <a:pt x="0" y="243878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818258" y="7532940"/>
            <a:ext cx="4867573" cy="2384435"/>
          </a:xfrm>
          <a:custGeom>
            <a:avLst/>
            <a:gdLst/>
            <a:ahLst/>
            <a:cxnLst/>
            <a:rect l="l" t="t" r="r" b="b"/>
            <a:pathLst>
              <a:path w="4867573" h="2384435">
                <a:moveTo>
                  <a:pt x="0" y="0"/>
                </a:moveTo>
                <a:lnTo>
                  <a:pt x="4867573" y="0"/>
                </a:lnTo>
                <a:lnTo>
                  <a:pt x="4867573" y="2384435"/>
                </a:lnTo>
                <a:lnTo>
                  <a:pt x="0" y="2384435"/>
                </a:lnTo>
                <a:lnTo>
                  <a:pt x="0" y="0"/>
                </a:lnTo>
                <a:close/>
              </a:path>
            </a:pathLst>
          </a:custGeom>
          <a:blipFill>
            <a:blip r:embed="rId5"/>
            <a:stretch>
              <a:fillRect/>
            </a:stretch>
          </a:blipFill>
        </p:spPr>
        <p:txBody>
          <a:bodyPr/>
          <a:lstStyle/>
          <a:p>
            <a:endParaRPr lang="en-US"/>
          </a:p>
        </p:txBody>
      </p:sp>
      <p:sp>
        <p:nvSpPr>
          <p:cNvPr id="5" name="Freeform 5"/>
          <p:cNvSpPr/>
          <p:nvPr/>
        </p:nvSpPr>
        <p:spPr>
          <a:xfrm>
            <a:off x="13091074" y="6743222"/>
            <a:ext cx="3956712" cy="3453926"/>
          </a:xfrm>
          <a:custGeom>
            <a:avLst/>
            <a:gdLst/>
            <a:ahLst/>
            <a:cxnLst/>
            <a:rect l="l" t="t" r="r" b="b"/>
            <a:pathLst>
              <a:path w="3956712" h="3453926">
                <a:moveTo>
                  <a:pt x="0" y="0"/>
                </a:moveTo>
                <a:lnTo>
                  <a:pt x="3956712" y="0"/>
                </a:lnTo>
                <a:lnTo>
                  <a:pt x="3956712" y="3453926"/>
                </a:lnTo>
                <a:lnTo>
                  <a:pt x="0" y="3453926"/>
                </a:lnTo>
                <a:lnTo>
                  <a:pt x="0" y="0"/>
                </a:lnTo>
                <a:close/>
              </a:path>
            </a:pathLst>
          </a:custGeom>
          <a:blipFill>
            <a:blip r:embed="rId6"/>
            <a:stretch>
              <a:fillRect/>
            </a:stretch>
          </a:blipFill>
        </p:spPr>
        <p:txBody>
          <a:bodyPr/>
          <a:lstStyle/>
          <a:p>
            <a:endParaRPr lang="en-US"/>
          </a:p>
        </p:txBody>
      </p:sp>
      <p:sp>
        <p:nvSpPr>
          <p:cNvPr id="6" name="Freeform 6"/>
          <p:cNvSpPr/>
          <p:nvPr/>
        </p:nvSpPr>
        <p:spPr>
          <a:xfrm>
            <a:off x="7005409" y="3686590"/>
            <a:ext cx="3747991" cy="3846350"/>
          </a:xfrm>
          <a:custGeom>
            <a:avLst/>
            <a:gdLst/>
            <a:ahLst/>
            <a:cxnLst/>
            <a:rect l="l" t="t" r="r" b="b"/>
            <a:pathLst>
              <a:path w="3747991" h="3846350">
                <a:moveTo>
                  <a:pt x="0" y="0"/>
                </a:moveTo>
                <a:lnTo>
                  <a:pt x="3747991" y="0"/>
                </a:lnTo>
                <a:lnTo>
                  <a:pt x="3747991" y="3846350"/>
                </a:lnTo>
                <a:lnTo>
                  <a:pt x="0" y="3846350"/>
                </a:lnTo>
                <a:lnTo>
                  <a:pt x="0" y="0"/>
                </a:lnTo>
                <a:close/>
              </a:path>
            </a:pathLst>
          </a:custGeom>
          <a:blipFill>
            <a:blip r:embed="rId7"/>
            <a:stretch>
              <a:fillRect/>
            </a:stretch>
          </a:blipFill>
        </p:spPr>
        <p:txBody>
          <a:bodyPr/>
          <a:lstStyle/>
          <a:p>
            <a:endParaRPr lang="en-US"/>
          </a:p>
        </p:txBody>
      </p:sp>
      <p:sp>
        <p:nvSpPr>
          <p:cNvPr id="7" name="TextBox 7"/>
          <p:cNvSpPr txBox="1"/>
          <p:nvPr/>
        </p:nvSpPr>
        <p:spPr>
          <a:xfrm>
            <a:off x="5257800" y="320577"/>
            <a:ext cx="8639769" cy="1305037"/>
          </a:xfrm>
          <a:prstGeom prst="rect">
            <a:avLst/>
          </a:prstGeom>
        </p:spPr>
        <p:txBody>
          <a:bodyPr wrap="square" lIns="0" tIns="0" rIns="0" bIns="0" rtlCol="0" anchor="t">
            <a:spAutoFit/>
          </a:bodyPr>
          <a:lstStyle/>
          <a:p>
            <a:pPr algn="ctr">
              <a:lnSpc>
                <a:spcPts val="11059"/>
              </a:lnSpc>
              <a:spcBef>
                <a:spcPct val="0"/>
              </a:spcBef>
            </a:pPr>
            <a:r>
              <a:rPr lang="en-US" sz="7899">
                <a:solidFill>
                  <a:srgbClr val="000000"/>
                </a:solidFill>
                <a:latin typeface="Times New Roman Bold"/>
              </a:rPr>
              <a:t>Competitive forces</a:t>
            </a:r>
          </a:p>
        </p:txBody>
      </p:sp>
      <p:sp>
        <p:nvSpPr>
          <p:cNvPr id="8" name="TextBox 8"/>
          <p:cNvSpPr txBox="1"/>
          <p:nvPr/>
        </p:nvSpPr>
        <p:spPr>
          <a:xfrm>
            <a:off x="339104" y="2484289"/>
            <a:ext cx="6011185" cy="4798060"/>
          </a:xfrm>
          <a:prstGeom prst="rect">
            <a:avLst/>
          </a:prstGeom>
        </p:spPr>
        <p:txBody>
          <a:bodyPr lIns="0" tIns="0" rIns="0" bIns="0" rtlCol="0" anchor="t">
            <a:spAutoFit/>
          </a:bodyPr>
          <a:lstStyle/>
          <a:p>
            <a:pPr algn="l">
              <a:lnSpc>
                <a:spcPts val="5599"/>
              </a:lnSpc>
            </a:pPr>
            <a:endParaRPr/>
          </a:p>
          <a:p>
            <a:pPr algn="just">
              <a:lnSpc>
                <a:spcPts val="5599"/>
              </a:lnSpc>
            </a:pPr>
            <a:r>
              <a:rPr lang="en-US" sz="3999">
                <a:solidFill>
                  <a:srgbClr val="000000"/>
                </a:solidFill>
                <a:latin typeface="Times New Roman Bold"/>
              </a:rPr>
              <a:t>Online Travel Agencies - OTAs:</a:t>
            </a:r>
            <a:r>
              <a:rPr lang="en-US" sz="3999">
                <a:solidFill>
                  <a:srgbClr val="000000"/>
                </a:solidFill>
                <a:latin typeface="Times New Roman"/>
              </a:rPr>
              <a:t>   </a:t>
            </a:r>
          </a:p>
          <a:p>
            <a:pPr marL="798829" lvl="1" indent="-399415" algn="just">
              <a:lnSpc>
                <a:spcPts val="5179"/>
              </a:lnSpc>
              <a:buFont typeface="Arial"/>
              <a:buChar char="•"/>
            </a:pPr>
            <a:r>
              <a:rPr lang="en-US" sz="3699">
                <a:solidFill>
                  <a:srgbClr val="000000"/>
                </a:solidFill>
                <a:latin typeface="Times New Roman"/>
              </a:rPr>
              <a:t>Finding</a:t>
            </a:r>
            <a:r>
              <a:rPr lang="en-US" sz="3699">
                <a:solidFill>
                  <a:srgbClr val="000000"/>
                </a:solidFill>
                <a:latin typeface="Times New Roman Bold"/>
              </a:rPr>
              <a:t> deals </a:t>
            </a:r>
          </a:p>
          <a:p>
            <a:pPr marL="798829" lvl="1" indent="-399415" algn="just">
              <a:lnSpc>
                <a:spcPts val="5179"/>
              </a:lnSpc>
              <a:buFont typeface="Arial"/>
              <a:buChar char="•"/>
            </a:pPr>
            <a:r>
              <a:rPr lang="en-US" sz="3699">
                <a:solidFill>
                  <a:srgbClr val="000000"/>
                </a:solidFill>
                <a:latin typeface="Times New Roman Bold"/>
              </a:rPr>
              <a:t>Compare </a:t>
            </a:r>
            <a:r>
              <a:rPr lang="en-US" sz="3699">
                <a:solidFill>
                  <a:srgbClr val="000000"/>
                </a:solidFill>
                <a:latin typeface="Times New Roman"/>
              </a:rPr>
              <a:t>prices. </a:t>
            </a:r>
          </a:p>
          <a:p>
            <a:pPr marL="798829" lvl="1" indent="-399415" algn="just">
              <a:lnSpc>
                <a:spcPts val="5179"/>
              </a:lnSpc>
              <a:buFont typeface="Arial"/>
              <a:buChar char="•"/>
            </a:pPr>
            <a:r>
              <a:rPr lang="en-US" sz="3699">
                <a:solidFill>
                  <a:srgbClr val="000000"/>
                </a:solidFill>
                <a:latin typeface="Times New Roman"/>
              </a:rPr>
              <a:t>Read </a:t>
            </a:r>
            <a:r>
              <a:rPr lang="en-US" sz="3699">
                <a:solidFill>
                  <a:srgbClr val="000000"/>
                </a:solidFill>
                <a:latin typeface="Times New Roman Bold"/>
              </a:rPr>
              <a:t>reviews.</a:t>
            </a:r>
          </a:p>
          <a:p>
            <a:pPr marL="798829" lvl="1" indent="-399415" algn="just">
              <a:lnSpc>
                <a:spcPts val="5179"/>
              </a:lnSpc>
              <a:buFont typeface="Arial"/>
              <a:buChar char="•"/>
            </a:pPr>
            <a:r>
              <a:rPr lang="en-US" sz="3699">
                <a:solidFill>
                  <a:srgbClr val="000000"/>
                </a:solidFill>
                <a:latin typeface="Times New Roman Bold"/>
              </a:rPr>
              <a:t>Intensifying competition.</a:t>
            </a:r>
          </a:p>
        </p:txBody>
      </p:sp>
      <p:sp>
        <p:nvSpPr>
          <p:cNvPr id="9" name="TextBox 9"/>
          <p:cNvSpPr txBox="1"/>
          <p:nvPr/>
        </p:nvSpPr>
        <p:spPr>
          <a:xfrm>
            <a:off x="7109727" y="803599"/>
            <a:ext cx="4935913" cy="1376980"/>
          </a:xfrm>
          <a:prstGeom prst="rect">
            <a:avLst/>
          </a:prstGeom>
        </p:spPr>
        <p:txBody>
          <a:bodyPr wrap="square" lIns="0" tIns="0" rIns="0" bIns="0" rtlCol="0" anchor="t">
            <a:spAutoFit/>
          </a:bodyPr>
          <a:lstStyle/>
          <a:p>
            <a:pPr algn="l">
              <a:lnSpc>
                <a:spcPts val="5599"/>
              </a:lnSpc>
              <a:spcBef>
                <a:spcPct val="0"/>
              </a:spcBef>
            </a:pPr>
            <a:endParaRPr/>
          </a:p>
          <a:p>
            <a:pPr algn="l">
              <a:lnSpc>
                <a:spcPts val="5599"/>
              </a:lnSpc>
              <a:spcBef>
                <a:spcPct val="0"/>
              </a:spcBef>
            </a:pPr>
            <a:r>
              <a:rPr lang="en-US" sz="3999">
                <a:solidFill>
                  <a:srgbClr val="FF5660"/>
                </a:solidFill>
                <a:latin typeface="Times New Roman Bold"/>
              </a:rPr>
              <a:t>New market entrants</a:t>
            </a:r>
          </a:p>
        </p:txBody>
      </p:sp>
      <p:sp>
        <p:nvSpPr>
          <p:cNvPr id="10" name="TextBox 10"/>
          <p:cNvSpPr txBox="1"/>
          <p:nvPr/>
        </p:nvSpPr>
        <p:spPr>
          <a:xfrm>
            <a:off x="11408521" y="2501122"/>
            <a:ext cx="6348646" cy="6064885"/>
          </a:xfrm>
          <a:prstGeom prst="rect">
            <a:avLst/>
          </a:prstGeom>
        </p:spPr>
        <p:txBody>
          <a:bodyPr lIns="0" tIns="0" rIns="0" bIns="0" rtlCol="0" anchor="t">
            <a:spAutoFit/>
          </a:bodyPr>
          <a:lstStyle/>
          <a:p>
            <a:pPr algn="just">
              <a:lnSpc>
                <a:spcPts val="5599"/>
              </a:lnSpc>
            </a:pPr>
            <a:r>
              <a:rPr lang="en-US" sz="3999">
                <a:solidFill>
                  <a:srgbClr val="000000"/>
                </a:solidFill>
                <a:latin typeface="Times New Roman Bold"/>
              </a:rPr>
              <a:t>Alternative Accommodation Platforms:</a:t>
            </a:r>
          </a:p>
          <a:p>
            <a:pPr marL="798829" lvl="1" indent="-399415" algn="just">
              <a:lnSpc>
                <a:spcPts val="5179"/>
              </a:lnSpc>
              <a:buFont typeface="Arial"/>
              <a:buChar char="•"/>
            </a:pPr>
            <a:r>
              <a:rPr lang="en-US" sz="3699">
                <a:solidFill>
                  <a:srgbClr val="000000"/>
                </a:solidFill>
                <a:latin typeface="Times New Roman Bold"/>
              </a:rPr>
              <a:t>Cheaper </a:t>
            </a:r>
          </a:p>
          <a:p>
            <a:pPr marL="798829" lvl="1" indent="-399415" algn="just">
              <a:lnSpc>
                <a:spcPts val="5179"/>
              </a:lnSpc>
              <a:buFont typeface="Arial"/>
              <a:buChar char="•"/>
            </a:pPr>
            <a:r>
              <a:rPr lang="en-US" sz="3699">
                <a:solidFill>
                  <a:srgbClr val="000000"/>
                </a:solidFill>
                <a:latin typeface="Times New Roman"/>
              </a:rPr>
              <a:t>Offer </a:t>
            </a:r>
            <a:r>
              <a:rPr lang="en-US" sz="3699">
                <a:solidFill>
                  <a:srgbClr val="000000"/>
                </a:solidFill>
                <a:latin typeface="Times New Roman Bold"/>
              </a:rPr>
              <a:t>unique lodging experiences</a:t>
            </a:r>
          </a:p>
          <a:p>
            <a:pPr marL="798829" lvl="1" indent="-399415" algn="just">
              <a:lnSpc>
                <a:spcPts val="5179"/>
              </a:lnSpc>
              <a:buFont typeface="Arial"/>
              <a:buChar char="•"/>
            </a:pPr>
            <a:r>
              <a:rPr lang="en-US" sz="3699">
                <a:solidFill>
                  <a:srgbClr val="000000"/>
                </a:solidFill>
                <a:latin typeface="Times New Roman Bold"/>
              </a:rPr>
              <a:t>Challenge</a:t>
            </a:r>
            <a:r>
              <a:rPr lang="en-US" sz="3699">
                <a:solidFill>
                  <a:srgbClr val="000000"/>
                </a:solidFill>
                <a:latin typeface="Times New Roman"/>
              </a:rPr>
              <a:t> for traditional </a:t>
            </a:r>
            <a:r>
              <a:rPr lang="en-US" sz="3699">
                <a:solidFill>
                  <a:srgbClr val="000000"/>
                </a:solidFill>
                <a:latin typeface="Times New Roman Bold"/>
              </a:rPr>
              <a:t>hotels.</a:t>
            </a:r>
          </a:p>
          <a:p>
            <a:pPr algn="just">
              <a:lnSpc>
                <a:spcPts val="5179"/>
              </a:lnSpc>
            </a:pPr>
            <a:endParaRPr lang="en-US" sz="3699">
              <a:solidFill>
                <a:srgbClr val="000000"/>
              </a:solidFill>
              <a:latin typeface="Times New Roman Bold"/>
            </a:endParaRPr>
          </a:p>
          <a:p>
            <a:pPr algn="l">
              <a:lnSpc>
                <a:spcPts val="5179"/>
              </a:lnSpc>
            </a:pPr>
            <a:endParaRPr lang="en-US" sz="3699">
              <a:solidFill>
                <a:srgbClr val="000000"/>
              </a:solidFill>
              <a:latin typeface="Times New Roman Bold"/>
            </a:endParaRPr>
          </a:p>
        </p:txBody>
      </p:sp>
      <p:sp>
        <p:nvSpPr>
          <p:cNvPr id="11" name="TextBox 11"/>
          <p:cNvSpPr txBox="1"/>
          <p:nvPr/>
        </p:nvSpPr>
        <p:spPr>
          <a:xfrm>
            <a:off x="6350288" y="8123237"/>
            <a:ext cx="6245486" cy="2073910"/>
          </a:xfrm>
          <a:prstGeom prst="rect">
            <a:avLst/>
          </a:prstGeom>
        </p:spPr>
        <p:txBody>
          <a:bodyPr lIns="0" tIns="0" rIns="0" bIns="0" rtlCol="0" anchor="t">
            <a:spAutoFit/>
          </a:bodyPr>
          <a:lstStyle/>
          <a:p>
            <a:pPr algn="just">
              <a:lnSpc>
                <a:spcPts val="5599"/>
              </a:lnSpc>
              <a:spcBef>
                <a:spcPct val="0"/>
              </a:spcBef>
            </a:pPr>
            <a:r>
              <a:rPr lang="en-US" sz="3999">
                <a:solidFill>
                  <a:srgbClr val="000000"/>
                </a:solidFill>
                <a:latin typeface="Times New Roman Bold"/>
              </a:rPr>
              <a:t>Bontique and small hotels: </a:t>
            </a:r>
          </a:p>
          <a:p>
            <a:pPr marL="798829" lvl="1" indent="-399415" algn="just">
              <a:lnSpc>
                <a:spcPts val="5179"/>
              </a:lnSpc>
              <a:buFont typeface="Arial"/>
              <a:buChar char="•"/>
            </a:pPr>
            <a:r>
              <a:rPr lang="en-US" sz="3699">
                <a:solidFill>
                  <a:srgbClr val="000000"/>
                </a:solidFill>
                <a:latin typeface="Times New Roman"/>
              </a:rPr>
              <a:t>Providing </a:t>
            </a:r>
            <a:r>
              <a:rPr lang="en-US" sz="3699">
                <a:solidFill>
                  <a:srgbClr val="000000"/>
                </a:solidFill>
                <a:latin typeface="Times New Roman Bold"/>
              </a:rPr>
              <a:t>unique services </a:t>
            </a:r>
            <a:r>
              <a:rPr lang="en-US" sz="3699">
                <a:solidFill>
                  <a:srgbClr val="000000"/>
                </a:solidFill>
                <a:latin typeface="Times New Roman"/>
              </a:rPr>
              <a:t>and</a:t>
            </a:r>
            <a:r>
              <a:rPr lang="en-US" sz="3699">
                <a:solidFill>
                  <a:srgbClr val="000000"/>
                </a:solidFill>
                <a:latin typeface="Times New Roman Bold"/>
              </a:rPr>
              <a:t> experiences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2785" y="283879"/>
            <a:ext cx="2204332" cy="1208210"/>
          </a:xfrm>
          <a:custGeom>
            <a:avLst/>
            <a:gdLst/>
            <a:ahLst/>
            <a:cxnLst/>
            <a:rect l="l" t="t" r="r" b="b"/>
            <a:pathLst>
              <a:path w="2204332" h="1208210">
                <a:moveTo>
                  <a:pt x="0" y="0"/>
                </a:moveTo>
                <a:lnTo>
                  <a:pt x="2204331" y="0"/>
                </a:lnTo>
                <a:lnTo>
                  <a:pt x="2204331" y="1208209"/>
                </a:lnTo>
                <a:lnTo>
                  <a:pt x="0" y="1208209"/>
                </a:lnTo>
                <a:lnTo>
                  <a:pt x="0" y="0"/>
                </a:lnTo>
                <a:close/>
              </a:path>
            </a:pathLst>
          </a:custGeom>
          <a:blipFill>
            <a:blip r:embed="rId2"/>
            <a:stretch>
              <a:fillRect t="-993" r="-757" b="-993"/>
            </a:stretch>
          </a:blipFill>
        </p:spPr>
        <p:txBody>
          <a:bodyPr/>
          <a:lstStyle/>
          <a:p>
            <a:endParaRPr lang="en-US"/>
          </a:p>
        </p:txBody>
      </p:sp>
      <p:sp>
        <p:nvSpPr>
          <p:cNvPr id="3" name="Freeform 3"/>
          <p:cNvSpPr/>
          <p:nvPr/>
        </p:nvSpPr>
        <p:spPr>
          <a:xfrm>
            <a:off x="4921057" y="240054"/>
            <a:ext cx="9120782" cy="2504069"/>
          </a:xfrm>
          <a:custGeom>
            <a:avLst/>
            <a:gdLst/>
            <a:ahLst/>
            <a:cxnLst/>
            <a:rect l="l" t="t" r="r" b="b"/>
            <a:pathLst>
              <a:path w="9120782" h="2504069">
                <a:moveTo>
                  <a:pt x="0" y="0"/>
                </a:moveTo>
                <a:lnTo>
                  <a:pt x="9120782" y="0"/>
                </a:lnTo>
                <a:lnTo>
                  <a:pt x="9120782" y="2504069"/>
                </a:lnTo>
                <a:lnTo>
                  <a:pt x="0" y="25040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549486" y="3667914"/>
            <a:ext cx="3887147" cy="3263284"/>
          </a:xfrm>
          <a:custGeom>
            <a:avLst/>
            <a:gdLst/>
            <a:ahLst/>
            <a:cxnLst/>
            <a:rect l="l" t="t" r="r" b="b"/>
            <a:pathLst>
              <a:path w="3887147" h="3263284">
                <a:moveTo>
                  <a:pt x="0" y="0"/>
                </a:moveTo>
                <a:lnTo>
                  <a:pt x="3887148" y="0"/>
                </a:lnTo>
                <a:lnTo>
                  <a:pt x="3887148" y="3263284"/>
                </a:lnTo>
                <a:lnTo>
                  <a:pt x="0" y="326328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Freeform 5"/>
          <p:cNvSpPr/>
          <p:nvPr/>
        </p:nvSpPr>
        <p:spPr>
          <a:xfrm>
            <a:off x="7646120" y="6860059"/>
            <a:ext cx="3183940" cy="3426941"/>
          </a:xfrm>
          <a:custGeom>
            <a:avLst/>
            <a:gdLst/>
            <a:ahLst/>
            <a:cxnLst/>
            <a:rect l="l" t="t" r="r" b="b"/>
            <a:pathLst>
              <a:path w="3183940" h="3426941">
                <a:moveTo>
                  <a:pt x="0" y="0"/>
                </a:moveTo>
                <a:lnTo>
                  <a:pt x="3183939" y="0"/>
                </a:lnTo>
                <a:lnTo>
                  <a:pt x="3183939" y="3426941"/>
                </a:lnTo>
                <a:lnTo>
                  <a:pt x="0" y="342694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6" name="Freeform 6"/>
          <p:cNvSpPr/>
          <p:nvPr/>
        </p:nvSpPr>
        <p:spPr>
          <a:xfrm>
            <a:off x="13554110" y="3250833"/>
            <a:ext cx="3976392" cy="3267871"/>
          </a:xfrm>
          <a:custGeom>
            <a:avLst/>
            <a:gdLst/>
            <a:ahLst/>
            <a:cxnLst/>
            <a:rect l="l" t="t" r="r" b="b"/>
            <a:pathLst>
              <a:path w="3976392" h="3267871">
                <a:moveTo>
                  <a:pt x="0" y="0"/>
                </a:moveTo>
                <a:lnTo>
                  <a:pt x="3976392" y="0"/>
                </a:lnTo>
                <a:lnTo>
                  <a:pt x="3976392" y="3267871"/>
                </a:lnTo>
                <a:lnTo>
                  <a:pt x="0" y="326787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7" name="TextBox 7"/>
          <p:cNvSpPr txBox="1"/>
          <p:nvPr/>
        </p:nvSpPr>
        <p:spPr>
          <a:xfrm>
            <a:off x="5598344" y="321619"/>
            <a:ext cx="8443495" cy="1305037"/>
          </a:xfrm>
          <a:prstGeom prst="rect">
            <a:avLst/>
          </a:prstGeom>
        </p:spPr>
        <p:txBody>
          <a:bodyPr wrap="square" lIns="0" tIns="0" rIns="0" bIns="0" rtlCol="0" anchor="t">
            <a:spAutoFit/>
          </a:bodyPr>
          <a:lstStyle/>
          <a:p>
            <a:pPr algn="ctr">
              <a:lnSpc>
                <a:spcPts val="11059"/>
              </a:lnSpc>
              <a:spcBef>
                <a:spcPct val="0"/>
              </a:spcBef>
            </a:pPr>
            <a:r>
              <a:rPr lang="en-US" sz="7899">
                <a:solidFill>
                  <a:srgbClr val="000000"/>
                </a:solidFill>
                <a:latin typeface="Times New Roman Bold"/>
              </a:rPr>
              <a:t>Competitive forces</a:t>
            </a:r>
          </a:p>
        </p:txBody>
      </p:sp>
      <p:sp>
        <p:nvSpPr>
          <p:cNvPr id="8" name="TextBox 8"/>
          <p:cNvSpPr txBox="1"/>
          <p:nvPr/>
        </p:nvSpPr>
        <p:spPr>
          <a:xfrm>
            <a:off x="549486" y="7135705"/>
            <a:ext cx="3995895" cy="2723249"/>
          </a:xfrm>
          <a:prstGeom prst="rect">
            <a:avLst/>
          </a:prstGeom>
        </p:spPr>
        <p:txBody>
          <a:bodyPr lIns="0" tIns="0" rIns="0" bIns="0" rtlCol="0" anchor="t">
            <a:spAutoFit/>
          </a:bodyPr>
          <a:lstStyle/>
          <a:p>
            <a:pPr algn="ctr">
              <a:lnSpc>
                <a:spcPts val="5299"/>
              </a:lnSpc>
            </a:pPr>
            <a:r>
              <a:rPr lang="en-US" sz="3785">
                <a:solidFill>
                  <a:srgbClr val="000000"/>
                </a:solidFill>
                <a:latin typeface="Times New Roman"/>
              </a:rPr>
              <a:t> </a:t>
            </a:r>
            <a:r>
              <a:rPr lang="en-US" sz="3785">
                <a:solidFill>
                  <a:srgbClr val="000000"/>
                </a:solidFill>
                <a:latin typeface="Times New Roman Bold"/>
              </a:rPr>
              <a:t>Bargaining power</a:t>
            </a:r>
            <a:r>
              <a:rPr lang="en-US" sz="3785">
                <a:solidFill>
                  <a:srgbClr val="000000"/>
                </a:solidFill>
                <a:latin typeface="Times New Roman"/>
              </a:rPr>
              <a:t> </a:t>
            </a:r>
          </a:p>
          <a:p>
            <a:pPr algn="just">
              <a:lnSpc>
                <a:spcPts val="5299"/>
              </a:lnSpc>
              <a:spcBef>
                <a:spcPct val="0"/>
              </a:spcBef>
            </a:pPr>
            <a:r>
              <a:rPr lang="en-US" sz="3785">
                <a:solidFill>
                  <a:srgbClr val="000000"/>
                </a:solidFill>
                <a:latin typeface="Times New Roman"/>
              </a:rPr>
              <a:t>-&gt; </a:t>
            </a:r>
            <a:r>
              <a:rPr lang="en-US" sz="3785">
                <a:solidFill>
                  <a:srgbClr val="000000"/>
                </a:solidFill>
                <a:latin typeface="Times New Roman Bold"/>
              </a:rPr>
              <a:t>protect benefits</a:t>
            </a:r>
            <a:r>
              <a:rPr lang="en-US" sz="3785">
                <a:solidFill>
                  <a:srgbClr val="000000"/>
                </a:solidFill>
                <a:latin typeface="Times New Roman"/>
              </a:rPr>
              <a:t> thereby </a:t>
            </a:r>
            <a:r>
              <a:rPr lang="en-US" sz="3785">
                <a:solidFill>
                  <a:srgbClr val="000000"/>
                </a:solidFill>
                <a:latin typeface="Times New Roman Bold"/>
              </a:rPr>
              <a:t>improving business efficiency.</a:t>
            </a:r>
          </a:p>
        </p:txBody>
      </p:sp>
      <p:sp>
        <p:nvSpPr>
          <p:cNvPr id="9" name="TextBox 9"/>
          <p:cNvSpPr txBox="1"/>
          <p:nvPr/>
        </p:nvSpPr>
        <p:spPr>
          <a:xfrm>
            <a:off x="7224492" y="1649136"/>
            <a:ext cx="5008011" cy="658835"/>
          </a:xfrm>
          <a:prstGeom prst="rect">
            <a:avLst/>
          </a:prstGeom>
        </p:spPr>
        <p:txBody>
          <a:bodyPr wrap="square" lIns="0" tIns="0" rIns="0" bIns="0" rtlCol="0" anchor="t">
            <a:spAutoFit/>
          </a:bodyPr>
          <a:lstStyle/>
          <a:p>
            <a:pPr algn="ctr">
              <a:lnSpc>
                <a:spcPts val="5599"/>
              </a:lnSpc>
              <a:spcBef>
                <a:spcPct val="0"/>
              </a:spcBef>
            </a:pPr>
            <a:r>
              <a:rPr lang="en-US" sz="3999">
                <a:solidFill>
                  <a:srgbClr val="F64F59"/>
                </a:solidFill>
                <a:latin typeface="Times New Roman Bold"/>
              </a:rPr>
              <a:t> Power of suppliers.</a:t>
            </a:r>
          </a:p>
        </p:txBody>
      </p:sp>
      <p:sp>
        <p:nvSpPr>
          <p:cNvPr id="10" name="TextBox 10"/>
          <p:cNvSpPr txBox="1"/>
          <p:nvPr/>
        </p:nvSpPr>
        <p:spPr>
          <a:xfrm>
            <a:off x="5598344" y="3525039"/>
            <a:ext cx="7279491" cy="3335020"/>
          </a:xfrm>
          <a:prstGeom prst="rect">
            <a:avLst/>
          </a:prstGeom>
        </p:spPr>
        <p:txBody>
          <a:bodyPr lIns="0" tIns="0" rIns="0" bIns="0" rtlCol="0" anchor="t">
            <a:spAutoFit/>
          </a:bodyPr>
          <a:lstStyle/>
          <a:p>
            <a:pPr marL="798829" lvl="1" indent="-399415" algn="l">
              <a:lnSpc>
                <a:spcPts val="5179"/>
              </a:lnSpc>
              <a:buFont typeface="Arial"/>
              <a:buChar char="•"/>
            </a:pPr>
            <a:r>
              <a:rPr lang="en-US" sz="3699">
                <a:solidFill>
                  <a:srgbClr val="000000"/>
                </a:solidFill>
                <a:latin typeface="Times New Roman Bold"/>
              </a:rPr>
              <a:t>Negotiating terms</a:t>
            </a:r>
            <a:r>
              <a:rPr lang="en-US" sz="3699">
                <a:solidFill>
                  <a:srgbClr val="000000"/>
                </a:solidFill>
                <a:latin typeface="Times New Roman"/>
              </a:rPr>
              <a:t> with hotels </a:t>
            </a:r>
          </a:p>
          <a:p>
            <a:pPr marL="798829" lvl="1" indent="-399415" algn="l">
              <a:lnSpc>
                <a:spcPts val="5179"/>
              </a:lnSpc>
              <a:buFont typeface="Arial"/>
              <a:buChar char="•"/>
            </a:pPr>
            <a:r>
              <a:rPr lang="en-US" sz="3699">
                <a:solidFill>
                  <a:srgbClr val="000000"/>
                </a:solidFill>
                <a:latin typeface="Times New Roman"/>
              </a:rPr>
              <a:t>Determining</a:t>
            </a:r>
            <a:r>
              <a:rPr lang="en-US" sz="3699">
                <a:solidFill>
                  <a:srgbClr val="000000"/>
                </a:solidFill>
                <a:latin typeface="Times New Roman Bold"/>
              </a:rPr>
              <a:t> prices</a:t>
            </a:r>
            <a:r>
              <a:rPr lang="en-US" sz="3699">
                <a:solidFill>
                  <a:srgbClr val="000000"/>
                </a:solidFill>
                <a:latin typeface="Times New Roman"/>
              </a:rPr>
              <a:t>, </a:t>
            </a:r>
            <a:r>
              <a:rPr lang="en-US" sz="3699">
                <a:solidFill>
                  <a:srgbClr val="000000"/>
                </a:solidFill>
                <a:latin typeface="Times New Roman Bold"/>
              </a:rPr>
              <a:t>discounts,</a:t>
            </a:r>
            <a:r>
              <a:rPr lang="en-US" sz="3699">
                <a:solidFill>
                  <a:srgbClr val="000000"/>
                </a:solidFill>
                <a:latin typeface="Times New Roman"/>
              </a:rPr>
              <a:t> and </a:t>
            </a:r>
            <a:r>
              <a:rPr lang="en-US" sz="3699">
                <a:solidFill>
                  <a:srgbClr val="000000"/>
                </a:solidFill>
                <a:latin typeface="Times New Roman Bold"/>
              </a:rPr>
              <a:t>marketing strategies. </a:t>
            </a:r>
          </a:p>
          <a:p>
            <a:pPr algn="l">
              <a:lnSpc>
                <a:spcPts val="5179"/>
              </a:lnSpc>
              <a:spcBef>
                <a:spcPct val="0"/>
              </a:spcBef>
            </a:pPr>
            <a:r>
              <a:rPr lang="en-US" sz="3699">
                <a:solidFill>
                  <a:srgbClr val="000000"/>
                </a:solidFill>
                <a:latin typeface="Times New Roman"/>
              </a:rPr>
              <a:t>-&gt; Effective product promotion for </a:t>
            </a:r>
            <a:r>
              <a:rPr lang="en-US" sz="3699">
                <a:solidFill>
                  <a:srgbClr val="000000"/>
                </a:solidFill>
                <a:latin typeface="Times New Roman Bold"/>
              </a:rPr>
              <a:t>mutual benefit. </a:t>
            </a:r>
          </a:p>
        </p:txBody>
      </p:sp>
      <p:sp>
        <p:nvSpPr>
          <p:cNvPr id="11" name="TextBox 11"/>
          <p:cNvSpPr txBox="1"/>
          <p:nvPr/>
        </p:nvSpPr>
        <p:spPr>
          <a:xfrm>
            <a:off x="12232503" y="6882539"/>
            <a:ext cx="6159853" cy="2677795"/>
          </a:xfrm>
          <a:prstGeom prst="rect">
            <a:avLst/>
          </a:prstGeom>
        </p:spPr>
        <p:txBody>
          <a:bodyPr lIns="0" tIns="0" rIns="0" bIns="0" rtlCol="0" anchor="t">
            <a:spAutoFit/>
          </a:bodyPr>
          <a:lstStyle/>
          <a:p>
            <a:pPr marL="798829" lvl="1" indent="-399415" algn="l">
              <a:lnSpc>
                <a:spcPts val="5179"/>
              </a:lnSpc>
              <a:buFont typeface="Arial"/>
              <a:buChar char="•"/>
            </a:pPr>
            <a:r>
              <a:rPr lang="en-US" sz="3699">
                <a:solidFill>
                  <a:srgbClr val="000000"/>
                </a:solidFill>
                <a:latin typeface="Times New Roman Bold"/>
              </a:rPr>
              <a:t>Navigate competition</a:t>
            </a:r>
          </a:p>
          <a:p>
            <a:pPr marL="798829" lvl="1" indent="-399415" algn="l">
              <a:lnSpc>
                <a:spcPts val="5179"/>
              </a:lnSpc>
              <a:buFont typeface="Arial"/>
              <a:buChar char="•"/>
            </a:pPr>
            <a:r>
              <a:rPr lang="en-US" sz="3699">
                <a:solidFill>
                  <a:srgbClr val="000000"/>
                </a:solidFill>
                <a:latin typeface="Times New Roman Bold"/>
              </a:rPr>
              <a:t>Avoid losing customers or losing revenue</a:t>
            </a:r>
            <a:r>
              <a:rPr lang="en-US" sz="3699">
                <a:solidFill>
                  <a:srgbClr val="000000"/>
                </a:solidFill>
                <a:latin typeface="Times New Roman"/>
              </a:rPr>
              <a:t> due to unsuccessful negotiations.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2785" y="283879"/>
            <a:ext cx="2204332" cy="1208210"/>
          </a:xfrm>
          <a:custGeom>
            <a:avLst/>
            <a:gdLst/>
            <a:ahLst/>
            <a:cxnLst/>
            <a:rect l="l" t="t" r="r" b="b"/>
            <a:pathLst>
              <a:path w="2204332" h="1208210">
                <a:moveTo>
                  <a:pt x="0" y="0"/>
                </a:moveTo>
                <a:lnTo>
                  <a:pt x="2204331" y="0"/>
                </a:lnTo>
                <a:lnTo>
                  <a:pt x="2204331" y="1208209"/>
                </a:lnTo>
                <a:lnTo>
                  <a:pt x="0" y="1208209"/>
                </a:lnTo>
                <a:lnTo>
                  <a:pt x="0" y="0"/>
                </a:lnTo>
                <a:close/>
              </a:path>
            </a:pathLst>
          </a:custGeom>
          <a:blipFill>
            <a:blip r:embed="rId2"/>
            <a:stretch>
              <a:fillRect t="-993" r="-757" b="-993"/>
            </a:stretch>
          </a:blipFill>
        </p:spPr>
        <p:txBody>
          <a:bodyPr/>
          <a:lstStyle/>
          <a:p>
            <a:endParaRPr lang="en-US"/>
          </a:p>
        </p:txBody>
      </p:sp>
      <p:sp>
        <p:nvSpPr>
          <p:cNvPr id="3" name="Freeform 3"/>
          <p:cNvSpPr/>
          <p:nvPr/>
        </p:nvSpPr>
        <p:spPr>
          <a:xfrm>
            <a:off x="4745380" y="881853"/>
            <a:ext cx="9120782" cy="2504069"/>
          </a:xfrm>
          <a:custGeom>
            <a:avLst/>
            <a:gdLst/>
            <a:ahLst/>
            <a:cxnLst/>
            <a:rect l="l" t="t" r="r" b="b"/>
            <a:pathLst>
              <a:path w="9120782" h="2504069">
                <a:moveTo>
                  <a:pt x="0" y="0"/>
                </a:moveTo>
                <a:lnTo>
                  <a:pt x="9120782" y="0"/>
                </a:lnTo>
                <a:lnTo>
                  <a:pt x="9120782" y="2504069"/>
                </a:lnTo>
                <a:lnTo>
                  <a:pt x="0" y="25040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2547116" y="4277257"/>
            <a:ext cx="2984619" cy="2704958"/>
          </a:xfrm>
          <a:custGeom>
            <a:avLst/>
            <a:gdLst/>
            <a:ahLst/>
            <a:cxnLst/>
            <a:rect l="l" t="t" r="r" b="b"/>
            <a:pathLst>
              <a:path w="2984619" h="2704958">
                <a:moveTo>
                  <a:pt x="0" y="0"/>
                </a:moveTo>
                <a:lnTo>
                  <a:pt x="2984620" y="0"/>
                </a:lnTo>
                <a:lnTo>
                  <a:pt x="2984620" y="2704958"/>
                </a:lnTo>
                <a:lnTo>
                  <a:pt x="0" y="270495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Freeform 5"/>
          <p:cNvSpPr/>
          <p:nvPr/>
        </p:nvSpPr>
        <p:spPr>
          <a:xfrm>
            <a:off x="13263417" y="4578012"/>
            <a:ext cx="2420770" cy="2420770"/>
          </a:xfrm>
          <a:custGeom>
            <a:avLst/>
            <a:gdLst/>
            <a:ahLst/>
            <a:cxnLst/>
            <a:rect l="l" t="t" r="r" b="b"/>
            <a:pathLst>
              <a:path w="2420770" h="2420770">
                <a:moveTo>
                  <a:pt x="0" y="0"/>
                </a:moveTo>
                <a:lnTo>
                  <a:pt x="2420770" y="0"/>
                </a:lnTo>
                <a:lnTo>
                  <a:pt x="2420770" y="2420769"/>
                </a:lnTo>
                <a:lnTo>
                  <a:pt x="0" y="242076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6" name="TextBox 6"/>
          <p:cNvSpPr txBox="1"/>
          <p:nvPr/>
        </p:nvSpPr>
        <p:spPr>
          <a:xfrm>
            <a:off x="5422667" y="986514"/>
            <a:ext cx="8826733" cy="1305037"/>
          </a:xfrm>
          <a:prstGeom prst="rect">
            <a:avLst/>
          </a:prstGeom>
        </p:spPr>
        <p:txBody>
          <a:bodyPr wrap="square" lIns="0" tIns="0" rIns="0" bIns="0" rtlCol="0" anchor="t">
            <a:spAutoFit/>
          </a:bodyPr>
          <a:lstStyle/>
          <a:p>
            <a:pPr algn="ctr">
              <a:lnSpc>
                <a:spcPts val="11059"/>
              </a:lnSpc>
              <a:spcBef>
                <a:spcPct val="0"/>
              </a:spcBef>
            </a:pPr>
            <a:r>
              <a:rPr lang="en-US" sz="7899">
                <a:solidFill>
                  <a:srgbClr val="000000"/>
                </a:solidFill>
                <a:latin typeface="Times New Roman Bold"/>
              </a:rPr>
              <a:t>Competitive forces</a:t>
            </a:r>
          </a:p>
        </p:txBody>
      </p:sp>
      <p:sp>
        <p:nvSpPr>
          <p:cNvPr id="7" name="TextBox 7"/>
          <p:cNvSpPr txBox="1"/>
          <p:nvPr/>
        </p:nvSpPr>
        <p:spPr>
          <a:xfrm>
            <a:off x="7138280" y="1570083"/>
            <a:ext cx="6577719" cy="1376980"/>
          </a:xfrm>
          <a:prstGeom prst="rect">
            <a:avLst/>
          </a:prstGeom>
        </p:spPr>
        <p:txBody>
          <a:bodyPr wrap="square" lIns="0" tIns="0" rIns="0" bIns="0" rtlCol="0" anchor="t">
            <a:spAutoFit/>
          </a:bodyPr>
          <a:lstStyle/>
          <a:p>
            <a:pPr algn="l">
              <a:lnSpc>
                <a:spcPts val="5599"/>
              </a:lnSpc>
            </a:pPr>
            <a:endParaRPr/>
          </a:p>
          <a:p>
            <a:pPr algn="l">
              <a:lnSpc>
                <a:spcPts val="5599"/>
              </a:lnSpc>
              <a:spcBef>
                <a:spcPct val="0"/>
              </a:spcBef>
            </a:pPr>
            <a:r>
              <a:rPr lang="en-US" sz="3999">
                <a:solidFill>
                  <a:srgbClr val="F64F59"/>
                </a:solidFill>
                <a:latin typeface="Times New Roman Bold"/>
              </a:rPr>
              <a:t>Power of customers</a:t>
            </a:r>
          </a:p>
        </p:txBody>
      </p:sp>
      <p:sp>
        <p:nvSpPr>
          <p:cNvPr id="8" name="TextBox 8"/>
          <p:cNvSpPr txBox="1"/>
          <p:nvPr/>
        </p:nvSpPr>
        <p:spPr>
          <a:xfrm>
            <a:off x="1028700" y="7609739"/>
            <a:ext cx="6503923" cy="2373239"/>
          </a:xfrm>
          <a:prstGeom prst="rect">
            <a:avLst/>
          </a:prstGeom>
        </p:spPr>
        <p:txBody>
          <a:bodyPr lIns="0" tIns="0" rIns="0" bIns="0" rtlCol="0" anchor="t">
            <a:spAutoFit/>
          </a:bodyPr>
          <a:lstStyle/>
          <a:p>
            <a:pPr marL="715791" lvl="1" indent="-357896" algn="just">
              <a:lnSpc>
                <a:spcPts val="4641"/>
              </a:lnSpc>
              <a:buFont typeface="Arial"/>
              <a:buChar char="•"/>
            </a:pPr>
            <a:r>
              <a:rPr lang="en-US" sz="3315">
                <a:solidFill>
                  <a:srgbClr val="000000"/>
                </a:solidFill>
                <a:latin typeface="Times New Roman Bold"/>
              </a:rPr>
              <a:t>Negotiate</a:t>
            </a:r>
            <a:r>
              <a:rPr lang="en-US" sz="3315">
                <a:solidFill>
                  <a:srgbClr val="000000"/>
                </a:solidFill>
                <a:latin typeface="Times New Roman"/>
              </a:rPr>
              <a:t> terms </a:t>
            </a:r>
            <a:r>
              <a:rPr lang="en-US" sz="3315">
                <a:solidFill>
                  <a:srgbClr val="000000"/>
                </a:solidFill>
                <a:latin typeface="Times New Roman Bold"/>
              </a:rPr>
              <a:t>to enhance</a:t>
            </a:r>
            <a:r>
              <a:rPr lang="en-US" sz="3315">
                <a:solidFill>
                  <a:srgbClr val="000000"/>
                </a:solidFill>
                <a:latin typeface="Times New Roman"/>
              </a:rPr>
              <a:t> their </a:t>
            </a:r>
            <a:r>
              <a:rPr lang="en-US" sz="3315">
                <a:solidFill>
                  <a:srgbClr val="000000"/>
                </a:solidFill>
                <a:latin typeface="Times New Roman Bold"/>
              </a:rPr>
              <a:t>experience</a:t>
            </a:r>
            <a:r>
              <a:rPr lang="en-US" sz="3315">
                <a:solidFill>
                  <a:srgbClr val="000000"/>
                </a:solidFill>
                <a:latin typeface="Times New Roman"/>
              </a:rPr>
              <a:t> and </a:t>
            </a:r>
            <a:r>
              <a:rPr lang="en-US" sz="3315">
                <a:solidFill>
                  <a:srgbClr val="000000"/>
                </a:solidFill>
                <a:latin typeface="Times New Roman Bold"/>
              </a:rPr>
              <a:t>benefits. </a:t>
            </a:r>
          </a:p>
          <a:p>
            <a:pPr algn="just">
              <a:lnSpc>
                <a:spcPts val="4641"/>
              </a:lnSpc>
              <a:spcBef>
                <a:spcPct val="0"/>
              </a:spcBef>
            </a:pPr>
            <a:endParaRPr lang="en-US" sz="3315">
              <a:solidFill>
                <a:srgbClr val="000000"/>
              </a:solidFill>
              <a:latin typeface="Times New Roman Bold"/>
            </a:endParaRPr>
          </a:p>
          <a:p>
            <a:pPr algn="just">
              <a:lnSpc>
                <a:spcPts val="4641"/>
              </a:lnSpc>
              <a:spcBef>
                <a:spcPct val="0"/>
              </a:spcBef>
            </a:pPr>
            <a:endParaRPr lang="en-US" sz="3315">
              <a:solidFill>
                <a:srgbClr val="000000"/>
              </a:solidFill>
              <a:latin typeface="Times New Roman Bold"/>
            </a:endParaRPr>
          </a:p>
        </p:txBody>
      </p:sp>
      <p:sp>
        <p:nvSpPr>
          <p:cNvPr id="9" name="TextBox 9"/>
          <p:cNvSpPr txBox="1"/>
          <p:nvPr/>
        </p:nvSpPr>
        <p:spPr>
          <a:xfrm>
            <a:off x="10960255" y="7651961"/>
            <a:ext cx="7027094" cy="1211072"/>
          </a:xfrm>
          <a:prstGeom prst="rect">
            <a:avLst/>
          </a:prstGeom>
        </p:spPr>
        <p:txBody>
          <a:bodyPr lIns="0" tIns="0" rIns="0" bIns="0" rtlCol="0" anchor="t">
            <a:spAutoFit/>
          </a:bodyPr>
          <a:lstStyle/>
          <a:p>
            <a:pPr marL="716787" lvl="1" indent="-358393" algn="just">
              <a:lnSpc>
                <a:spcPts val="4647"/>
              </a:lnSpc>
              <a:buFont typeface="Arial"/>
              <a:buChar char="•"/>
            </a:pPr>
            <a:r>
              <a:rPr lang="en-US" sz="3319">
                <a:solidFill>
                  <a:srgbClr val="000000"/>
                </a:solidFill>
                <a:latin typeface="Times New Roman Bold"/>
              </a:rPr>
              <a:t>Negotiate</a:t>
            </a:r>
            <a:r>
              <a:rPr lang="en-US" sz="3319">
                <a:solidFill>
                  <a:srgbClr val="000000"/>
                </a:solidFill>
                <a:latin typeface="Times New Roman"/>
              </a:rPr>
              <a:t> for </a:t>
            </a:r>
            <a:r>
              <a:rPr lang="en-US" sz="3319">
                <a:solidFill>
                  <a:srgbClr val="000000"/>
                </a:solidFill>
                <a:latin typeface="Times New Roman Bold"/>
              </a:rPr>
              <a:t>discounts </a:t>
            </a:r>
          </a:p>
          <a:p>
            <a:pPr marL="716787" lvl="1" indent="-358393" algn="just">
              <a:lnSpc>
                <a:spcPts val="4647"/>
              </a:lnSpc>
              <a:buFont typeface="Arial"/>
              <a:buChar char="•"/>
            </a:pPr>
            <a:r>
              <a:rPr lang="en-US" sz="3319">
                <a:solidFill>
                  <a:srgbClr val="000000"/>
                </a:solidFill>
                <a:latin typeface="Times New Roman Bold"/>
              </a:rPr>
              <a:t>Wi-Fi free</a:t>
            </a:r>
            <a:r>
              <a:rPr lang="en-US" sz="3319">
                <a:solidFill>
                  <a:srgbClr val="000000"/>
                </a:solidFill>
                <a:latin typeface="Times New Roman"/>
              </a:rPr>
              <a:t> and </a:t>
            </a:r>
            <a:r>
              <a:rPr lang="en-US" sz="3319">
                <a:solidFill>
                  <a:srgbClr val="000000"/>
                </a:solidFill>
                <a:latin typeface="Times New Roman Bold"/>
              </a:rPr>
              <a:t>24/7</a:t>
            </a:r>
            <a:r>
              <a:rPr lang="en-US" sz="3319">
                <a:solidFill>
                  <a:srgbClr val="000000"/>
                </a:solidFill>
                <a:latin typeface="Times New Roman"/>
              </a:rPr>
              <a:t> room service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2785" y="283879"/>
            <a:ext cx="2204332" cy="1208210"/>
          </a:xfrm>
          <a:custGeom>
            <a:avLst/>
            <a:gdLst/>
            <a:ahLst/>
            <a:cxnLst/>
            <a:rect l="l" t="t" r="r" b="b"/>
            <a:pathLst>
              <a:path w="2204332" h="1208210">
                <a:moveTo>
                  <a:pt x="0" y="0"/>
                </a:moveTo>
                <a:lnTo>
                  <a:pt x="2204331" y="0"/>
                </a:lnTo>
                <a:lnTo>
                  <a:pt x="2204331" y="1208209"/>
                </a:lnTo>
                <a:lnTo>
                  <a:pt x="0" y="1208209"/>
                </a:lnTo>
                <a:lnTo>
                  <a:pt x="0" y="0"/>
                </a:lnTo>
                <a:close/>
              </a:path>
            </a:pathLst>
          </a:custGeom>
          <a:blipFill>
            <a:blip r:embed="rId2"/>
            <a:stretch>
              <a:fillRect t="-993" r="-757" b="-993"/>
            </a:stretch>
          </a:blipFill>
        </p:spPr>
        <p:txBody>
          <a:bodyPr/>
          <a:lstStyle/>
          <a:p>
            <a:endParaRPr lang="en-US"/>
          </a:p>
        </p:txBody>
      </p:sp>
      <p:sp>
        <p:nvSpPr>
          <p:cNvPr id="3" name="Freeform 3"/>
          <p:cNvSpPr/>
          <p:nvPr/>
        </p:nvSpPr>
        <p:spPr>
          <a:xfrm>
            <a:off x="4845767" y="239340"/>
            <a:ext cx="9120782" cy="2504069"/>
          </a:xfrm>
          <a:custGeom>
            <a:avLst/>
            <a:gdLst/>
            <a:ahLst/>
            <a:cxnLst/>
            <a:rect l="l" t="t" r="r" b="b"/>
            <a:pathLst>
              <a:path w="9120782" h="2504069">
                <a:moveTo>
                  <a:pt x="0" y="0"/>
                </a:moveTo>
                <a:lnTo>
                  <a:pt x="9120782" y="0"/>
                </a:lnTo>
                <a:lnTo>
                  <a:pt x="9120782" y="2504070"/>
                </a:lnTo>
                <a:lnTo>
                  <a:pt x="0" y="25040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6866239" y="2536561"/>
            <a:ext cx="4069396" cy="4214732"/>
          </a:xfrm>
          <a:custGeom>
            <a:avLst/>
            <a:gdLst/>
            <a:ahLst/>
            <a:cxnLst/>
            <a:rect l="l" t="t" r="r" b="b"/>
            <a:pathLst>
              <a:path w="4069396" h="4214732">
                <a:moveTo>
                  <a:pt x="0" y="0"/>
                </a:moveTo>
                <a:lnTo>
                  <a:pt x="4069397" y="0"/>
                </a:lnTo>
                <a:lnTo>
                  <a:pt x="4069397" y="4214731"/>
                </a:lnTo>
                <a:lnTo>
                  <a:pt x="0" y="4214731"/>
                </a:lnTo>
                <a:lnTo>
                  <a:pt x="0" y="0"/>
                </a:lnTo>
                <a:close/>
              </a:path>
            </a:pathLst>
          </a:custGeom>
          <a:blipFill>
            <a:blip r:embed="rId5"/>
            <a:stretch>
              <a:fillRect/>
            </a:stretch>
          </a:blipFill>
        </p:spPr>
        <p:txBody>
          <a:bodyPr/>
          <a:lstStyle/>
          <a:p>
            <a:endParaRPr lang="en-US"/>
          </a:p>
        </p:txBody>
      </p:sp>
      <p:sp>
        <p:nvSpPr>
          <p:cNvPr id="5" name="Freeform 5"/>
          <p:cNvSpPr/>
          <p:nvPr/>
        </p:nvSpPr>
        <p:spPr>
          <a:xfrm>
            <a:off x="12531897" y="6748034"/>
            <a:ext cx="5218721" cy="3272450"/>
          </a:xfrm>
          <a:custGeom>
            <a:avLst/>
            <a:gdLst/>
            <a:ahLst/>
            <a:cxnLst/>
            <a:rect l="l" t="t" r="r" b="b"/>
            <a:pathLst>
              <a:path w="5218721" h="3272450">
                <a:moveTo>
                  <a:pt x="0" y="0"/>
                </a:moveTo>
                <a:lnTo>
                  <a:pt x="5218721" y="0"/>
                </a:lnTo>
                <a:lnTo>
                  <a:pt x="5218721" y="3272450"/>
                </a:lnTo>
                <a:lnTo>
                  <a:pt x="0" y="3272450"/>
                </a:lnTo>
                <a:lnTo>
                  <a:pt x="0" y="0"/>
                </a:lnTo>
                <a:close/>
              </a:path>
            </a:pathLst>
          </a:custGeom>
          <a:blipFill>
            <a:blip r:embed="rId6"/>
            <a:stretch>
              <a:fillRect/>
            </a:stretch>
          </a:blipFill>
        </p:spPr>
        <p:txBody>
          <a:bodyPr/>
          <a:lstStyle/>
          <a:p>
            <a:endParaRPr lang="en-US"/>
          </a:p>
        </p:txBody>
      </p:sp>
      <p:sp>
        <p:nvSpPr>
          <p:cNvPr id="6" name="Freeform 6"/>
          <p:cNvSpPr/>
          <p:nvPr/>
        </p:nvSpPr>
        <p:spPr>
          <a:xfrm>
            <a:off x="845547" y="6385931"/>
            <a:ext cx="4000220" cy="3528420"/>
          </a:xfrm>
          <a:custGeom>
            <a:avLst/>
            <a:gdLst/>
            <a:ahLst/>
            <a:cxnLst/>
            <a:rect l="l" t="t" r="r" b="b"/>
            <a:pathLst>
              <a:path w="4000220" h="3528420">
                <a:moveTo>
                  <a:pt x="0" y="0"/>
                </a:moveTo>
                <a:lnTo>
                  <a:pt x="4000220" y="0"/>
                </a:lnTo>
                <a:lnTo>
                  <a:pt x="4000220" y="3528420"/>
                </a:lnTo>
                <a:lnTo>
                  <a:pt x="0" y="3528420"/>
                </a:lnTo>
                <a:lnTo>
                  <a:pt x="0" y="0"/>
                </a:lnTo>
                <a:close/>
              </a:path>
            </a:pathLst>
          </a:custGeom>
          <a:blipFill>
            <a:blip r:embed="rId7"/>
            <a:stretch>
              <a:fillRect/>
            </a:stretch>
          </a:blipFill>
        </p:spPr>
        <p:txBody>
          <a:bodyPr/>
          <a:lstStyle/>
          <a:p>
            <a:endParaRPr lang="en-US"/>
          </a:p>
        </p:txBody>
      </p:sp>
      <p:sp>
        <p:nvSpPr>
          <p:cNvPr id="7" name="TextBox 7"/>
          <p:cNvSpPr txBox="1"/>
          <p:nvPr/>
        </p:nvSpPr>
        <p:spPr>
          <a:xfrm>
            <a:off x="4876247" y="403662"/>
            <a:ext cx="9521905" cy="1305037"/>
          </a:xfrm>
          <a:prstGeom prst="rect">
            <a:avLst/>
          </a:prstGeom>
        </p:spPr>
        <p:txBody>
          <a:bodyPr wrap="square" lIns="0" tIns="0" rIns="0" bIns="0" rtlCol="0" anchor="t">
            <a:spAutoFit/>
          </a:bodyPr>
          <a:lstStyle/>
          <a:p>
            <a:pPr algn="ctr">
              <a:lnSpc>
                <a:spcPts val="11059"/>
              </a:lnSpc>
              <a:spcBef>
                <a:spcPct val="0"/>
              </a:spcBef>
            </a:pPr>
            <a:r>
              <a:rPr lang="en-US" sz="7899">
                <a:solidFill>
                  <a:srgbClr val="000000"/>
                </a:solidFill>
                <a:latin typeface="Times New Roman Bold"/>
              </a:rPr>
              <a:t>Competitive forces</a:t>
            </a:r>
          </a:p>
        </p:txBody>
      </p:sp>
      <p:sp>
        <p:nvSpPr>
          <p:cNvPr id="8" name="TextBox 8"/>
          <p:cNvSpPr txBox="1"/>
          <p:nvPr/>
        </p:nvSpPr>
        <p:spPr>
          <a:xfrm>
            <a:off x="11125200" y="2600535"/>
            <a:ext cx="6966655" cy="3992245"/>
          </a:xfrm>
          <a:prstGeom prst="rect">
            <a:avLst/>
          </a:prstGeom>
        </p:spPr>
        <p:txBody>
          <a:bodyPr wrap="square" lIns="0" tIns="0" rIns="0" bIns="0" rtlCol="0" anchor="t">
            <a:spAutoFit/>
          </a:bodyPr>
          <a:lstStyle/>
          <a:p>
            <a:pPr algn="just">
              <a:lnSpc>
                <a:spcPts val="5179"/>
              </a:lnSpc>
            </a:pPr>
            <a:endParaRPr/>
          </a:p>
          <a:p>
            <a:pPr algn="just">
              <a:lnSpc>
                <a:spcPts val="5179"/>
              </a:lnSpc>
            </a:pPr>
            <a:r>
              <a:rPr lang="en-US" sz="3699">
                <a:solidFill>
                  <a:srgbClr val="000000"/>
                </a:solidFill>
                <a:latin typeface="Times New Roman Bold"/>
              </a:rPr>
              <a:t>Resort-Style</a:t>
            </a:r>
            <a:r>
              <a:rPr lang="vi-VN" sz="3699">
                <a:solidFill>
                  <a:srgbClr val="000000"/>
                </a:solidFill>
                <a:latin typeface="Times New Roman Bold"/>
              </a:rPr>
              <a:t> </a:t>
            </a:r>
            <a:r>
              <a:rPr lang="en-US" sz="3699">
                <a:solidFill>
                  <a:srgbClr val="000000"/>
                </a:solidFill>
                <a:latin typeface="Times New Roman Bold"/>
              </a:rPr>
              <a:t>Commercial Spaces:</a:t>
            </a:r>
          </a:p>
          <a:p>
            <a:pPr marL="798829" lvl="1" indent="-399415" algn="just">
              <a:lnSpc>
                <a:spcPts val="5179"/>
              </a:lnSpc>
              <a:buFont typeface="Arial"/>
              <a:buChar char="•"/>
            </a:pPr>
            <a:r>
              <a:rPr lang="en-US" sz="3699">
                <a:solidFill>
                  <a:srgbClr val="000000"/>
                </a:solidFill>
                <a:latin typeface="Times New Roman Bold"/>
              </a:rPr>
              <a:t>All-in-one</a:t>
            </a:r>
            <a:r>
              <a:rPr lang="en-US" sz="3699">
                <a:solidFill>
                  <a:srgbClr val="000000"/>
                </a:solidFill>
                <a:latin typeface="Times New Roman"/>
              </a:rPr>
              <a:t> experiences. </a:t>
            </a:r>
          </a:p>
          <a:p>
            <a:pPr marL="798829" lvl="1" indent="-399415" algn="just">
              <a:lnSpc>
                <a:spcPts val="5179"/>
              </a:lnSpc>
              <a:buFont typeface="Arial"/>
              <a:buChar char="•"/>
            </a:pPr>
            <a:r>
              <a:rPr lang="en-US" sz="3699">
                <a:solidFill>
                  <a:srgbClr val="000000"/>
                </a:solidFill>
                <a:latin typeface="Times New Roman"/>
              </a:rPr>
              <a:t>Use local landscapes, activities attracts customers </a:t>
            </a:r>
          </a:p>
          <a:p>
            <a:pPr algn="just">
              <a:lnSpc>
                <a:spcPts val="5179"/>
              </a:lnSpc>
              <a:spcBef>
                <a:spcPct val="0"/>
              </a:spcBef>
            </a:pPr>
            <a:endParaRPr lang="en-US" sz="3699">
              <a:solidFill>
                <a:srgbClr val="000000"/>
              </a:solidFill>
              <a:latin typeface="Times New Roman"/>
            </a:endParaRPr>
          </a:p>
        </p:txBody>
      </p:sp>
      <p:sp>
        <p:nvSpPr>
          <p:cNvPr id="9" name="TextBox 9"/>
          <p:cNvSpPr txBox="1"/>
          <p:nvPr/>
        </p:nvSpPr>
        <p:spPr>
          <a:xfrm>
            <a:off x="6920733" y="904875"/>
            <a:ext cx="4966467" cy="1376980"/>
          </a:xfrm>
          <a:prstGeom prst="rect">
            <a:avLst/>
          </a:prstGeom>
        </p:spPr>
        <p:txBody>
          <a:bodyPr wrap="square" lIns="0" tIns="0" rIns="0" bIns="0" rtlCol="0" anchor="t">
            <a:spAutoFit/>
          </a:bodyPr>
          <a:lstStyle/>
          <a:p>
            <a:pPr algn="ctr">
              <a:lnSpc>
                <a:spcPts val="5599"/>
              </a:lnSpc>
              <a:spcBef>
                <a:spcPct val="0"/>
              </a:spcBef>
            </a:pPr>
            <a:endParaRPr/>
          </a:p>
          <a:p>
            <a:pPr algn="ctr">
              <a:lnSpc>
                <a:spcPts val="5599"/>
              </a:lnSpc>
              <a:spcBef>
                <a:spcPct val="0"/>
              </a:spcBef>
            </a:pPr>
            <a:r>
              <a:rPr lang="en-US" sz="3999">
                <a:solidFill>
                  <a:srgbClr val="FF5660"/>
                </a:solidFill>
                <a:latin typeface="Times New Roman Bold"/>
              </a:rPr>
              <a:t>Threat of substitues.</a:t>
            </a:r>
          </a:p>
        </p:txBody>
      </p:sp>
      <p:sp>
        <p:nvSpPr>
          <p:cNvPr id="10" name="TextBox 10"/>
          <p:cNvSpPr txBox="1"/>
          <p:nvPr/>
        </p:nvSpPr>
        <p:spPr>
          <a:xfrm>
            <a:off x="342785" y="2722298"/>
            <a:ext cx="6037831" cy="3335020"/>
          </a:xfrm>
          <a:prstGeom prst="rect">
            <a:avLst/>
          </a:prstGeom>
        </p:spPr>
        <p:txBody>
          <a:bodyPr lIns="0" tIns="0" rIns="0" bIns="0" rtlCol="0" anchor="t">
            <a:spAutoFit/>
          </a:bodyPr>
          <a:lstStyle/>
          <a:p>
            <a:pPr algn="l">
              <a:lnSpc>
                <a:spcPts val="5179"/>
              </a:lnSpc>
            </a:pPr>
            <a:r>
              <a:rPr lang="en-US" sz="3699">
                <a:solidFill>
                  <a:srgbClr val="000000"/>
                </a:solidFill>
                <a:latin typeface="Times New Roman Bold"/>
              </a:rPr>
              <a:t>Serviced Apartments:</a:t>
            </a:r>
          </a:p>
          <a:p>
            <a:pPr marL="798829" lvl="1" indent="-399415" algn="l">
              <a:lnSpc>
                <a:spcPts val="5179"/>
              </a:lnSpc>
              <a:buFont typeface="Arial"/>
              <a:buChar char="•"/>
            </a:pPr>
            <a:r>
              <a:rPr lang="en-US" sz="3699">
                <a:solidFill>
                  <a:srgbClr val="000000"/>
                </a:solidFill>
                <a:latin typeface="Times New Roman Bold"/>
              </a:rPr>
              <a:t>Free and flexible</a:t>
            </a:r>
            <a:r>
              <a:rPr lang="en-US" sz="3699">
                <a:solidFill>
                  <a:srgbClr val="000000"/>
                </a:solidFill>
                <a:latin typeface="Times New Roman"/>
              </a:rPr>
              <a:t> accommodation </a:t>
            </a:r>
          </a:p>
          <a:p>
            <a:pPr marL="798829" lvl="1" indent="-399415" algn="l">
              <a:lnSpc>
                <a:spcPts val="5179"/>
              </a:lnSpc>
              <a:buFont typeface="Arial"/>
              <a:buChar char="•"/>
            </a:pPr>
            <a:r>
              <a:rPr lang="en-US" sz="3699">
                <a:solidFill>
                  <a:srgbClr val="000000"/>
                </a:solidFill>
                <a:latin typeface="Times New Roman Bold"/>
              </a:rPr>
              <a:t>Competition</a:t>
            </a:r>
            <a:r>
              <a:rPr lang="en-US" sz="3699">
                <a:solidFill>
                  <a:srgbClr val="000000"/>
                </a:solidFill>
                <a:latin typeface="Times New Roman"/>
              </a:rPr>
              <a:t> with traditional hotels </a:t>
            </a:r>
          </a:p>
        </p:txBody>
      </p:sp>
      <p:sp>
        <p:nvSpPr>
          <p:cNvPr id="11" name="TextBox 11"/>
          <p:cNvSpPr txBox="1"/>
          <p:nvPr/>
        </p:nvSpPr>
        <p:spPr>
          <a:xfrm>
            <a:off x="4845767" y="6937030"/>
            <a:ext cx="7701370" cy="3335020"/>
          </a:xfrm>
          <a:prstGeom prst="rect">
            <a:avLst/>
          </a:prstGeom>
        </p:spPr>
        <p:txBody>
          <a:bodyPr lIns="0" tIns="0" rIns="0" bIns="0" rtlCol="0" anchor="t">
            <a:spAutoFit/>
          </a:bodyPr>
          <a:lstStyle/>
          <a:p>
            <a:pPr algn="ctr">
              <a:lnSpc>
                <a:spcPts val="5179"/>
              </a:lnSpc>
              <a:spcBef>
                <a:spcPct val="0"/>
              </a:spcBef>
            </a:pPr>
            <a:r>
              <a:rPr lang="en-US" sz="3699">
                <a:solidFill>
                  <a:srgbClr val="000000"/>
                </a:solidFill>
                <a:latin typeface="Times New Roman Bold"/>
              </a:rPr>
              <a:t>Home Sharing and Room Sharing:</a:t>
            </a:r>
          </a:p>
          <a:p>
            <a:pPr marL="798829" lvl="1" indent="-399415" algn="l">
              <a:lnSpc>
                <a:spcPts val="5179"/>
              </a:lnSpc>
              <a:spcBef>
                <a:spcPct val="0"/>
              </a:spcBef>
              <a:buFont typeface="Arial"/>
              <a:buChar char="•"/>
            </a:pPr>
            <a:r>
              <a:rPr lang="en-US" sz="3699">
                <a:solidFill>
                  <a:srgbClr val="000000"/>
                </a:solidFill>
                <a:latin typeface="Times New Roman Bold"/>
              </a:rPr>
              <a:t>Lower</a:t>
            </a:r>
            <a:r>
              <a:rPr lang="en-US" sz="3699">
                <a:solidFill>
                  <a:srgbClr val="000000"/>
                </a:solidFill>
                <a:latin typeface="Times New Roman"/>
              </a:rPr>
              <a:t> prices.</a:t>
            </a:r>
          </a:p>
          <a:p>
            <a:pPr marL="798829" lvl="1" indent="-399415" algn="l">
              <a:lnSpc>
                <a:spcPts val="5179"/>
              </a:lnSpc>
              <a:spcBef>
                <a:spcPct val="0"/>
              </a:spcBef>
              <a:buFont typeface="Arial"/>
              <a:buChar char="•"/>
            </a:pPr>
            <a:r>
              <a:rPr lang="en-US" sz="3699">
                <a:solidFill>
                  <a:srgbClr val="000000"/>
                </a:solidFill>
                <a:latin typeface="Times New Roman Bold"/>
              </a:rPr>
              <a:t>Closer</a:t>
            </a:r>
            <a:r>
              <a:rPr lang="en-US" sz="3699">
                <a:solidFill>
                  <a:srgbClr val="000000"/>
                </a:solidFill>
                <a:latin typeface="Times New Roman"/>
              </a:rPr>
              <a:t> experience of local life.</a:t>
            </a:r>
          </a:p>
          <a:p>
            <a:pPr marL="798829" lvl="1" indent="-399415" algn="l">
              <a:lnSpc>
                <a:spcPts val="5179"/>
              </a:lnSpc>
              <a:buFont typeface="Arial"/>
              <a:buChar char="•"/>
            </a:pPr>
            <a:r>
              <a:rPr lang="en-US" sz="3699">
                <a:solidFill>
                  <a:srgbClr val="000000"/>
                </a:solidFill>
                <a:latin typeface="Times New Roman Bold"/>
              </a:rPr>
              <a:t>Personal</a:t>
            </a:r>
            <a:r>
              <a:rPr lang="en-US" sz="3699">
                <a:solidFill>
                  <a:srgbClr val="000000"/>
                </a:solidFill>
                <a:latin typeface="Times New Roman"/>
              </a:rPr>
              <a:t> experiences and</a:t>
            </a:r>
            <a:r>
              <a:rPr lang="en-US" sz="3699">
                <a:solidFill>
                  <a:srgbClr val="000000"/>
                </a:solidFill>
                <a:latin typeface="Times New Roman Bold"/>
              </a:rPr>
              <a:t> private</a:t>
            </a:r>
            <a:r>
              <a:rPr lang="en-US" sz="3699">
                <a:solidFill>
                  <a:srgbClr val="000000"/>
                </a:solidFill>
                <a:latin typeface="Times New Roman"/>
              </a:rPr>
              <a:t> spaces.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2785" y="283879"/>
            <a:ext cx="2204332" cy="1208210"/>
          </a:xfrm>
          <a:custGeom>
            <a:avLst/>
            <a:gdLst/>
            <a:ahLst/>
            <a:cxnLst/>
            <a:rect l="l" t="t" r="r" b="b"/>
            <a:pathLst>
              <a:path w="2204332" h="1208210">
                <a:moveTo>
                  <a:pt x="0" y="0"/>
                </a:moveTo>
                <a:lnTo>
                  <a:pt x="2204331" y="0"/>
                </a:lnTo>
                <a:lnTo>
                  <a:pt x="2204331" y="1208209"/>
                </a:lnTo>
                <a:lnTo>
                  <a:pt x="0" y="1208209"/>
                </a:lnTo>
                <a:lnTo>
                  <a:pt x="0" y="0"/>
                </a:lnTo>
                <a:close/>
              </a:path>
            </a:pathLst>
          </a:custGeom>
          <a:blipFill>
            <a:blip r:embed="rId2"/>
            <a:stretch>
              <a:fillRect t="-993" r="-757" b="-993"/>
            </a:stretch>
          </a:blipFill>
        </p:spPr>
        <p:txBody>
          <a:bodyPr/>
          <a:lstStyle/>
          <a:p>
            <a:endParaRPr lang="en-US"/>
          </a:p>
        </p:txBody>
      </p:sp>
      <p:sp>
        <p:nvSpPr>
          <p:cNvPr id="3" name="Freeform 3"/>
          <p:cNvSpPr/>
          <p:nvPr/>
        </p:nvSpPr>
        <p:spPr>
          <a:xfrm>
            <a:off x="4845767" y="794748"/>
            <a:ext cx="9120782" cy="2504069"/>
          </a:xfrm>
          <a:custGeom>
            <a:avLst/>
            <a:gdLst/>
            <a:ahLst/>
            <a:cxnLst/>
            <a:rect l="l" t="t" r="r" b="b"/>
            <a:pathLst>
              <a:path w="9120782" h="2504069">
                <a:moveTo>
                  <a:pt x="0" y="0"/>
                </a:moveTo>
                <a:lnTo>
                  <a:pt x="9120782" y="0"/>
                </a:lnTo>
                <a:lnTo>
                  <a:pt x="9120782" y="2504069"/>
                </a:lnTo>
                <a:lnTo>
                  <a:pt x="0" y="25040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p:cNvSpPr txBox="1"/>
          <p:nvPr/>
        </p:nvSpPr>
        <p:spPr>
          <a:xfrm>
            <a:off x="4393109" y="949038"/>
            <a:ext cx="9501783" cy="1504319"/>
          </a:xfrm>
          <a:prstGeom prst="rect">
            <a:avLst/>
          </a:prstGeom>
        </p:spPr>
        <p:txBody>
          <a:bodyPr lIns="0" tIns="0" rIns="0" bIns="0" rtlCol="0" anchor="t">
            <a:spAutoFit/>
          </a:bodyPr>
          <a:lstStyle/>
          <a:p>
            <a:pPr algn="ctr">
              <a:lnSpc>
                <a:spcPts val="11059"/>
              </a:lnSpc>
              <a:spcBef>
                <a:spcPct val="0"/>
              </a:spcBef>
            </a:pPr>
            <a:r>
              <a:rPr lang="en-US" sz="7899">
                <a:solidFill>
                  <a:srgbClr val="000000"/>
                </a:solidFill>
                <a:latin typeface="Times New Roman Bold"/>
              </a:rPr>
              <a:t>Competitive advantage</a:t>
            </a:r>
          </a:p>
        </p:txBody>
      </p:sp>
      <p:sp>
        <p:nvSpPr>
          <p:cNvPr id="5" name="TextBox 5"/>
          <p:cNvSpPr txBox="1"/>
          <p:nvPr/>
        </p:nvSpPr>
        <p:spPr>
          <a:xfrm>
            <a:off x="1890189" y="3508175"/>
            <a:ext cx="15031938" cy="5963921"/>
          </a:xfrm>
          <a:prstGeom prst="rect">
            <a:avLst/>
          </a:prstGeom>
        </p:spPr>
        <p:txBody>
          <a:bodyPr lIns="0" tIns="0" rIns="0" bIns="0" rtlCol="0" anchor="t">
            <a:spAutoFit/>
          </a:bodyPr>
          <a:lstStyle/>
          <a:p>
            <a:pPr algn="l">
              <a:lnSpc>
                <a:spcPts val="5179"/>
              </a:lnSpc>
              <a:spcBef>
                <a:spcPct val="0"/>
              </a:spcBef>
            </a:pPr>
            <a:endParaRPr/>
          </a:p>
          <a:p>
            <a:pPr algn="l">
              <a:lnSpc>
                <a:spcPts val="5179"/>
              </a:lnSpc>
              <a:spcBef>
                <a:spcPct val="0"/>
              </a:spcBef>
            </a:pPr>
            <a:r>
              <a:rPr lang="en-US" sz="3699">
                <a:solidFill>
                  <a:srgbClr val="000000"/>
                </a:solidFill>
                <a:latin typeface="Times New Roman"/>
              </a:rPr>
              <a:t>The location</a:t>
            </a:r>
            <a:r>
              <a:rPr lang="en-US" sz="3699">
                <a:solidFill>
                  <a:srgbClr val="000000"/>
                </a:solidFill>
                <a:latin typeface="Times New Roman Bold"/>
              </a:rPr>
              <a:t> (district 1)</a:t>
            </a:r>
            <a:r>
              <a:rPr lang="en-US" sz="3699">
                <a:solidFill>
                  <a:srgbClr val="000000"/>
                </a:solidFill>
                <a:latin typeface="Times New Roman"/>
              </a:rPr>
              <a:t>        makes customers'</a:t>
            </a:r>
            <a:r>
              <a:rPr lang="en-US" sz="3699">
                <a:solidFill>
                  <a:srgbClr val="000000"/>
                </a:solidFill>
                <a:latin typeface="Times New Roman Bold"/>
              </a:rPr>
              <a:t> travel more convenient.</a:t>
            </a:r>
          </a:p>
          <a:p>
            <a:pPr algn="l">
              <a:lnSpc>
                <a:spcPts val="5179"/>
              </a:lnSpc>
              <a:spcBef>
                <a:spcPct val="0"/>
              </a:spcBef>
            </a:pPr>
            <a:endParaRPr lang="en-US" sz="3699">
              <a:solidFill>
                <a:srgbClr val="000000"/>
              </a:solidFill>
              <a:latin typeface="Times New Roman Bold"/>
            </a:endParaRPr>
          </a:p>
          <a:p>
            <a:pPr algn="l">
              <a:lnSpc>
                <a:spcPts val="5179"/>
              </a:lnSpc>
              <a:spcBef>
                <a:spcPct val="0"/>
              </a:spcBef>
            </a:pPr>
            <a:r>
              <a:rPr lang="en-US" sz="3699">
                <a:solidFill>
                  <a:srgbClr val="000000"/>
                </a:solidFill>
                <a:latin typeface="Times New Roman"/>
              </a:rPr>
              <a:t>A </a:t>
            </a:r>
            <a:r>
              <a:rPr lang="en-US" sz="3699">
                <a:solidFill>
                  <a:srgbClr val="000000"/>
                </a:solidFill>
                <a:latin typeface="Times New Roman Bold"/>
              </a:rPr>
              <a:t>smart room</a:t>
            </a:r>
            <a:r>
              <a:rPr lang="en-US" sz="3699">
                <a:solidFill>
                  <a:srgbClr val="000000"/>
                </a:solidFill>
                <a:latin typeface="Times New Roman"/>
              </a:rPr>
              <a:t> placement system       avoid </a:t>
            </a:r>
            <a:r>
              <a:rPr lang="en-US" sz="3699">
                <a:solidFill>
                  <a:srgbClr val="000000"/>
                </a:solidFill>
                <a:latin typeface="Times New Roman Bold"/>
              </a:rPr>
              <a:t>unoptimized </a:t>
            </a:r>
            <a:r>
              <a:rPr lang="en-US" sz="3699">
                <a:solidFill>
                  <a:srgbClr val="000000"/>
                </a:solidFill>
                <a:latin typeface="Times New Roman"/>
              </a:rPr>
              <a:t>room availability.</a:t>
            </a:r>
          </a:p>
          <a:p>
            <a:pPr algn="l">
              <a:lnSpc>
                <a:spcPts val="5179"/>
              </a:lnSpc>
              <a:spcBef>
                <a:spcPct val="0"/>
              </a:spcBef>
            </a:pPr>
            <a:endParaRPr lang="en-US" sz="3699">
              <a:solidFill>
                <a:srgbClr val="000000"/>
              </a:solidFill>
              <a:latin typeface="Times New Roman"/>
            </a:endParaRPr>
          </a:p>
          <a:p>
            <a:pPr algn="l">
              <a:lnSpc>
                <a:spcPts val="5179"/>
              </a:lnSpc>
              <a:spcBef>
                <a:spcPct val="0"/>
              </a:spcBef>
            </a:pPr>
            <a:r>
              <a:rPr lang="en-US" sz="3699">
                <a:solidFill>
                  <a:srgbClr val="000000"/>
                </a:solidFill>
                <a:latin typeface="Times New Roman"/>
              </a:rPr>
              <a:t>Only needs </a:t>
            </a:r>
            <a:r>
              <a:rPr lang="en-US" sz="3699">
                <a:solidFill>
                  <a:srgbClr val="000000"/>
                </a:solidFill>
                <a:latin typeface="Times New Roman Bold"/>
              </a:rPr>
              <a:t>service staff    </a:t>
            </a:r>
            <a:r>
              <a:rPr lang="en-US" sz="3699">
                <a:solidFill>
                  <a:srgbClr val="000000"/>
                </a:solidFill>
                <a:latin typeface="Times New Roman"/>
              </a:rPr>
              <a:t>    ensure customers get the </a:t>
            </a:r>
            <a:r>
              <a:rPr lang="en-US" sz="3699">
                <a:solidFill>
                  <a:srgbClr val="000000"/>
                </a:solidFill>
                <a:latin typeface="Times New Roman Bold"/>
              </a:rPr>
              <a:t>best service</a:t>
            </a:r>
            <a:r>
              <a:rPr lang="en-US" sz="3699">
                <a:solidFill>
                  <a:srgbClr val="000000"/>
                </a:solidFill>
                <a:latin typeface="Times New Roman"/>
              </a:rPr>
              <a:t>.</a:t>
            </a:r>
          </a:p>
          <a:p>
            <a:pPr algn="l">
              <a:lnSpc>
                <a:spcPts val="5179"/>
              </a:lnSpc>
              <a:spcBef>
                <a:spcPct val="0"/>
              </a:spcBef>
            </a:pPr>
            <a:endParaRPr lang="en-US" sz="3699">
              <a:solidFill>
                <a:srgbClr val="000000"/>
              </a:solidFill>
              <a:latin typeface="Times New Roman"/>
            </a:endParaRPr>
          </a:p>
          <a:p>
            <a:pPr algn="l">
              <a:lnSpc>
                <a:spcPts val="5179"/>
              </a:lnSpc>
              <a:spcBef>
                <a:spcPct val="0"/>
              </a:spcBef>
            </a:pPr>
            <a:r>
              <a:rPr lang="en-US" sz="3699">
                <a:solidFill>
                  <a:srgbClr val="000000"/>
                </a:solidFill>
                <a:latin typeface="Times New Roman"/>
              </a:rPr>
              <a:t>Supports </a:t>
            </a:r>
            <a:r>
              <a:rPr lang="en-US" sz="3699">
                <a:solidFill>
                  <a:srgbClr val="000000"/>
                </a:solidFill>
                <a:latin typeface="Times New Roman Bold"/>
              </a:rPr>
              <a:t>many different forms of</a:t>
            </a:r>
            <a:r>
              <a:rPr lang="en-US" sz="3699">
                <a:solidFill>
                  <a:srgbClr val="000000"/>
                </a:solidFill>
                <a:latin typeface="Times New Roman"/>
              </a:rPr>
              <a:t> payment </a:t>
            </a:r>
            <a:r>
              <a:rPr lang="en-US" sz="3699">
                <a:solidFill>
                  <a:srgbClr val="000000"/>
                </a:solidFill>
                <a:latin typeface="Times New Roman Bold"/>
              </a:rPr>
              <a:t>but</a:t>
            </a:r>
            <a:r>
              <a:rPr lang="en-US" sz="3699">
                <a:solidFill>
                  <a:srgbClr val="000000"/>
                </a:solidFill>
                <a:latin typeface="Times New Roman"/>
              </a:rPr>
              <a:t> requires to reserve at least 50% of the service value in advance.</a:t>
            </a:r>
          </a:p>
        </p:txBody>
      </p:sp>
      <p:sp>
        <p:nvSpPr>
          <p:cNvPr id="6" name="AutoShape 6"/>
          <p:cNvSpPr/>
          <p:nvPr/>
        </p:nvSpPr>
        <p:spPr>
          <a:xfrm>
            <a:off x="6674961" y="4514434"/>
            <a:ext cx="719638" cy="0"/>
          </a:xfrm>
          <a:prstGeom prst="line">
            <a:avLst/>
          </a:prstGeom>
          <a:ln w="38100" cap="flat">
            <a:solidFill>
              <a:srgbClr val="000000"/>
            </a:solidFill>
            <a:prstDash val="solid"/>
            <a:headEnd type="none" w="sm" len="sm"/>
            <a:tailEnd type="arrow" w="med" len="sm"/>
          </a:ln>
        </p:spPr>
        <p:txBody>
          <a:bodyPr/>
          <a:lstStyle/>
          <a:p>
            <a:endParaRPr lang="en-US"/>
          </a:p>
        </p:txBody>
      </p:sp>
      <p:sp>
        <p:nvSpPr>
          <p:cNvPr id="7" name="AutoShape 7"/>
          <p:cNvSpPr/>
          <p:nvPr/>
        </p:nvSpPr>
        <p:spPr>
          <a:xfrm>
            <a:off x="6674961" y="7177135"/>
            <a:ext cx="719638" cy="0"/>
          </a:xfrm>
          <a:prstGeom prst="line">
            <a:avLst/>
          </a:prstGeom>
          <a:ln w="38100" cap="flat">
            <a:solidFill>
              <a:srgbClr val="000000"/>
            </a:solidFill>
            <a:prstDash val="solid"/>
            <a:headEnd type="none" w="sm" len="sm"/>
            <a:tailEnd type="arrow" w="med" len="sm"/>
          </a:ln>
        </p:spPr>
        <p:txBody>
          <a:bodyPr/>
          <a:lstStyle/>
          <a:p>
            <a:endParaRPr lang="en-US"/>
          </a:p>
        </p:txBody>
      </p:sp>
      <p:sp>
        <p:nvSpPr>
          <p:cNvPr id="8" name="AutoShape 8"/>
          <p:cNvSpPr/>
          <p:nvPr/>
        </p:nvSpPr>
        <p:spPr>
          <a:xfrm>
            <a:off x="8240594" y="5900295"/>
            <a:ext cx="719638" cy="0"/>
          </a:xfrm>
          <a:prstGeom prst="line">
            <a:avLst/>
          </a:prstGeom>
          <a:ln w="38100" cap="flat">
            <a:solidFill>
              <a:srgbClr val="000000"/>
            </a:solidFill>
            <a:prstDash val="solid"/>
            <a:headEnd type="none" w="sm" len="sm"/>
            <a:tailEnd type="arrow" w="med" len="sm"/>
          </a:ln>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654" y="3298817"/>
            <a:ext cx="3188925" cy="5196548"/>
            <a:chOff x="0" y="0"/>
            <a:chExt cx="4251901" cy="6928731"/>
          </a:xfrm>
        </p:grpSpPr>
        <p:sp>
          <p:nvSpPr>
            <p:cNvPr id="3" name="AutoShape 3"/>
            <p:cNvSpPr/>
            <p:nvPr/>
          </p:nvSpPr>
          <p:spPr>
            <a:xfrm>
              <a:off x="7011" y="0"/>
              <a:ext cx="4244889" cy="6928731"/>
            </a:xfrm>
            <a:prstGeom prst="rect">
              <a:avLst/>
            </a:prstGeom>
            <a:gradFill rotWithShape="1">
              <a:gsLst>
                <a:gs pos="0">
                  <a:srgbClr val="E4D54F">
                    <a:alpha val="5000"/>
                  </a:srgbClr>
                </a:gs>
                <a:gs pos="100000">
                  <a:srgbClr val="EF39E2">
                    <a:alpha val="5000"/>
                  </a:srgbClr>
                </a:gs>
              </a:gsLst>
              <a:lin ang="5400000"/>
            </a:gradFill>
          </p:spPr>
          <p:txBody>
            <a:bodyPr/>
            <a:lstStyle/>
            <a:p>
              <a:endParaRPr lang="en-US"/>
            </a:p>
          </p:txBody>
        </p:sp>
        <p:grpSp>
          <p:nvGrpSpPr>
            <p:cNvPr id="4" name="Group 4"/>
            <p:cNvGrpSpPr/>
            <p:nvPr/>
          </p:nvGrpSpPr>
          <p:grpSpPr>
            <a:xfrm rot="5400000">
              <a:off x="73787" y="-66776"/>
              <a:ext cx="574717" cy="708268"/>
              <a:chOff x="0" y="0"/>
              <a:chExt cx="5599956" cy="6901264"/>
            </a:xfrm>
          </p:grpSpPr>
          <p:sp>
            <p:nvSpPr>
              <p:cNvPr id="5" name="Freeform 5"/>
              <p:cNvSpPr/>
              <p:nvPr/>
            </p:nvSpPr>
            <p:spPr>
              <a:xfrm>
                <a:off x="0" y="0"/>
                <a:ext cx="5599956" cy="6901264"/>
              </a:xfrm>
              <a:custGeom>
                <a:avLst/>
                <a:gdLst/>
                <a:ahLst/>
                <a:cxnLst/>
                <a:rect l="l" t="t" r="r" b="b"/>
                <a:pathLst>
                  <a:path w="5599956" h="6901264">
                    <a:moveTo>
                      <a:pt x="5599956" y="6901264"/>
                    </a:moveTo>
                    <a:lnTo>
                      <a:pt x="0" y="6901264"/>
                    </a:lnTo>
                    <a:lnTo>
                      <a:pt x="0" y="0"/>
                    </a:lnTo>
                    <a:lnTo>
                      <a:pt x="5599956" y="6901264"/>
                    </a:lnTo>
                    <a:close/>
                  </a:path>
                </a:pathLst>
              </a:custGeom>
              <a:gradFill rotWithShape="1">
                <a:gsLst>
                  <a:gs pos="0">
                    <a:srgbClr val="FFF7AD">
                      <a:alpha val="100000"/>
                    </a:srgbClr>
                  </a:gs>
                  <a:gs pos="100000">
                    <a:srgbClr val="FFA9F9">
                      <a:alpha val="100000"/>
                    </a:srgbClr>
                  </a:gs>
                </a:gsLst>
                <a:lin ang="0"/>
              </a:gradFill>
            </p:spPr>
            <p:txBody>
              <a:bodyPr/>
              <a:lstStyle/>
              <a:p>
                <a:endParaRPr lang="en-US"/>
              </a:p>
            </p:txBody>
          </p:sp>
        </p:grpSp>
        <p:sp>
          <p:nvSpPr>
            <p:cNvPr id="6" name="TextBox 6"/>
            <p:cNvSpPr txBox="1"/>
            <p:nvPr/>
          </p:nvSpPr>
          <p:spPr>
            <a:xfrm>
              <a:off x="0" y="3810675"/>
              <a:ext cx="4114899" cy="2190539"/>
            </a:xfrm>
            <a:prstGeom prst="rect">
              <a:avLst/>
            </a:prstGeom>
          </p:spPr>
          <p:txBody>
            <a:bodyPr lIns="0" tIns="0" rIns="0" bIns="0" rtlCol="0" anchor="t">
              <a:spAutoFit/>
            </a:bodyPr>
            <a:lstStyle/>
            <a:p>
              <a:pPr algn="ctr">
                <a:lnSpc>
                  <a:spcPts val="4339"/>
                </a:lnSpc>
              </a:pPr>
              <a:endParaRPr b="1">
                <a:solidFill>
                  <a:srgbClr val="FF0000"/>
                </a:solidFill>
              </a:endParaRPr>
            </a:p>
            <a:p>
              <a:pPr algn="ctr">
                <a:lnSpc>
                  <a:spcPts val="4339"/>
                </a:lnSpc>
              </a:pPr>
              <a:r>
                <a:rPr lang="en-US" sz="3099" b="1">
                  <a:solidFill>
                    <a:srgbClr val="FF0000"/>
                  </a:solidFill>
                  <a:latin typeface="Times New Roman Bold"/>
                  <a:hlinkClick r:id="rId2" tooltip="https://docs.google.com/spreadsheets/d/1DUF2isFWsqVSYhbaACYtbgcLi_YjDqpE3GLQIVgkKQg/edit#gid=69851113">
                    <a:extLst>
                      <a:ext uri="{A12FA001-AC4F-418D-AE19-62706E023703}">
                        <ahyp:hlinkClr xmlns:ahyp="http://schemas.microsoft.com/office/drawing/2018/hyperlinkcolor" val="tx"/>
                      </a:ext>
                    </a:extLst>
                  </a:hlinkClick>
                </a:rPr>
                <a:t>Focus on Strategy</a:t>
              </a:r>
            </a:p>
            <a:p>
              <a:pPr algn="ctr">
                <a:lnSpc>
                  <a:spcPts val="4339"/>
                </a:lnSpc>
              </a:pPr>
              <a:endParaRPr lang="en-US" sz="3099" b="1">
                <a:solidFill>
                  <a:srgbClr val="FF0000"/>
                </a:solidFill>
                <a:latin typeface="Times New Roman Bold"/>
                <a:hlinkClick r:id="rId2" tooltip="https://docs.google.com/spreadsheets/d/1DUF2isFWsqVSYhbaACYtbgcLi_YjDqpE3GLQIVgkKQg/edit#gid=69851113">
                  <a:extLst>
                    <a:ext uri="{A12FA001-AC4F-418D-AE19-62706E023703}">
                      <ahyp:hlinkClr xmlns:ahyp="http://schemas.microsoft.com/office/drawing/2018/hyperlinkcolor" val="tx"/>
                    </a:ext>
                  </a:extLst>
                </a:hlinkClick>
              </a:endParaRPr>
            </a:p>
          </p:txBody>
        </p:sp>
        <p:sp>
          <p:nvSpPr>
            <p:cNvPr id="7" name="TextBox 7"/>
            <p:cNvSpPr txBox="1"/>
            <p:nvPr/>
          </p:nvSpPr>
          <p:spPr>
            <a:xfrm>
              <a:off x="0" y="1218524"/>
              <a:ext cx="4114899" cy="2438400"/>
            </a:xfrm>
            <a:prstGeom prst="rect">
              <a:avLst/>
            </a:prstGeom>
          </p:spPr>
          <p:txBody>
            <a:bodyPr lIns="0" tIns="0" rIns="0" bIns="0" rtlCol="0" anchor="t">
              <a:spAutoFit/>
            </a:bodyPr>
            <a:lstStyle/>
            <a:p>
              <a:pPr algn="ctr">
                <a:lnSpc>
                  <a:spcPts val="4679"/>
                </a:lnSpc>
              </a:pPr>
              <a:r>
                <a:rPr lang="en-US" sz="3899">
                  <a:solidFill>
                    <a:srgbClr val="31356E"/>
                  </a:solidFill>
                  <a:latin typeface="Times New Roman Bold"/>
                </a:rPr>
                <a:t> Stage 1 </a:t>
              </a:r>
            </a:p>
            <a:p>
              <a:pPr algn="ctr">
                <a:lnSpc>
                  <a:spcPts val="4679"/>
                </a:lnSpc>
              </a:pPr>
              <a:r>
                <a:rPr lang="en-US" sz="3899">
                  <a:solidFill>
                    <a:srgbClr val="31356E"/>
                  </a:solidFill>
                  <a:latin typeface="Times New Roman Bold"/>
                </a:rPr>
                <a:t>(2024-2025)</a:t>
              </a:r>
            </a:p>
            <a:p>
              <a:pPr algn="ctr">
                <a:lnSpc>
                  <a:spcPts val="4679"/>
                </a:lnSpc>
              </a:pPr>
              <a:endParaRPr lang="en-US" sz="3899">
                <a:solidFill>
                  <a:srgbClr val="31356E"/>
                </a:solidFill>
                <a:latin typeface="Times New Roman Bold"/>
              </a:endParaRPr>
            </a:p>
          </p:txBody>
        </p:sp>
      </p:grpSp>
      <p:grpSp>
        <p:nvGrpSpPr>
          <p:cNvPr id="8" name="Group 8"/>
          <p:cNvGrpSpPr/>
          <p:nvPr/>
        </p:nvGrpSpPr>
        <p:grpSpPr>
          <a:xfrm>
            <a:off x="5236254" y="4847469"/>
            <a:ext cx="3419458" cy="5073973"/>
            <a:chOff x="0" y="0"/>
            <a:chExt cx="4559277" cy="6765298"/>
          </a:xfrm>
        </p:grpSpPr>
        <p:sp>
          <p:nvSpPr>
            <p:cNvPr id="9" name="AutoShape 9"/>
            <p:cNvSpPr/>
            <p:nvPr/>
          </p:nvSpPr>
          <p:spPr>
            <a:xfrm>
              <a:off x="0" y="0"/>
              <a:ext cx="4559277" cy="6765298"/>
            </a:xfrm>
            <a:prstGeom prst="rect">
              <a:avLst/>
            </a:prstGeom>
            <a:gradFill rotWithShape="1">
              <a:gsLst>
                <a:gs pos="0">
                  <a:srgbClr val="E4D54F">
                    <a:alpha val="5000"/>
                  </a:srgbClr>
                </a:gs>
                <a:gs pos="100000">
                  <a:srgbClr val="EF39E2">
                    <a:alpha val="5000"/>
                  </a:srgbClr>
                </a:gs>
              </a:gsLst>
              <a:lin ang="5400000"/>
            </a:gradFill>
          </p:spPr>
          <p:txBody>
            <a:bodyPr/>
            <a:lstStyle/>
            <a:p>
              <a:endParaRPr lang="en-US"/>
            </a:p>
          </p:txBody>
        </p:sp>
        <p:grpSp>
          <p:nvGrpSpPr>
            <p:cNvPr id="10" name="Group 10"/>
            <p:cNvGrpSpPr/>
            <p:nvPr/>
          </p:nvGrpSpPr>
          <p:grpSpPr>
            <a:xfrm rot="5400000">
              <a:off x="99782" y="-99782"/>
              <a:ext cx="561161" cy="760725"/>
              <a:chOff x="0" y="0"/>
              <a:chExt cx="5640596" cy="7646548"/>
            </a:xfrm>
          </p:grpSpPr>
          <p:sp>
            <p:nvSpPr>
              <p:cNvPr id="11" name="Freeform 11"/>
              <p:cNvSpPr/>
              <p:nvPr/>
            </p:nvSpPr>
            <p:spPr>
              <a:xfrm>
                <a:off x="0" y="0"/>
                <a:ext cx="5640596" cy="7646548"/>
              </a:xfrm>
              <a:custGeom>
                <a:avLst/>
                <a:gdLst/>
                <a:ahLst/>
                <a:cxnLst/>
                <a:rect l="l" t="t" r="r" b="b"/>
                <a:pathLst>
                  <a:path w="5640596" h="7646548">
                    <a:moveTo>
                      <a:pt x="5640596" y="7646548"/>
                    </a:moveTo>
                    <a:lnTo>
                      <a:pt x="0" y="7646548"/>
                    </a:lnTo>
                    <a:lnTo>
                      <a:pt x="0" y="0"/>
                    </a:lnTo>
                    <a:lnTo>
                      <a:pt x="5640596" y="7646548"/>
                    </a:lnTo>
                    <a:close/>
                  </a:path>
                </a:pathLst>
              </a:custGeom>
              <a:gradFill rotWithShape="1">
                <a:gsLst>
                  <a:gs pos="0">
                    <a:srgbClr val="FFF7AD">
                      <a:alpha val="100000"/>
                    </a:srgbClr>
                  </a:gs>
                  <a:gs pos="100000">
                    <a:srgbClr val="FFA9F9">
                      <a:alpha val="100000"/>
                    </a:srgbClr>
                  </a:gs>
                </a:gsLst>
                <a:lin ang="0"/>
              </a:gradFill>
            </p:spPr>
            <p:txBody>
              <a:bodyPr/>
              <a:lstStyle/>
              <a:p>
                <a:endParaRPr lang="en-US"/>
              </a:p>
            </p:txBody>
          </p:sp>
        </p:grpSp>
        <p:sp>
          <p:nvSpPr>
            <p:cNvPr id="12" name="TextBox 12"/>
            <p:cNvSpPr txBox="1"/>
            <p:nvPr/>
          </p:nvSpPr>
          <p:spPr>
            <a:xfrm>
              <a:off x="74458" y="3756312"/>
              <a:ext cx="4114899" cy="2914439"/>
            </a:xfrm>
            <a:prstGeom prst="rect">
              <a:avLst/>
            </a:prstGeom>
          </p:spPr>
          <p:txBody>
            <a:bodyPr lIns="0" tIns="0" rIns="0" bIns="0" rtlCol="0" anchor="t">
              <a:spAutoFit/>
            </a:bodyPr>
            <a:lstStyle/>
            <a:p>
              <a:pPr algn="ctr">
                <a:lnSpc>
                  <a:spcPts val="4339"/>
                </a:lnSpc>
              </a:pPr>
              <a:r>
                <a:rPr lang="en-US" sz="3099">
                  <a:solidFill>
                    <a:srgbClr val="FF0000"/>
                  </a:solidFill>
                  <a:latin typeface="Times New Roman Bold"/>
                  <a:hlinkClick r:id="rId2" tooltip="https://docs.google.com/spreadsheets/d/1DUF2isFWsqVSYhbaACYtbgcLi_YjDqpE3GLQIVgkKQg/edit#gid=69851113">
                    <a:extLst>
                      <a:ext uri="{A12FA001-AC4F-418D-AE19-62706E023703}">
                        <ahyp:hlinkClr xmlns:ahyp="http://schemas.microsoft.com/office/drawing/2018/hyperlinkcolor" val="tx"/>
                      </a:ext>
                    </a:extLst>
                  </a:hlinkClick>
                </a:rPr>
                <a:t> Product Differentiation Strategy.</a:t>
              </a:r>
              <a:endParaRPr lang="en-US" sz="3099">
                <a:solidFill>
                  <a:srgbClr val="FF0000"/>
                </a:solidFill>
                <a:latin typeface="Times New Roman Bold"/>
                <a:hlinkClick r:id="rId2" tooltip="https://docs.google.com/spreadsheets/d/1DUF2isFWsqVSYhbaACYtbgcLi_YjDqpE3GLQIVgkKQg/edit#gid=69851113">
                  <a:extLst>
                    <a:ext uri="{A12FA001-AC4F-418D-AE19-62706E023703}">
                      <ahyp:hlinkClr xmlns:ahyp="http://schemas.microsoft.com/office/drawing/2018/hyperlinkcolor" val="tx"/>
                    </a:ext>
                  </a:extLst>
                </a:hlinkClick>
              </a:endParaRPr>
            </a:p>
            <a:p>
              <a:pPr algn="ctr">
                <a:lnSpc>
                  <a:spcPts val="4339"/>
                </a:lnSpc>
              </a:pPr>
              <a:endParaRPr lang="en-US" sz="3099">
                <a:solidFill>
                  <a:srgbClr val="FF0000"/>
                </a:solidFill>
                <a:latin typeface="Times New Roman Bold"/>
                <a:hlinkClick r:id="rId2" tooltip="https://docs.google.com/spreadsheets/d/1DUF2isFWsqVSYhbaACYtbgcLi_YjDqpE3GLQIVgkKQg/edit#gid=69851113">
                  <a:extLst>
                    <a:ext uri="{A12FA001-AC4F-418D-AE19-62706E023703}">
                      <ahyp:hlinkClr xmlns:ahyp="http://schemas.microsoft.com/office/drawing/2018/hyperlinkcolor" val="tx"/>
                    </a:ext>
                  </a:extLst>
                </a:hlinkClick>
              </a:endParaRPr>
            </a:p>
          </p:txBody>
        </p:sp>
        <p:sp>
          <p:nvSpPr>
            <p:cNvPr id="13" name="TextBox 13"/>
            <p:cNvSpPr txBox="1"/>
            <p:nvPr/>
          </p:nvSpPr>
          <p:spPr>
            <a:xfrm>
              <a:off x="74458" y="1164161"/>
              <a:ext cx="4114899" cy="2438400"/>
            </a:xfrm>
            <a:prstGeom prst="rect">
              <a:avLst/>
            </a:prstGeom>
          </p:spPr>
          <p:txBody>
            <a:bodyPr lIns="0" tIns="0" rIns="0" bIns="0" rtlCol="0" anchor="t">
              <a:spAutoFit/>
            </a:bodyPr>
            <a:lstStyle/>
            <a:p>
              <a:pPr algn="ctr">
                <a:lnSpc>
                  <a:spcPts val="4679"/>
                </a:lnSpc>
              </a:pPr>
              <a:r>
                <a:rPr lang="en-US" sz="3899">
                  <a:solidFill>
                    <a:srgbClr val="31356E"/>
                  </a:solidFill>
                  <a:latin typeface="Times New Roman Bold"/>
                </a:rPr>
                <a:t> Stage 2 </a:t>
              </a:r>
            </a:p>
            <a:p>
              <a:pPr algn="ctr">
                <a:lnSpc>
                  <a:spcPts val="4679"/>
                </a:lnSpc>
              </a:pPr>
              <a:r>
                <a:rPr lang="en-US" sz="3899">
                  <a:solidFill>
                    <a:srgbClr val="31356E"/>
                  </a:solidFill>
                  <a:latin typeface="Times New Roman Bold"/>
                </a:rPr>
                <a:t>(2026-2028)</a:t>
              </a:r>
            </a:p>
            <a:p>
              <a:pPr algn="ctr">
                <a:lnSpc>
                  <a:spcPts val="4679"/>
                </a:lnSpc>
              </a:pPr>
              <a:endParaRPr lang="en-US" sz="3899">
                <a:solidFill>
                  <a:srgbClr val="31356E"/>
                </a:solidFill>
                <a:latin typeface="Times New Roman Bold"/>
              </a:endParaRPr>
            </a:p>
          </p:txBody>
        </p:sp>
      </p:grpSp>
      <p:grpSp>
        <p:nvGrpSpPr>
          <p:cNvPr id="14" name="Group 14"/>
          <p:cNvGrpSpPr/>
          <p:nvPr/>
        </p:nvGrpSpPr>
        <p:grpSpPr>
          <a:xfrm>
            <a:off x="9751087" y="3421392"/>
            <a:ext cx="3419458" cy="5073973"/>
            <a:chOff x="0" y="0"/>
            <a:chExt cx="4559277" cy="6765298"/>
          </a:xfrm>
        </p:grpSpPr>
        <p:sp>
          <p:nvSpPr>
            <p:cNvPr id="15" name="AutoShape 15"/>
            <p:cNvSpPr/>
            <p:nvPr/>
          </p:nvSpPr>
          <p:spPr>
            <a:xfrm>
              <a:off x="0" y="0"/>
              <a:ext cx="4559277" cy="6765298"/>
            </a:xfrm>
            <a:prstGeom prst="rect">
              <a:avLst/>
            </a:prstGeom>
            <a:gradFill rotWithShape="1">
              <a:gsLst>
                <a:gs pos="0">
                  <a:srgbClr val="E4D54F">
                    <a:alpha val="5000"/>
                  </a:srgbClr>
                </a:gs>
                <a:gs pos="100000">
                  <a:srgbClr val="EF39E2">
                    <a:alpha val="5000"/>
                  </a:srgbClr>
                </a:gs>
              </a:gsLst>
              <a:lin ang="5400000"/>
            </a:gradFill>
          </p:spPr>
          <p:txBody>
            <a:bodyPr/>
            <a:lstStyle/>
            <a:p>
              <a:endParaRPr lang="en-US"/>
            </a:p>
          </p:txBody>
        </p:sp>
        <p:grpSp>
          <p:nvGrpSpPr>
            <p:cNvPr id="16" name="Group 16"/>
            <p:cNvGrpSpPr/>
            <p:nvPr/>
          </p:nvGrpSpPr>
          <p:grpSpPr>
            <a:xfrm rot="5400000">
              <a:off x="99782" y="-99782"/>
              <a:ext cx="561161" cy="760725"/>
              <a:chOff x="0" y="0"/>
              <a:chExt cx="5640596" cy="7646548"/>
            </a:xfrm>
          </p:grpSpPr>
          <p:sp>
            <p:nvSpPr>
              <p:cNvPr id="17" name="Freeform 17"/>
              <p:cNvSpPr/>
              <p:nvPr/>
            </p:nvSpPr>
            <p:spPr>
              <a:xfrm>
                <a:off x="0" y="0"/>
                <a:ext cx="5640596" cy="7646548"/>
              </a:xfrm>
              <a:custGeom>
                <a:avLst/>
                <a:gdLst/>
                <a:ahLst/>
                <a:cxnLst/>
                <a:rect l="l" t="t" r="r" b="b"/>
                <a:pathLst>
                  <a:path w="5640596" h="7646548">
                    <a:moveTo>
                      <a:pt x="5640596" y="7646548"/>
                    </a:moveTo>
                    <a:lnTo>
                      <a:pt x="0" y="7646548"/>
                    </a:lnTo>
                    <a:lnTo>
                      <a:pt x="0" y="0"/>
                    </a:lnTo>
                    <a:lnTo>
                      <a:pt x="5640596" y="7646548"/>
                    </a:lnTo>
                    <a:close/>
                  </a:path>
                </a:pathLst>
              </a:custGeom>
              <a:gradFill rotWithShape="1">
                <a:gsLst>
                  <a:gs pos="0">
                    <a:srgbClr val="FFF7AD">
                      <a:alpha val="100000"/>
                    </a:srgbClr>
                  </a:gs>
                  <a:gs pos="100000">
                    <a:srgbClr val="FFA9F9">
                      <a:alpha val="100000"/>
                    </a:srgbClr>
                  </a:gs>
                </a:gsLst>
                <a:lin ang="0"/>
              </a:gradFill>
            </p:spPr>
            <p:txBody>
              <a:bodyPr/>
              <a:lstStyle/>
              <a:p>
                <a:endParaRPr lang="en-US"/>
              </a:p>
            </p:txBody>
          </p:sp>
        </p:grpSp>
        <p:sp>
          <p:nvSpPr>
            <p:cNvPr id="18" name="TextBox 18"/>
            <p:cNvSpPr txBox="1"/>
            <p:nvPr/>
          </p:nvSpPr>
          <p:spPr>
            <a:xfrm>
              <a:off x="37229" y="3700303"/>
              <a:ext cx="4114899" cy="2914439"/>
            </a:xfrm>
            <a:prstGeom prst="rect">
              <a:avLst/>
            </a:prstGeom>
          </p:spPr>
          <p:txBody>
            <a:bodyPr lIns="0" tIns="0" rIns="0" bIns="0" rtlCol="0" anchor="t">
              <a:spAutoFit/>
            </a:bodyPr>
            <a:lstStyle/>
            <a:p>
              <a:pPr algn="ctr">
                <a:lnSpc>
                  <a:spcPts val="4339"/>
                </a:lnSpc>
              </a:pPr>
              <a:r>
                <a:rPr lang="en-US" sz="3099" u="sng">
                  <a:solidFill>
                    <a:srgbClr val="FF0000"/>
                  </a:solidFill>
                  <a:latin typeface="Times New Roman Bold"/>
                </a:rPr>
                <a:t>Product Differentiation Strategy.</a:t>
              </a:r>
            </a:p>
            <a:p>
              <a:pPr algn="ctr">
                <a:lnSpc>
                  <a:spcPts val="4339"/>
                </a:lnSpc>
              </a:pPr>
              <a:endParaRPr lang="en-US" sz="3099" u="sng">
                <a:solidFill>
                  <a:srgbClr val="FF0000"/>
                </a:solidFill>
                <a:latin typeface="Times New Roman Bold"/>
                <a:hlinkClick r:id="rId2" tooltip="https://docs.google.com/spreadsheets/d/1DUF2isFWsqVSYhbaACYtbgcLi_YjDqpE3GLQIVgkKQg/edit#gid=69851113">
                  <a:extLst>
                    <a:ext uri="{A12FA001-AC4F-418D-AE19-62706E023703}">
                      <ahyp:hlinkClr xmlns:ahyp="http://schemas.microsoft.com/office/drawing/2018/hyperlinkcolor" val="tx"/>
                    </a:ext>
                  </a:extLst>
                </a:hlinkClick>
              </a:endParaRPr>
            </a:p>
          </p:txBody>
        </p:sp>
        <p:sp>
          <p:nvSpPr>
            <p:cNvPr id="19" name="TextBox 19"/>
            <p:cNvSpPr txBox="1"/>
            <p:nvPr/>
          </p:nvSpPr>
          <p:spPr>
            <a:xfrm>
              <a:off x="37229" y="1108151"/>
              <a:ext cx="4114899" cy="2438400"/>
            </a:xfrm>
            <a:prstGeom prst="rect">
              <a:avLst/>
            </a:prstGeom>
          </p:spPr>
          <p:txBody>
            <a:bodyPr lIns="0" tIns="0" rIns="0" bIns="0" rtlCol="0" anchor="t">
              <a:spAutoFit/>
            </a:bodyPr>
            <a:lstStyle/>
            <a:p>
              <a:pPr algn="ctr">
                <a:lnSpc>
                  <a:spcPts val="4679"/>
                </a:lnSpc>
              </a:pPr>
              <a:r>
                <a:rPr lang="en-US" sz="3899">
                  <a:solidFill>
                    <a:srgbClr val="31356E"/>
                  </a:solidFill>
                  <a:latin typeface="Times New Roman Bold"/>
                </a:rPr>
                <a:t> Stage 3 </a:t>
              </a:r>
            </a:p>
            <a:p>
              <a:pPr algn="ctr">
                <a:lnSpc>
                  <a:spcPts val="4679"/>
                </a:lnSpc>
              </a:pPr>
              <a:r>
                <a:rPr lang="en-US" sz="3899">
                  <a:solidFill>
                    <a:srgbClr val="31356E"/>
                  </a:solidFill>
                  <a:latin typeface="Times New Roman Bold"/>
                </a:rPr>
                <a:t>(2029-2031)</a:t>
              </a:r>
            </a:p>
            <a:p>
              <a:pPr algn="ctr">
                <a:lnSpc>
                  <a:spcPts val="4679"/>
                </a:lnSpc>
              </a:pPr>
              <a:endParaRPr lang="en-US" sz="3899">
                <a:solidFill>
                  <a:srgbClr val="31356E"/>
                </a:solidFill>
                <a:latin typeface="Times New Roman Bold"/>
              </a:endParaRPr>
            </a:p>
          </p:txBody>
        </p:sp>
      </p:grpSp>
      <p:grpSp>
        <p:nvGrpSpPr>
          <p:cNvPr id="20" name="Group 20"/>
          <p:cNvGrpSpPr/>
          <p:nvPr/>
        </p:nvGrpSpPr>
        <p:grpSpPr>
          <a:xfrm>
            <a:off x="13966549" y="4847469"/>
            <a:ext cx="3419458" cy="5073973"/>
            <a:chOff x="0" y="0"/>
            <a:chExt cx="4559277" cy="6765298"/>
          </a:xfrm>
        </p:grpSpPr>
        <p:sp>
          <p:nvSpPr>
            <p:cNvPr id="21" name="AutoShape 21"/>
            <p:cNvSpPr/>
            <p:nvPr/>
          </p:nvSpPr>
          <p:spPr>
            <a:xfrm>
              <a:off x="0" y="0"/>
              <a:ext cx="4559277" cy="6765298"/>
            </a:xfrm>
            <a:prstGeom prst="rect">
              <a:avLst/>
            </a:prstGeom>
            <a:gradFill rotWithShape="1">
              <a:gsLst>
                <a:gs pos="0">
                  <a:srgbClr val="E4D54F">
                    <a:alpha val="5000"/>
                  </a:srgbClr>
                </a:gs>
                <a:gs pos="100000">
                  <a:srgbClr val="EF39E2">
                    <a:alpha val="5000"/>
                  </a:srgbClr>
                </a:gs>
              </a:gsLst>
              <a:lin ang="5400000"/>
            </a:gradFill>
          </p:spPr>
          <p:txBody>
            <a:bodyPr/>
            <a:lstStyle/>
            <a:p>
              <a:endParaRPr lang="en-US"/>
            </a:p>
          </p:txBody>
        </p:sp>
        <p:grpSp>
          <p:nvGrpSpPr>
            <p:cNvPr id="22" name="Group 22"/>
            <p:cNvGrpSpPr/>
            <p:nvPr/>
          </p:nvGrpSpPr>
          <p:grpSpPr>
            <a:xfrm rot="5400000">
              <a:off x="99782" y="-99782"/>
              <a:ext cx="561161" cy="760725"/>
              <a:chOff x="0" y="0"/>
              <a:chExt cx="5640596" cy="7646548"/>
            </a:xfrm>
          </p:grpSpPr>
          <p:sp>
            <p:nvSpPr>
              <p:cNvPr id="23" name="Freeform 23"/>
              <p:cNvSpPr/>
              <p:nvPr/>
            </p:nvSpPr>
            <p:spPr>
              <a:xfrm>
                <a:off x="0" y="0"/>
                <a:ext cx="5640596" cy="7646548"/>
              </a:xfrm>
              <a:custGeom>
                <a:avLst/>
                <a:gdLst/>
                <a:ahLst/>
                <a:cxnLst/>
                <a:rect l="l" t="t" r="r" b="b"/>
                <a:pathLst>
                  <a:path w="5640596" h="7646548">
                    <a:moveTo>
                      <a:pt x="5640596" y="7646548"/>
                    </a:moveTo>
                    <a:lnTo>
                      <a:pt x="0" y="7646548"/>
                    </a:lnTo>
                    <a:lnTo>
                      <a:pt x="0" y="0"/>
                    </a:lnTo>
                    <a:lnTo>
                      <a:pt x="5640596" y="7646548"/>
                    </a:lnTo>
                    <a:close/>
                  </a:path>
                </a:pathLst>
              </a:custGeom>
              <a:gradFill rotWithShape="1">
                <a:gsLst>
                  <a:gs pos="0">
                    <a:srgbClr val="FFF7AD">
                      <a:alpha val="100000"/>
                    </a:srgbClr>
                  </a:gs>
                  <a:gs pos="100000">
                    <a:srgbClr val="FFA9F9">
                      <a:alpha val="100000"/>
                    </a:srgbClr>
                  </a:gs>
                </a:gsLst>
                <a:lin ang="0"/>
              </a:gradFill>
            </p:spPr>
            <p:txBody>
              <a:bodyPr/>
              <a:lstStyle/>
              <a:p>
                <a:endParaRPr lang="en-US"/>
              </a:p>
            </p:txBody>
          </p:sp>
        </p:grpSp>
        <p:sp>
          <p:nvSpPr>
            <p:cNvPr id="24" name="TextBox 24"/>
            <p:cNvSpPr txBox="1"/>
            <p:nvPr/>
          </p:nvSpPr>
          <p:spPr>
            <a:xfrm>
              <a:off x="275435" y="3496686"/>
              <a:ext cx="4114899" cy="2914439"/>
            </a:xfrm>
            <a:prstGeom prst="rect">
              <a:avLst/>
            </a:prstGeom>
          </p:spPr>
          <p:txBody>
            <a:bodyPr lIns="0" tIns="0" rIns="0" bIns="0" rtlCol="0" anchor="t">
              <a:spAutoFit/>
            </a:bodyPr>
            <a:lstStyle/>
            <a:p>
              <a:pPr algn="ctr">
                <a:lnSpc>
                  <a:spcPts val="4339"/>
                </a:lnSpc>
              </a:pPr>
              <a:r>
                <a:rPr lang="en-US" sz="3099" u="sng">
                  <a:solidFill>
                    <a:srgbClr val="FF0000"/>
                  </a:solidFill>
                  <a:latin typeface="Times New Roman Bold"/>
                </a:rPr>
                <a:t> Product Differentiation Strategy. </a:t>
              </a:r>
            </a:p>
            <a:p>
              <a:pPr algn="ctr">
                <a:lnSpc>
                  <a:spcPts val="4339"/>
                </a:lnSpc>
              </a:pPr>
              <a:endParaRPr lang="en-US" sz="3099" u="sng">
                <a:solidFill>
                  <a:srgbClr val="FF0000"/>
                </a:solidFill>
                <a:latin typeface="Times New Roman Bold"/>
                <a:hlinkClick r:id="rId2" tooltip="https://docs.google.com/spreadsheets/d/1DUF2isFWsqVSYhbaACYtbgcLi_YjDqpE3GLQIVgkKQg/edit#gid=69851113">
                  <a:extLst>
                    <a:ext uri="{A12FA001-AC4F-418D-AE19-62706E023703}">
                      <ahyp:hlinkClr xmlns:ahyp="http://schemas.microsoft.com/office/drawing/2018/hyperlinkcolor" val="tx"/>
                    </a:ext>
                  </a:extLst>
                </a:hlinkClick>
              </a:endParaRPr>
            </a:p>
          </p:txBody>
        </p:sp>
        <p:sp>
          <p:nvSpPr>
            <p:cNvPr id="25" name="TextBox 25"/>
            <p:cNvSpPr txBox="1"/>
            <p:nvPr/>
          </p:nvSpPr>
          <p:spPr>
            <a:xfrm>
              <a:off x="275435" y="904534"/>
              <a:ext cx="4114899" cy="2438400"/>
            </a:xfrm>
            <a:prstGeom prst="rect">
              <a:avLst/>
            </a:prstGeom>
          </p:spPr>
          <p:txBody>
            <a:bodyPr lIns="0" tIns="0" rIns="0" bIns="0" rtlCol="0" anchor="t">
              <a:spAutoFit/>
            </a:bodyPr>
            <a:lstStyle/>
            <a:p>
              <a:pPr algn="ctr">
                <a:lnSpc>
                  <a:spcPts val="4679"/>
                </a:lnSpc>
              </a:pPr>
              <a:r>
                <a:rPr lang="en-US" sz="3899">
                  <a:solidFill>
                    <a:srgbClr val="31356E"/>
                  </a:solidFill>
                  <a:latin typeface="Times New Roman Bold"/>
                </a:rPr>
                <a:t> Stage 4 </a:t>
              </a:r>
            </a:p>
            <a:p>
              <a:pPr algn="ctr">
                <a:lnSpc>
                  <a:spcPts val="4679"/>
                </a:lnSpc>
              </a:pPr>
              <a:r>
                <a:rPr lang="en-US" sz="3899">
                  <a:solidFill>
                    <a:srgbClr val="31356E"/>
                  </a:solidFill>
                  <a:latin typeface="Times New Roman Bold"/>
                </a:rPr>
                <a:t>(2032-2034)</a:t>
              </a:r>
            </a:p>
            <a:p>
              <a:pPr algn="ctr">
                <a:lnSpc>
                  <a:spcPts val="4679"/>
                </a:lnSpc>
              </a:pPr>
              <a:endParaRPr lang="en-US" sz="3899">
                <a:solidFill>
                  <a:srgbClr val="31356E"/>
                </a:solidFill>
                <a:latin typeface="Times New Roman Bold"/>
              </a:endParaRPr>
            </a:p>
          </p:txBody>
        </p:sp>
      </p:grpSp>
      <p:sp>
        <p:nvSpPr>
          <p:cNvPr id="26" name="Freeform 26"/>
          <p:cNvSpPr/>
          <p:nvPr/>
        </p:nvSpPr>
        <p:spPr>
          <a:xfrm>
            <a:off x="342785" y="283879"/>
            <a:ext cx="2204332" cy="1208210"/>
          </a:xfrm>
          <a:custGeom>
            <a:avLst/>
            <a:gdLst/>
            <a:ahLst/>
            <a:cxnLst/>
            <a:rect l="l" t="t" r="r" b="b"/>
            <a:pathLst>
              <a:path w="2204332" h="1208210">
                <a:moveTo>
                  <a:pt x="0" y="0"/>
                </a:moveTo>
                <a:lnTo>
                  <a:pt x="2204331" y="0"/>
                </a:lnTo>
                <a:lnTo>
                  <a:pt x="2204331" y="1208209"/>
                </a:lnTo>
                <a:lnTo>
                  <a:pt x="0" y="1208209"/>
                </a:lnTo>
                <a:lnTo>
                  <a:pt x="0" y="0"/>
                </a:lnTo>
                <a:close/>
              </a:path>
            </a:pathLst>
          </a:custGeom>
          <a:blipFill>
            <a:blip r:embed="rId3"/>
            <a:stretch>
              <a:fillRect t="-993" r="-757" b="-993"/>
            </a:stretch>
          </a:blipFill>
        </p:spPr>
        <p:txBody>
          <a:bodyPr/>
          <a:lstStyle/>
          <a:p>
            <a:endParaRPr lang="en-US"/>
          </a:p>
        </p:txBody>
      </p:sp>
      <p:sp>
        <p:nvSpPr>
          <p:cNvPr id="27" name="Freeform 27"/>
          <p:cNvSpPr/>
          <p:nvPr/>
        </p:nvSpPr>
        <p:spPr>
          <a:xfrm>
            <a:off x="4845767" y="794748"/>
            <a:ext cx="9120782" cy="2504069"/>
          </a:xfrm>
          <a:custGeom>
            <a:avLst/>
            <a:gdLst/>
            <a:ahLst/>
            <a:cxnLst/>
            <a:rect l="l" t="t" r="r" b="b"/>
            <a:pathLst>
              <a:path w="9120782" h="2504069">
                <a:moveTo>
                  <a:pt x="0" y="0"/>
                </a:moveTo>
                <a:lnTo>
                  <a:pt x="9120782" y="0"/>
                </a:lnTo>
                <a:lnTo>
                  <a:pt x="9120782" y="2504069"/>
                </a:lnTo>
                <a:lnTo>
                  <a:pt x="0" y="250406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8" name="TextBox 28"/>
          <p:cNvSpPr txBox="1"/>
          <p:nvPr/>
        </p:nvSpPr>
        <p:spPr>
          <a:xfrm>
            <a:off x="4576643" y="949038"/>
            <a:ext cx="9134713" cy="1504319"/>
          </a:xfrm>
          <a:prstGeom prst="rect">
            <a:avLst/>
          </a:prstGeom>
        </p:spPr>
        <p:txBody>
          <a:bodyPr lIns="0" tIns="0" rIns="0" bIns="0" rtlCol="0" anchor="t">
            <a:spAutoFit/>
          </a:bodyPr>
          <a:lstStyle/>
          <a:p>
            <a:pPr algn="ctr">
              <a:lnSpc>
                <a:spcPts val="11059"/>
              </a:lnSpc>
              <a:spcBef>
                <a:spcPct val="0"/>
              </a:spcBef>
            </a:pPr>
            <a:r>
              <a:rPr lang="en-US" sz="7899">
                <a:solidFill>
                  <a:srgbClr val="000000"/>
                </a:solidFill>
                <a:latin typeface="Times New Roman Bold"/>
              </a:rPr>
              <a:t>Competitive Strategy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2785" y="424595"/>
            <a:ext cx="2204332" cy="1208210"/>
          </a:xfrm>
          <a:custGeom>
            <a:avLst/>
            <a:gdLst/>
            <a:ahLst/>
            <a:cxnLst/>
            <a:rect l="l" t="t" r="r" b="b"/>
            <a:pathLst>
              <a:path w="2204332" h="1208210">
                <a:moveTo>
                  <a:pt x="0" y="0"/>
                </a:moveTo>
                <a:lnTo>
                  <a:pt x="2204331" y="0"/>
                </a:lnTo>
                <a:lnTo>
                  <a:pt x="2204331" y="1208210"/>
                </a:lnTo>
                <a:lnTo>
                  <a:pt x="0" y="1208210"/>
                </a:lnTo>
                <a:lnTo>
                  <a:pt x="0" y="0"/>
                </a:lnTo>
                <a:close/>
              </a:path>
            </a:pathLst>
          </a:custGeom>
          <a:blipFill>
            <a:blip r:embed="rId2"/>
            <a:stretch>
              <a:fillRect t="-993" r="-757" b="-993"/>
            </a:stretch>
          </a:blipFill>
        </p:spPr>
        <p:txBody>
          <a:bodyPr/>
          <a:lstStyle/>
          <a:p>
            <a:endParaRPr lang="en-US"/>
          </a:p>
        </p:txBody>
      </p:sp>
      <p:sp>
        <p:nvSpPr>
          <p:cNvPr id="3" name="Freeform 3"/>
          <p:cNvSpPr/>
          <p:nvPr/>
        </p:nvSpPr>
        <p:spPr>
          <a:xfrm>
            <a:off x="1584755" y="3061353"/>
            <a:ext cx="2231887" cy="2461938"/>
          </a:xfrm>
          <a:custGeom>
            <a:avLst/>
            <a:gdLst/>
            <a:ahLst/>
            <a:cxnLst/>
            <a:rect l="l" t="t" r="r" b="b"/>
            <a:pathLst>
              <a:path w="2231887" h="2461938">
                <a:moveTo>
                  <a:pt x="0" y="0"/>
                </a:moveTo>
                <a:lnTo>
                  <a:pt x="2231888" y="0"/>
                </a:lnTo>
                <a:lnTo>
                  <a:pt x="2231888" y="2461939"/>
                </a:lnTo>
                <a:lnTo>
                  <a:pt x="0" y="246193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7429105" y="4263212"/>
            <a:ext cx="1699962" cy="2520160"/>
          </a:xfrm>
          <a:custGeom>
            <a:avLst/>
            <a:gdLst/>
            <a:ahLst/>
            <a:cxnLst/>
            <a:rect l="l" t="t" r="r" b="b"/>
            <a:pathLst>
              <a:path w="1699962" h="2520160">
                <a:moveTo>
                  <a:pt x="0" y="0"/>
                </a:moveTo>
                <a:lnTo>
                  <a:pt x="1699962" y="0"/>
                </a:lnTo>
                <a:lnTo>
                  <a:pt x="1699962" y="2520160"/>
                </a:lnTo>
                <a:lnTo>
                  <a:pt x="0" y="252016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Freeform 5"/>
          <p:cNvSpPr/>
          <p:nvPr/>
        </p:nvSpPr>
        <p:spPr>
          <a:xfrm>
            <a:off x="12804877" y="2413448"/>
            <a:ext cx="2900362" cy="2900362"/>
          </a:xfrm>
          <a:custGeom>
            <a:avLst/>
            <a:gdLst/>
            <a:ahLst/>
            <a:cxnLst/>
            <a:rect l="l" t="t" r="r" b="b"/>
            <a:pathLst>
              <a:path w="2900362" h="2900362">
                <a:moveTo>
                  <a:pt x="0" y="0"/>
                </a:moveTo>
                <a:lnTo>
                  <a:pt x="2900363" y="0"/>
                </a:lnTo>
                <a:lnTo>
                  <a:pt x="2900363" y="2900362"/>
                </a:lnTo>
                <a:lnTo>
                  <a:pt x="0" y="29003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6" name="TextBox 6"/>
          <p:cNvSpPr txBox="1"/>
          <p:nvPr/>
        </p:nvSpPr>
        <p:spPr>
          <a:xfrm>
            <a:off x="3661905" y="1470541"/>
            <a:ext cx="10934324" cy="629339"/>
          </a:xfrm>
          <a:prstGeom prst="rect">
            <a:avLst/>
          </a:prstGeom>
        </p:spPr>
        <p:txBody>
          <a:bodyPr lIns="0" tIns="0" rIns="0" bIns="0" rtlCol="0" anchor="t">
            <a:spAutoFit/>
          </a:bodyPr>
          <a:lstStyle/>
          <a:p>
            <a:pPr algn="ctr">
              <a:lnSpc>
                <a:spcPts val="5159"/>
              </a:lnSpc>
            </a:pPr>
            <a:r>
              <a:rPr lang="en-US" sz="4299">
                <a:solidFill>
                  <a:srgbClr val="31356E"/>
                </a:solidFill>
                <a:latin typeface="Times New Roman Bold"/>
              </a:rPr>
              <a:t> Stage 1 (2024-2025): </a:t>
            </a:r>
            <a:r>
              <a:rPr lang="en-US" sz="4299" u="sng">
                <a:solidFill>
                  <a:srgbClr val="0070C0"/>
                </a:solidFill>
                <a:latin typeface="Times New Roman Bold"/>
              </a:rPr>
              <a:t>Focus on Strategy</a:t>
            </a:r>
            <a:endParaRPr lang="en-US" sz="4299" u="sng">
              <a:solidFill>
                <a:srgbClr val="0070C0"/>
              </a:solidFill>
              <a:latin typeface="Times New Roman Bold"/>
              <a:hlinkClick r:id="rId9" tooltip="https://docs.google.com/spreadsheets/d/1DUF2isFWsqVSYhbaACYtbgcLi_YjDqpE3GLQIVgkKQg/edit#gid=69851113">
                <a:extLst>
                  <a:ext uri="{A12FA001-AC4F-418D-AE19-62706E023703}">
                    <ahyp:hlinkClr xmlns:ahyp="http://schemas.microsoft.com/office/drawing/2018/hyperlinkcolor" val="tx"/>
                  </a:ext>
                </a:extLst>
              </a:hlinkClick>
            </a:endParaRPr>
          </a:p>
        </p:txBody>
      </p:sp>
      <p:sp>
        <p:nvSpPr>
          <p:cNvPr id="7" name="TextBox 7"/>
          <p:cNvSpPr txBox="1"/>
          <p:nvPr/>
        </p:nvSpPr>
        <p:spPr>
          <a:xfrm>
            <a:off x="10222117" y="5380417"/>
            <a:ext cx="8065883" cy="2020571"/>
          </a:xfrm>
          <a:prstGeom prst="rect">
            <a:avLst/>
          </a:prstGeom>
        </p:spPr>
        <p:txBody>
          <a:bodyPr lIns="0" tIns="0" rIns="0" bIns="0" rtlCol="0" anchor="t">
            <a:spAutoFit/>
          </a:bodyPr>
          <a:lstStyle/>
          <a:p>
            <a:pPr algn="just">
              <a:lnSpc>
                <a:spcPts val="5179"/>
              </a:lnSpc>
            </a:pPr>
            <a:r>
              <a:rPr lang="en-US" sz="3699">
                <a:solidFill>
                  <a:srgbClr val="000000"/>
                </a:solidFill>
                <a:latin typeface="Times New Roman Bold"/>
              </a:rPr>
              <a:t>Upgrade and develop </a:t>
            </a:r>
            <a:r>
              <a:rPr lang="en-US" sz="3699">
                <a:solidFill>
                  <a:srgbClr val="000000"/>
                </a:solidFill>
                <a:latin typeface="Times New Roman"/>
              </a:rPr>
              <a:t>large facilities</a:t>
            </a:r>
          </a:p>
          <a:p>
            <a:pPr algn="just">
              <a:lnSpc>
                <a:spcPts val="5179"/>
              </a:lnSpc>
              <a:spcBef>
                <a:spcPct val="0"/>
              </a:spcBef>
            </a:pPr>
            <a:r>
              <a:rPr lang="en-US" sz="3699">
                <a:solidFill>
                  <a:srgbClr val="000000"/>
                </a:solidFill>
                <a:latin typeface="Times New Roman"/>
              </a:rPr>
              <a:t>        Convenient for opening branches in the future</a:t>
            </a:r>
          </a:p>
        </p:txBody>
      </p:sp>
      <p:sp>
        <p:nvSpPr>
          <p:cNvPr id="8" name="TextBox 8"/>
          <p:cNvSpPr txBox="1"/>
          <p:nvPr/>
        </p:nvSpPr>
        <p:spPr>
          <a:xfrm>
            <a:off x="342785" y="5885516"/>
            <a:ext cx="4207668" cy="1200150"/>
          </a:xfrm>
          <a:prstGeom prst="rect">
            <a:avLst/>
          </a:prstGeom>
        </p:spPr>
        <p:txBody>
          <a:bodyPr lIns="0" tIns="0" rIns="0" bIns="0" rtlCol="0" anchor="t">
            <a:spAutoFit/>
          </a:bodyPr>
          <a:lstStyle/>
          <a:p>
            <a:pPr algn="just">
              <a:lnSpc>
                <a:spcPts val="4439"/>
              </a:lnSpc>
            </a:pPr>
            <a:r>
              <a:rPr lang="en-US" sz="3699">
                <a:solidFill>
                  <a:srgbClr val="000000"/>
                </a:solidFill>
                <a:latin typeface="Times New Roman Bold"/>
              </a:rPr>
              <a:t>Design and test-run</a:t>
            </a:r>
            <a:r>
              <a:rPr lang="en-US" sz="3699">
                <a:solidFill>
                  <a:srgbClr val="000000"/>
                </a:solidFill>
                <a:latin typeface="Times New Roman"/>
              </a:rPr>
              <a:t> a few rooms </a:t>
            </a:r>
          </a:p>
        </p:txBody>
      </p:sp>
      <p:sp>
        <p:nvSpPr>
          <p:cNvPr id="9" name="TextBox 9"/>
          <p:cNvSpPr txBox="1"/>
          <p:nvPr/>
        </p:nvSpPr>
        <p:spPr>
          <a:xfrm>
            <a:off x="5086713" y="7459171"/>
            <a:ext cx="5940699" cy="2324100"/>
          </a:xfrm>
          <a:prstGeom prst="rect">
            <a:avLst/>
          </a:prstGeom>
        </p:spPr>
        <p:txBody>
          <a:bodyPr lIns="0" tIns="0" rIns="0" bIns="0" rtlCol="0" anchor="t">
            <a:spAutoFit/>
          </a:bodyPr>
          <a:lstStyle/>
          <a:p>
            <a:pPr algn="ctr">
              <a:lnSpc>
                <a:spcPts val="4439"/>
              </a:lnSpc>
            </a:pPr>
            <a:r>
              <a:rPr lang="en-US" sz="3699">
                <a:solidFill>
                  <a:srgbClr val="000000"/>
                </a:solidFill>
                <a:latin typeface="Times New Roman Bold"/>
              </a:rPr>
              <a:t>Track and calculate </a:t>
            </a:r>
          </a:p>
          <a:p>
            <a:pPr algn="just">
              <a:lnSpc>
                <a:spcPts val="4439"/>
              </a:lnSpc>
              <a:spcBef>
                <a:spcPct val="0"/>
              </a:spcBef>
            </a:pPr>
            <a:r>
              <a:rPr lang="en-US" sz="3699">
                <a:solidFill>
                  <a:srgbClr val="000000"/>
                </a:solidFill>
                <a:latin typeface="Times New Roman Bold"/>
              </a:rPr>
              <a:t>  Apply</a:t>
            </a:r>
            <a:r>
              <a:rPr lang="en-US" sz="3699">
                <a:solidFill>
                  <a:srgbClr val="000000"/>
                </a:solidFill>
                <a:latin typeface="Times New Roman"/>
              </a:rPr>
              <a:t> the model of </a:t>
            </a:r>
            <a:r>
              <a:rPr lang="en-US" sz="3699">
                <a:solidFill>
                  <a:srgbClr val="000000"/>
                </a:solidFill>
                <a:latin typeface="Times New Roman Bold"/>
              </a:rPr>
              <a:t>highly booked rooms</a:t>
            </a:r>
            <a:r>
              <a:rPr lang="en-US" sz="3699">
                <a:solidFill>
                  <a:srgbClr val="000000"/>
                </a:solidFill>
                <a:latin typeface="Times New Roman"/>
              </a:rPr>
              <a:t> to </a:t>
            </a:r>
            <a:r>
              <a:rPr lang="en-US" sz="3699">
                <a:solidFill>
                  <a:srgbClr val="000000"/>
                </a:solidFill>
                <a:latin typeface="Times New Roman Bold"/>
              </a:rPr>
              <a:t>low booked rooms</a:t>
            </a:r>
          </a:p>
        </p:txBody>
      </p:sp>
      <p:sp>
        <p:nvSpPr>
          <p:cNvPr id="10" name="AutoShape 10"/>
          <p:cNvSpPr/>
          <p:nvPr/>
        </p:nvSpPr>
        <p:spPr>
          <a:xfrm>
            <a:off x="4820665" y="8365067"/>
            <a:ext cx="556055" cy="19050"/>
          </a:xfrm>
          <a:prstGeom prst="line">
            <a:avLst/>
          </a:prstGeom>
          <a:ln w="38100" cap="flat">
            <a:solidFill>
              <a:srgbClr val="000000"/>
            </a:solidFill>
            <a:prstDash val="solid"/>
            <a:headEnd type="none" w="sm" len="sm"/>
            <a:tailEnd type="arrow" w="med" len="sm"/>
          </a:ln>
        </p:spPr>
        <p:txBody>
          <a:bodyPr/>
          <a:lstStyle/>
          <a:p>
            <a:endParaRPr lang="en-US"/>
          </a:p>
        </p:txBody>
      </p:sp>
      <p:sp>
        <p:nvSpPr>
          <p:cNvPr id="11" name="AutoShape 11"/>
          <p:cNvSpPr/>
          <p:nvPr/>
        </p:nvSpPr>
        <p:spPr>
          <a:xfrm>
            <a:off x="10422074" y="6400862"/>
            <a:ext cx="719638" cy="0"/>
          </a:xfrm>
          <a:prstGeom prst="line">
            <a:avLst/>
          </a:prstGeom>
          <a:ln w="38100" cap="flat">
            <a:solidFill>
              <a:srgbClr val="000000"/>
            </a:solidFill>
            <a:prstDash val="solid"/>
            <a:headEnd type="none" w="sm" len="sm"/>
            <a:tailEnd type="arrow" w="med" len="sm"/>
          </a:ln>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2785" y="424595"/>
            <a:ext cx="2204332" cy="1208210"/>
          </a:xfrm>
          <a:custGeom>
            <a:avLst/>
            <a:gdLst/>
            <a:ahLst/>
            <a:cxnLst/>
            <a:rect l="l" t="t" r="r" b="b"/>
            <a:pathLst>
              <a:path w="2204332" h="1208210">
                <a:moveTo>
                  <a:pt x="0" y="0"/>
                </a:moveTo>
                <a:lnTo>
                  <a:pt x="2204331" y="0"/>
                </a:lnTo>
                <a:lnTo>
                  <a:pt x="2204331" y="1208210"/>
                </a:lnTo>
                <a:lnTo>
                  <a:pt x="0" y="1208210"/>
                </a:lnTo>
                <a:lnTo>
                  <a:pt x="0" y="0"/>
                </a:lnTo>
                <a:close/>
              </a:path>
            </a:pathLst>
          </a:custGeom>
          <a:blipFill>
            <a:blip r:embed="rId2"/>
            <a:stretch>
              <a:fillRect t="-993" r="-757" b="-993"/>
            </a:stretch>
          </a:blipFill>
        </p:spPr>
        <p:txBody>
          <a:bodyPr/>
          <a:lstStyle/>
          <a:p>
            <a:endParaRPr lang="en-US"/>
          </a:p>
        </p:txBody>
      </p:sp>
      <p:sp>
        <p:nvSpPr>
          <p:cNvPr id="3" name="Freeform 3"/>
          <p:cNvSpPr/>
          <p:nvPr/>
        </p:nvSpPr>
        <p:spPr>
          <a:xfrm>
            <a:off x="1444951" y="6732385"/>
            <a:ext cx="2629379" cy="2861286"/>
          </a:xfrm>
          <a:custGeom>
            <a:avLst/>
            <a:gdLst/>
            <a:ahLst/>
            <a:cxnLst/>
            <a:rect l="l" t="t" r="r" b="b"/>
            <a:pathLst>
              <a:path w="2629379" h="2861286">
                <a:moveTo>
                  <a:pt x="0" y="0"/>
                </a:moveTo>
                <a:lnTo>
                  <a:pt x="2629379" y="0"/>
                </a:lnTo>
                <a:lnTo>
                  <a:pt x="2629379" y="2861286"/>
                </a:lnTo>
                <a:lnTo>
                  <a:pt x="0" y="286128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4" name="Freeform 4"/>
          <p:cNvSpPr/>
          <p:nvPr/>
        </p:nvSpPr>
        <p:spPr>
          <a:xfrm>
            <a:off x="7783302" y="4178241"/>
            <a:ext cx="2721395" cy="2373289"/>
          </a:xfrm>
          <a:custGeom>
            <a:avLst/>
            <a:gdLst/>
            <a:ahLst/>
            <a:cxnLst/>
            <a:rect l="l" t="t" r="r" b="b"/>
            <a:pathLst>
              <a:path w="2721395" h="2373289">
                <a:moveTo>
                  <a:pt x="0" y="0"/>
                </a:moveTo>
                <a:lnTo>
                  <a:pt x="2721396" y="0"/>
                </a:lnTo>
                <a:lnTo>
                  <a:pt x="2721396" y="2373289"/>
                </a:lnTo>
                <a:lnTo>
                  <a:pt x="0" y="23732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Freeform 5"/>
          <p:cNvSpPr/>
          <p:nvPr/>
        </p:nvSpPr>
        <p:spPr>
          <a:xfrm>
            <a:off x="13821714" y="6977970"/>
            <a:ext cx="2615700" cy="2615700"/>
          </a:xfrm>
          <a:custGeom>
            <a:avLst/>
            <a:gdLst/>
            <a:ahLst/>
            <a:cxnLst/>
            <a:rect l="l" t="t" r="r" b="b"/>
            <a:pathLst>
              <a:path w="2615700" h="2615700">
                <a:moveTo>
                  <a:pt x="0" y="0"/>
                </a:moveTo>
                <a:lnTo>
                  <a:pt x="2615701" y="0"/>
                </a:lnTo>
                <a:lnTo>
                  <a:pt x="2615701" y="2615701"/>
                </a:lnTo>
                <a:lnTo>
                  <a:pt x="0" y="261570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6" name="TextBox 6"/>
          <p:cNvSpPr txBox="1"/>
          <p:nvPr/>
        </p:nvSpPr>
        <p:spPr>
          <a:xfrm>
            <a:off x="3056372" y="1254213"/>
            <a:ext cx="12899701" cy="1857375"/>
          </a:xfrm>
          <a:prstGeom prst="rect">
            <a:avLst/>
          </a:prstGeom>
        </p:spPr>
        <p:txBody>
          <a:bodyPr lIns="0" tIns="0" rIns="0" bIns="0" rtlCol="0" anchor="t">
            <a:spAutoFit/>
          </a:bodyPr>
          <a:lstStyle/>
          <a:p>
            <a:pPr algn="ctr">
              <a:lnSpc>
                <a:spcPts val="4679"/>
              </a:lnSpc>
            </a:pPr>
            <a:endParaRPr/>
          </a:p>
          <a:p>
            <a:pPr algn="ctr">
              <a:lnSpc>
                <a:spcPts val="4799"/>
              </a:lnSpc>
            </a:pPr>
            <a:r>
              <a:rPr lang="en-US" sz="3999">
                <a:solidFill>
                  <a:srgbClr val="31356E"/>
                </a:solidFill>
                <a:latin typeface="Times New Roman Bold"/>
              </a:rPr>
              <a:t>Stage 2 (2026-2028): </a:t>
            </a:r>
            <a:r>
              <a:rPr lang="en-US" sz="3999" u="sng">
                <a:solidFill>
                  <a:srgbClr val="0070C0"/>
                </a:solidFill>
                <a:latin typeface="Times New Roman Bold"/>
              </a:rPr>
              <a:t>Product Differentiation Strategy.</a:t>
            </a:r>
          </a:p>
          <a:p>
            <a:pPr algn="ctr">
              <a:lnSpc>
                <a:spcPts val="4679"/>
              </a:lnSpc>
            </a:pPr>
            <a:endParaRPr lang="en-US" sz="3999" u="sng">
              <a:solidFill>
                <a:srgbClr val="31356E"/>
              </a:solidFill>
              <a:latin typeface="Times New Roman Bold"/>
            </a:endParaRPr>
          </a:p>
        </p:txBody>
      </p:sp>
      <p:sp>
        <p:nvSpPr>
          <p:cNvPr id="7" name="TextBox 7"/>
          <p:cNvSpPr txBox="1"/>
          <p:nvPr/>
        </p:nvSpPr>
        <p:spPr>
          <a:xfrm>
            <a:off x="-10165" y="2558023"/>
            <a:ext cx="7145887" cy="3697605"/>
          </a:xfrm>
          <a:prstGeom prst="rect">
            <a:avLst/>
          </a:prstGeom>
        </p:spPr>
        <p:txBody>
          <a:bodyPr lIns="0" tIns="0" rIns="0" bIns="0" rtlCol="0" anchor="t">
            <a:spAutoFit/>
          </a:bodyPr>
          <a:lstStyle/>
          <a:p>
            <a:pPr algn="just">
              <a:lnSpc>
                <a:spcPts val="4900"/>
              </a:lnSpc>
            </a:pPr>
            <a:endParaRPr/>
          </a:p>
          <a:p>
            <a:pPr marL="755651" lvl="1" indent="-377825" algn="just">
              <a:lnSpc>
                <a:spcPts val="4900"/>
              </a:lnSpc>
              <a:buFont typeface="Arial"/>
              <a:buChar char="•"/>
            </a:pPr>
            <a:r>
              <a:rPr lang="en-US" sz="3500">
                <a:solidFill>
                  <a:srgbClr val="000000"/>
                </a:solidFill>
                <a:latin typeface="Times New Roman Bold"/>
              </a:rPr>
              <a:t>Improving</a:t>
            </a:r>
            <a:r>
              <a:rPr lang="en-US" sz="3500">
                <a:solidFill>
                  <a:srgbClr val="000000"/>
                </a:solidFill>
                <a:latin typeface="Times New Roman"/>
              </a:rPr>
              <a:t> customer experience</a:t>
            </a:r>
          </a:p>
          <a:p>
            <a:pPr marL="755651" lvl="1" indent="-377825" algn="just">
              <a:lnSpc>
                <a:spcPts val="4900"/>
              </a:lnSpc>
              <a:buFont typeface="Arial"/>
              <a:buChar char="•"/>
            </a:pPr>
            <a:r>
              <a:rPr lang="en-US" sz="3500">
                <a:solidFill>
                  <a:srgbClr val="000000"/>
                </a:solidFill>
                <a:latin typeface="Times New Roman Bold"/>
              </a:rPr>
              <a:t>Applying</a:t>
            </a:r>
            <a:r>
              <a:rPr lang="en-US" sz="3500">
                <a:solidFill>
                  <a:srgbClr val="000000"/>
                </a:solidFill>
                <a:latin typeface="Times New Roman"/>
              </a:rPr>
              <a:t> artificial intelligence and data to provide personalized experiences.</a:t>
            </a:r>
          </a:p>
          <a:p>
            <a:pPr algn="just">
              <a:lnSpc>
                <a:spcPts val="4340"/>
              </a:lnSpc>
              <a:spcBef>
                <a:spcPct val="0"/>
              </a:spcBef>
            </a:pPr>
            <a:endParaRPr lang="en-US" sz="3500">
              <a:solidFill>
                <a:srgbClr val="000000"/>
              </a:solidFill>
              <a:latin typeface="Times New Roman"/>
            </a:endParaRPr>
          </a:p>
        </p:txBody>
      </p:sp>
      <p:sp>
        <p:nvSpPr>
          <p:cNvPr id="8" name="TextBox 8"/>
          <p:cNvSpPr txBox="1"/>
          <p:nvPr/>
        </p:nvSpPr>
        <p:spPr>
          <a:xfrm>
            <a:off x="6356773" y="6804683"/>
            <a:ext cx="5519950" cy="2886075"/>
          </a:xfrm>
          <a:prstGeom prst="rect">
            <a:avLst/>
          </a:prstGeom>
        </p:spPr>
        <p:txBody>
          <a:bodyPr lIns="0" tIns="0" rIns="0" bIns="0" rtlCol="0" anchor="t">
            <a:spAutoFit/>
          </a:bodyPr>
          <a:lstStyle/>
          <a:p>
            <a:pPr marL="798828" lvl="1" indent="-399414" algn="just">
              <a:lnSpc>
                <a:spcPts val="4439"/>
              </a:lnSpc>
              <a:buFont typeface="Arial"/>
              <a:buChar char="•"/>
            </a:pPr>
            <a:r>
              <a:rPr lang="en-US" sz="3699">
                <a:solidFill>
                  <a:srgbClr val="000000"/>
                </a:solidFill>
                <a:latin typeface="Times New Roman Bold"/>
              </a:rPr>
              <a:t>Bringing</a:t>
            </a:r>
            <a:r>
              <a:rPr lang="en-US" sz="3699">
                <a:solidFill>
                  <a:srgbClr val="000000"/>
                </a:solidFill>
                <a:latin typeface="Times New Roman"/>
              </a:rPr>
              <a:t> virtual reality tours for customers to explore.</a:t>
            </a:r>
          </a:p>
          <a:p>
            <a:pPr algn="just">
              <a:lnSpc>
                <a:spcPts val="4439"/>
              </a:lnSpc>
              <a:spcBef>
                <a:spcPct val="0"/>
              </a:spcBef>
            </a:pPr>
            <a:endParaRPr lang="en-US" sz="3699">
              <a:solidFill>
                <a:srgbClr val="000000"/>
              </a:solidFill>
              <a:latin typeface="Times New Roman"/>
            </a:endParaRPr>
          </a:p>
          <a:p>
            <a:pPr algn="just">
              <a:lnSpc>
                <a:spcPts val="4439"/>
              </a:lnSpc>
              <a:spcBef>
                <a:spcPct val="0"/>
              </a:spcBef>
            </a:pPr>
            <a:endParaRPr lang="en-US" sz="3699">
              <a:solidFill>
                <a:srgbClr val="000000"/>
              </a:solidFill>
              <a:latin typeface="Times New Roman"/>
            </a:endParaRPr>
          </a:p>
        </p:txBody>
      </p:sp>
      <p:sp>
        <p:nvSpPr>
          <p:cNvPr id="9" name="TextBox 9"/>
          <p:cNvSpPr txBox="1"/>
          <p:nvPr/>
        </p:nvSpPr>
        <p:spPr>
          <a:xfrm>
            <a:off x="11876722" y="2997125"/>
            <a:ext cx="6411278" cy="2886075"/>
          </a:xfrm>
          <a:prstGeom prst="rect">
            <a:avLst/>
          </a:prstGeom>
        </p:spPr>
        <p:txBody>
          <a:bodyPr lIns="0" tIns="0" rIns="0" bIns="0" rtlCol="0" anchor="t">
            <a:spAutoFit/>
          </a:bodyPr>
          <a:lstStyle/>
          <a:p>
            <a:pPr marL="798828" lvl="1" indent="-399414" algn="just">
              <a:lnSpc>
                <a:spcPts val="4439"/>
              </a:lnSpc>
              <a:buFont typeface="Arial"/>
              <a:buChar char="•"/>
            </a:pPr>
            <a:r>
              <a:rPr lang="en-US" sz="3699">
                <a:solidFill>
                  <a:srgbClr val="000000"/>
                </a:solidFill>
                <a:latin typeface="Times New Roman Bold"/>
              </a:rPr>
              <a:t>Integrating</a:t>
            </a:r>
            <a:r>
              <a:rPr lang="en-US" sz="3699">
                <a:solidFill>
                  <a:srgbClr val="000000"/>
                </a:solidFill>
                <a:latin typeface="Times New Roman"/>
              </a:rPr>
              <a:t> IOT to automate utilities in the room slowly </a:t>
            </a:r>
            <a:r>
              <a:rPr lang="en-US" sz="3699">
                <a:solidFill>
                  <a:srgbClr val="000000"/>
                </a:solidFill>
                <a:latin typeface="Times New Roman Bold"/>
              </a:rPr>
              <a:t>adjusts</a:t>
            </a:r>
            <a:r>
              <a:rPr lang="en-US" sz="3699">
                <a:solidFill>
                  <a:srgbClr val="000000"/>
                </a:solidFill>
                <a:latin typeface="Times New Roman"/>
              </a:rPr>
              <a:t> the </a:t>
            </a:r>
            <a:r>
              <a:rPr lang="en-US" sz="3699">
                <a:solidFill>
                  <a:srgbClr val="000000"/>
                </a:solidFill>
                <a:latin typeface="Times New Roman Bold"/>
              </a:rPr>
              <a:t>light</a:t>
            </a:r>
            <a:r>
              <a:rPr lang="en-US" sz="3699">
                <a:solidFill>
                  <a:srgbClr val="000000"/>
                </a:solidFill>
                <a:latin typeface="Times New Roman"/>
              </a:rPr>
              <a:t> and </a:t>
            </a:r>
            <a:r>
              <a:rPr lang="en-US" sz="3699">
                <a:solidFill>
                  <a:srgbClr val="000000"/>
                </a:solidFill>
                <a:latin typeface="Times New Roman Bold"/>
              </a:rPr>
              <a:t>temperature</a:t>
            </a:r>
            <a:r>
              <a:rPr lang="en-US" sz="3699">
                <a:solidFill>
                  <a:srgbClr val="000000"/>
                </a:solidFill>
                <a:latin typeface="Times New Roman"/>
              </a:rPr>
              <a:t> from the </a:t>
            </a:r>
            <a:r>
              <a:rPr lang="en-US" sz="3699">
                <a:solidFill>
                  <a:srgbClr val="000000"/>
                </a:solidFill>
                <a:latin typeface="Times New Roman Bold"/>
              </a:rPr>
              <a:t>air conditioner.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2785" y="424595"/>
            <a:ext cx="2204332" cy="1208210"/>
          </a:xfrm>
          <a:custGeom>
            <a:avLst/>
            <a:gdLst/>
            <a:ahLst/>
            <a:cxnLst/>
            <a:rect l="l" t="t" r="r" b="b"/>
            <a:pathLst>
              <a:path w="2204332" h="1208210">
                <a:moveTo>
                  <a:pt x="0" y="0"/>
                </a:moveTo>
                <a:lnTo>
                  <a:pt x="2204331" y="0"/>
                </a:lnTo>
                <a:lnTo>
                  <a:pt x="2204331" y="1208210"/>
                </a:lnTo>
                <a:lnTo>
                  <a:pt x="0" y="1208210"/>
                </a:lnTo>
                <a:lnTo>
                  <a:pt x="0" y="0"/>
                </a:lnTo>
                <a:close/>
              </a:path>
            </a:pathLst>
          </a:custGeom>
          <a:blipFill>
            <a:blip r:embed="rId2"/>
            <a:stretch>
              <a:fillRect t="-993" r="-757" b="-993"/>
            </a:stretch>
          </a:blipFill>
        </p:spPr>
        <p:txBody>
          <a:bodyPr/>
          <a:lstStyle/>
          <a:p>
            <a:endParaRPr lang="en-US"/>
          </a:p>
        </p:txBody>
      </p:sp>
      <p:sp>
        <p:nvSpPr>
          <p:cNvPr id="3" name="Freeform 3"/>
          <p:cNvSpPr/>
          <p:nvPr/>
        </p:nvSpPr>
        <p:spPr>
          <a:xfrm>
            <a:off x="2547116" y="3579426"/>
            <a:ext cx="2890133" cy="2364500"/>
          </a:xfrm>
          <a:custGeom>
            <a:avLst/>
            <a:gdLst/>
            <a:ahLst/>
            <a:cxnLst/>
            <a:rect l="l" t="t" r="r" b="b"/>
            <a:pathLst>
              <a:path w="2890133" h="2364500">
                <a:moveTo>
                  <a:pt x="0" y="0"/>
                </a:moveTo>
                <a:lnTo>
                  <a:pt x="2890133" y="0"/>
                </a:lnTo>
                <a:lnTo>
                  <a:pt x="2890133" y="2364500"/>
                </a:lnTo>
                <a:lnTo>
                  <a:pt x="0" y="23645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11886813" y="3332763"/>
            <a:ext cx="3014306" cy="2970113"/>
          </a:xfrm>
          <a:custGeom>
            <a:avLst/>
            <a:gdLst/>
            <a:ahLst/>
            <a:cxnLst/>
            <a:rect l="l" t="t" r="r" b="b"/>
            <a:pathLst>
              <a:path w="3014306" h="2970113">
                <a:moveTo>
                  <a:pt x="0" y="0"/>
                </a:moveTo>
                <a:lnTo>
                  <a:pt x="3014306" y="0"/>
                </a:lnTo>
                <a:lnTo>
                  <a:pt x="3014306" y="2970113"/>
                </a:lnTo>
                <a:lnTo>
                  <a:pt x="0" y="297011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TextBox 5"/>
          <p:cNvSpPr txBox="1"/>
          <p:nvPr/>
        </p:nvSpPr>
        <p:spPr>
          <a:xfrm>
            <a:off x="3254739" y="942975"/>
            <a:ext cx="12502966" cy="1943100"/>
          </a:xfrm>
          <a:prstGeom prst="rect">
            <a:avLst/>
          </a:prstGeom>
        </p:spPr>
        <p:txBody>
          <a:bodyPr lIns="0" tIns="0" rIns="0" bIns="0" rtlCol="0" anchor="t">
            <a:spAutoFit/>
          </a:bodyPr>
          <a:lstStyle/>
          <a:p>
            <a:pPr algn="ctr">
              <a:lnSpc>
                <a:spcPts val="4919"/>
              </a:lnSpc>
            </a:pPr>
            <a:endParaRPr/>
          </a:p>
          <a:p>
            <a:pPr algn="ctr">
              <a:lnSpc>
                <a:spcPts val="4919"/>
              </a:lnSpc>
            </a:pPr>
            <a:r>
              <a:rPr lang="en-US" sz="4099">
                <a:solidFill>
                  <a:srgbClr val="31356E"/>
                </a:solidFill>
                <a:latin typeface="Times New Roman Bold"/>
              </a:rPr>
              <a:t>Stage 3 (2029-2031):</a:t>
            </a:r>
            <a:r>
              <a:rPr lang="en-US" sz="4099" u="sng">
                <a:solidFill>
                  <a:srgbClr val="31356E"/>
                </a:solidFill>
                <a:latin typeface="Times New Roman Bold"/>
              </a:rPr>
              <a:t> </a:t>
            </a:r>
            <a:r>
              <a:rPr lang="en-US" sz="4099" u="sng">
                <a:solidFill>
                  <a:srgbClr val="0070C0"/>
                </a:solidFill>
                <a:latin typeface="Times New Roman Bold"/>
              </a:rPr>
              <a:t>Product Differentiation Strategy.</a:t>
            </a:r>
          </a:p>
          <a:p>
            <a:pPr algn="ctr">
              <a:lnSpc>
                <a:spcPts val="4919"/>
              </a:lnSpc>
            </a:pPr>
            <a:endParaRPr lang="en-US" sz="4099" u="sng">
              <a:solidFill>
                <a:srgbClr val="31356E"/>
              </a:solidFill>
              <a:latin typeface="Times New Roman Bold"/>
            </a:endParaRPr>
          </a:p>
        </p:txBody>
      </p:sp>
      <p:sp>
        <p:nvSpPr>
          <p:cNvPr id="6" name="TextBox 6"/>
          <p:cNvSpPr txBox="1"/>
          <p:nvPr/>
        </p:nvSpPr>
        <p:spPr>
          <a:xfrm>
            <a:off x="342785" y="6440804"/>
            <a:ext cx="8304750" cy="3483864"/>
          </a:xfrm>
          <a:prstGeom prst="rect">
            <a:avLst/>
          </a:prstGeom>
        </p:spPr>
        <p:txBody>
          <a:bodyPr lIns="0" tIns="0" rIns="0" bIns="0" rtlCol="0" anchor="t">
            <a:spAutoFit/>
          </a:bodyPr>
          <a:lstStyle/>
          <a:p>
            <a:pPr marL="859283" lvl="1" indent="-429641" algn="just">
              <a:lnSpc>
                <a:spcPts val="5572"/>
              </a:lnSpc>
              <a:buFont typeface="Arial"/>
              <a:buChar char="•"/>
            </a:pPr>
            <a:r>
              <a:rPr lang="en-US" sz="3980">
                <a:solidFill>
                  <a:srgbClr val="000000"/>
                </a:solidFill>
                <a:latin typeface="Times New Roman Bold"/>
              </a:rPr>
              <a:t>Signing</a:t>
            </a:r>
            <a:r>
              <a:rPr lang="en-US" sz="3980">
                <a:solidFill>
                  <a:srgbClr val="000000"/>
                </a:solidFill>
                <a:latin typeface="Times New Roman"/>
              </a:rPr>
              <a:t> with businesses, tourism parties to get a </a:t>
            </a:r>
            <a:r>
              <a:rPr lang="en-US" sz="3980">
                <a:solidFill>
                  <a:srgbClr val="000000"/>
                </a:solidFill>
                <a:latin typeface="Times New Roman Bold"/>
              </a:rPr>
              <a:t>solid number</a:t>
            </a:r>
            <a:r>
              <a:rPr lang="en-US" sz="3980">
                <a:solidFill>
                  <a:srgbClr val="000000"/>
                </a:solidFill>
                <a:latin typeface="Times New Roman"/>
              </a:rPr>
              <a:t> of customers.</a:t>
            </a:r>
          </a:p>
          <a:p>
            <a:pPr algn="just">
              <a:lnSpc>
                <a:spcPts val="5179"/>
              </a:lnSpc>
            </a:pPr>
            <a:endParaRPr lang="en-US" sz="3980">
              <a:solidFill>
                <a:srgbClr val="000000"/>
              </a:solidFill>
              <a:latin typeface="Times New Roman"/>
            </a:endParaRPr>
          </a:p>
          <a:p>
            <a:pPr algn="just">
              <a:lnSpc>
                <a:spcPts val="5179"/>
              </a:lnSpc>
              <a:spcBef>
                <a:spcPct val="0"/>
              </a:spcBef>
            </a:pPr>
            <a:endParaRPr lang="en-US" sz="3980">
              <a:solidFill>
                <a:srgbClr val="000000"/>
              </a:solidFill>
              <a:latin typeface="Times New Roman"/>
            </a:endParaRPr>
          </a:p>
        </p:txBody>
      </p:sp>
      <p:sp>
        <p:nvSpPr>
          <p:cNvPr id="7" name="TextBox 7"/>
          <p:cNvSpPr txBox="1"/>
          <p:nvPr/>
        </p:nvSpPr>
        <p:spPr>
          <a:xfrm>
            <a:off x="10225968" y="6188576"/>
            <a:ext cx="7267002" cy="2690960"/>
          </a:xfrm>
          <a:prstGeom prst="rect">
            <a:avLst/>
          </a:prstGeom>
        </p:spPr>
        <p:txBody>
          <a:bodyPr lIns="0" tIns="0" rIns="0" bIns="0" rtlCol="0" anchor="t">
            <a:spAutoFit/>
          </a:bodyPr>
          <a:lstStyle/>
          <a:p>
            <a:pPr algn="just">
              <a:lnSpc>
                <a:spcPts val="4386"/>
              </a:lnSpc>
              <a:spcBef>
                <a:spcPct val="0"/>
              </a:spcBef>
            </a:pPr>
            <a:endParaRPr/>
          </a:p>
          <a:p>
            <a:pPr marL="859313" lvl="1" indent="-429657" algn="just">
              <a:lnSpc>
                <a:spcPts val="5572"/>
              </a:lnSpc>
              <a:buFont typeface="Arial"/>
              <a:buChar char="•"/>
            </a:pPr>
            <a:r>
              <a:rPr lang="en-US" sz="3980">
                <a:solidFill>
                  <a:srgbClr val="000000"/>
                </a:solidFill>
                <a:latin typeface="Times New Roman Bold"/>
              </a:rPr>
              <a:t>Improving</a:t>
            </a:r>
            <a:r>
              <a:rPr lang="en-US" sz="3980">
                <a:solidFill>
                  <a:srgbClr val="000000"/>
                </a:solidFill>
                <a:latin typeface="Times New Roman"/>
              </a:rPr>
              <a:t> the system to </a:t>
            </a:r>
            <a:r>
              <a:rPr lang="en-US" sz="3980">
                <a:solidFill>
                  <a:srgbClr val="000000"/>
                </a:solidFill>
                <a:latin typeface="Times New Roman Bold"/>
              </a:rPr>
              <a:t>avoid falling</a:t>
            </a:r>
            <a:r>
              <a:rPr lang="en-US" sz="3980">
                <a:solidFill>
                  <a:srgbClr val="000000"/>
                </a:solidFill>
                <a:latin typeface="Times New Roman"/>
              </a:rPr>
              <a:t> behind the general level.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2785" y="424595"/>
            <a:ext cx="2204332" cy="1208210"/>
          </a:xfrm>
          <a:custGeom>
            <a:avLst/>
            <a:gdLst/>
            <a:ahLst/>
            <a:cxnLst/>
            <a:rect l="l" t="t" r="r" b="b"/>
            <a:pathLst>
              <a:path w="2204332" h="1208210">
                <a:moveTo>
                  <a:pt x="0" y="0"/>
                </a:moveTo>
                <a:lnTo>
                  <a:pt x="2204331" y="0"/>
                </a:lnTo>
                <a:lnTo>
                  <a:pt x="2204331" y="1208210"/>
                </a:lnTo>
                <a:lnTo>
                  <a:pt x="0" y="1208210"/>
                </a:lnTo>
                <a:lnTo>
                  <a:pt x="0" y="0"/>
                </a:lnTo>
                <a:close/>
              </a:path>
            </a:pathLst>
          </a:custGeom>
          <a:blipFill>
            <a:blip r:embed="rId2"/>
            <a:stretch>
              <a:fillRect t="-993" r="-757" b="-993"/>
            </a:stretch>
          </a:blipFill>
        </p:spPr>
        <p:txBody>
          <a:bodyPr/>
          <a:lstStyle/>
          <a:p>
            <a:endParaRPr lang="en-US"/>
          </a:p>
        </p:txBody>
      </p:sp>
      <p:sp>
        <p:nvSpPr>
          <p:cNvPr id="3" name="Freeform 3"/>
          <p:cNvSpPr/>
          <p:nvPr/>
        </p:nvSpPr>
        <p:spPr>
          <a:xfrm>
            <a:off x="1869086" y="3928048"/>
            <a:ext cx="3481762" cy="2430903"/>
          </a:xfrm>
          <a:custGeom>
            <a:avLst/>
            <a:gdLst/>
            <a:ahLst/>
            <a:cxnLst/>
            <a:rect l="l" t="t" r="r" b="b"/>
            <a:pathLst>
              <a:path w="3481762" h="2430903">
                <a:moveTo>
                  <a:pt x="0" y="0"/>
                </a:moveTo>
                <a:lnTo>
                  <a:pt x="3481762" y="0"/>
                </a:lnTo>
                <a:lnTo>
                  <a:pt x="3481762" y="2430904"/>
                </a:lnTo>
                <a:lnTo>
                  <a:pt x="0" y="243090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13234036" y="3998448"/>
            <a:ext cx="1463512" cy="2360503"/>
          </a:xfrm>
          <a:custGeom>
            <a:avLst/>
            <a:gdLst/>
            <a:ahLst/>
            <a:cxnLst/>
            <a:rect l="l" t="t" r="r" b="b"/>
            <a:pathLst>
              <a:path w="1463512" h="2360503">
                <a:moveTo>
                  <a:pt x="0" y="0"/>
                </a:moveTo>
                <a:lnTo>
                  <a:pt x="1463512" y="0"/>
                </a:lnTo>
                <a:lnTo>
                  <a:pt x="1463512" y="2360504"/>
                </a:lnTo>
                <a:lnTo>
                  <a:pt x="0" y="236050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TextBox 5"/>
          <p:cNvSpPr txBox="1"/>
          <p:nvPr/>
        </p:nvSpPr>
        <p:spPr>
          <a:xfrm>
            <a:off x="2778918" y="1234528"/>
            <a:ext cx="12730164" cy="2000250"/>
          </a:xfrm>
          <a:prstGeom prst="rect">
            <a:avLst/>
          </a:prstGeom>
        </p:spPr>
        <p:txBody>
          <a:bodyPr lIns="0" tIns="0" rIns="0" bIns="0" rtlCol="0" anchor="t">
            <a:spAutoFit/>
          </a:bodyPr>
          <a:lstStyle/>
          <a:p>
            <a:pPr algn="ctr">
              <a:lnSpc>
                <a:spcPts val="5039"/>
              </a:lnSpc>
            </a:pPr>
            <a:endParaRPr/>
          </a:p>
          <a:p>
            <a:pPr algn="ctr">
              <a:lnSpc>
                <a:spcPts val="5039"/>
              </a:lnSpc>
            </a:pPr>
            <a:r>
              <a:rPr lang="en-US" sz="4199">
                <a:solidFill>
                  <a:srgbClr val="31356E"/>
                </a:solidFill>
                <a:latin typeface="Times New Roman Bold"/>
              </a:rPr>
              <a:t> Stage 4 (2032-2034): </a:t>
            </a:r>
            <a:r>
              <a:rPr lang="en-US" sz="4199" u="sng">
                <a:solidFill>
                  <a:srgbClr val="0070C0"/>
                </a:solidFill>
                <a:latin typeface="Times New Roman Bold"/>
              </a:rPr>
              <a:t>Product Differentiation Strategy</a:t>
            </a:r>
            <a:r>
              <a:rPr lang="en-US" sz="4199">
                <a:solidFill>
                  <a:srgbClr val="0070C0"/>
                </a:solidFill>
                <a:latin typeface="Times New Roman Bold"/>
              </a:rPr>
              <a:t>.</a:t>
            </a:r>
          </a:p>
          <a:p>
            <a:pPr algn="ctr">
              <a:lnSpc>
                <a:spcPts val="5039"/>
              </a:lnSpc>
            </a:pPr>
            <a:endParaRPr lang="en-US" sz="4199">
              <a:solidFill>
                <a:srgbClr val="31356E"/>
              </a:solidFill>
              <a:latin typeface="Times New Roman Bold"/>
            </a:endParaRPr>
          </a:p>
        </p:txBody>
      </p:sp>
      <p:sp>
        <p:nvSpPr>
          <p:cNvPr id="6" name="TextBox 6"/>
          <p:cNvSpPr txBox="1"/>
          <p:nvPr/>
        </p:nvSpPr>
        <p:spPr>
          <a:xfrm>
            <a:off x="796817" y="6517551"/>
            <a:ext cx="6110865" cy="2534921"/>
          </a:xfrm>
          <a:prstGeom prst="rect">
            <a:avLst/>
          </a:prstGeom>
        </p:spPr>
        <p:txBody>
          <a:bodyPr lIns="0" tIns="0" rIns="0" bIns="0" rtlCol="0" anchor="t">
            <a:spAutoFit/>
          </a:bodyPr>
          <a:lstStyle/>
          <a:p>
            <a:pPr algn="just">
              <a:lnSpc>
                <a:spcPts val="5179"/>
              </a:lnSpc>
            </a:pPr>
            <a:r>
              <a:rPr lang="en-US" sz="3699">
                <a:solidFill>
                  <a:srgbClr val="000000"/>
                </a:solidFill>
                <a:latin typeface="Times New Roman Bold"/>
              </a:rPr>
              <a:t>Open</a:t>
            </a:r>
            <a:r>
              <a:rPr lang="en-US" sz="3699">
                <a:solidFill>
                  <a:srgbClr val="000000"/>
                </a:solidFill>
                <a:latin typeface="Times New Roman"/>
              </a:rPr>
              <a:t> more</a:t>
            </a:r>
            <a:r>
              <a:rPr lang="en-US" sz="3699">
                <a:solidFill>
                  <a:srgbClr val="000000"/>
                </a:solidFill>
                <a:latin typeface="Times New Roman Bold"/>
              </a:rPr>
              <a:t> branches </a:t>
            </a:r>
            <a:r>
              <a:rPr lang="en-US" sz="3699">
                <a:solidFill>
                  <a:srgbClr val="000000"/>
                </a:solidFill>
                <a:latin typeface="Times New Roman"/>
              </a:rPr>
              <a:t>and </a:t>
            </a:r>
            <a:r>
              <a:rPr lang="en-US" sz="3699">
                <a:solidFill>
                  <a:srgbClr val="000000"/>
                </a:solidFill>
                <a:latin typeface="Times New Roman Bold"/>
              </a:rPr>
              <a:t>expand</a:t>
            </a:r>
            <a:r>
              <a:rPr lang="en-US" sz="3699">
                <a:solidFill>
                  <a:srgbClr val="000000"/>
                </a:solidFill>
                <a:latin typeface="Times New Roman"/>
              </a:rPr>
              <a:t> in neighboring areas.</a:t>
            </a:r>
          </a:p>
          <a:p>
            <a:pPr algn="just">
              <a:lnSpc>
                <a:spcPts val="4059"/>
              </a:lnSpc>
            </a:pPr>
            <a:endParaRPr lang="en-US" sz="3699">
              <a:solidFill>
                <a:srgbClr val="000000"/>
              </a:solidFill>
              <a:latin typeface="Times New Roman"/>
            </a:endParaRPr>
          </a:p>
          <a:p>
            <a:pPr algn="just">
              <a:lnSpc>
                <a:spcPts val="5179"/>
              </a:lnSpc>
              <a:spcBef>
                <a:spcPct val="0"/>
              </a:spcBef>
            </a:pPr>
            <a:endParaRPr lang="en-US" sz="3699">
              <a:solidFill>
                <a:srgbClr val="000000"/>
              </a:solidFill>
              <a:latin typeface="Times New Roman"/>
            </a:endParaRPr>
          </a:p>
        </p:txBody>
      </p:sp>
      <p:sp>
        <p:nvSpPr>
          <p:cNvPr id="7" name="TextBox 7"/>
          <p:cNvSpPr txBox="1"/>
          <p:nvPr/>
        </p:nvSpPr>
        <p:spPr>
          <a:xfrm>
            <a:off x="10299808" y="6863751"/>
            <a:ext cx="7331968" cy="706121"/>
          </a:xfrm>
          <a:prstGeom prst="rect">
            <a:avLst/>
          </a:prstGeom>
        </p:spPr>
        <p:txBody>
          <a:bodyPr lIns="0" tIns="0" rIns="0" bIns="0" rtlCol="0" anchor="t">
            <a:spAutoFit/>
          </a:bodyPr>
          <a:lstStyle/>
          <a:p>
            <a:pPr algn="just">
              <a:lnSpc>
                <a:spcPts val="5179"/>
              </a:lnSpc>
              <a:spcBef>
                <a:spcPct val="0"/>
              </a:spcBef>
            </a:pPr>
            <a:r>
              <a:rPr lang="en-US" sz="3699">
                <a:solidFill>
                  <a:srgbClr val="000000"/>
                </a:solidFill>
                <a:latin typeface="Times New Roman Bold"/>
              </a:rPr>
              <a:t>Changing the decoration </a:t>
            </a:r>
            <a:r>
              <a:rPr lang="en-US" sz="3699">
                <a:solidFill>
                  <a:srgbClr val="000000"/>
                </a:solidFill>
                <a:latin typeface="Times New Roman"/>
              </a:rPr>
              <a:t>in the room.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642983" y="5497624"/>
            <a:ext cx="3778251" cy="3735959"/>
          </a:xfrm>
          <a:prstGeom prst="rect">
            <a:avLst/>
          </a:prstGeom>
        </p:spPr>
        <p:txBody>
          <a:bodyPr lIns="0" tIns="0" rIns="0" bIns="0" rtlCol="0" anchor="t">
            <a:spAutoFit/>
          </a:bodyPr>
          <a:lstStyle/>
          <a:p>
            <a:pPr algn="ctr">
              <a:lnSpc>
                <a:spcPts val="3919"/>
              </a:lnSpc>
            </a:pPr>
            <a:r>
              <a:rPr lang="en-US" sz="2799">
                <a:solidFill>
                  <a:srgbClr val="242424"/>
                </a:solidFill>
                <a:latin typeface="Times New Roman Bold"/>
              </a:rPr>
              <a:t> Customer Service</a:t>
            </a:r>
          </a:p>
          <a:p>
            <a:pPr marL="654174" lvl="1" indent="-327087" algn="l">
              <a:lnSpc>
                <a:spcPts val="4241"/>
              </a:lnSpc>
              <a:buFont typeface="Arial"/>
              <a:buChar char="•"/>
            </a:pPr>
            <a:r>
              <a:rPr lang="en-US" sz="3029">
                <a:solidFill>
                  <a:srgbClr val="242424"/>
                </a:solidFill>
                <a:latin typeface="Times New Roman"/>
              </a:rPr>
              <a:t>Collect opinions and reviews from customers</a:t>
            </a:r>
          </a:p>
          <a:p>
            <a:pPr marL="654174" lvl="1" indent="-327087" algn="l">
              <a:lnSpc>
                <a:spcPts val="4241"/>
              </a:lnSpc>
              <a:buFont typeface="Arial"/>
              <a:buChar char="•"/>
            </a:pPr>
            <a:r>
              <a:rPr lang="en-US" sz="3029">
                <a:solidFill>
                  <a:srgbClr val="242424"/>
                </a:solidFill>
                <a:latin typeface="Times New Roman"/>
              </a:rPr>
              <a:t>Handle customer problems during service use.</a:t>
            </a:r>
          </a:p>
        </p:txBody>
      </p:sp>
      <p:sp>
        <p:nvSpPr>
          <p:cNvPr id="3" name="Freeform 3"/>
          <p:cNvSpPr/>
          <p:nvPr/>
        </p:nvSpPr>
        <p:spPr>
          <a:xfrm>
            <a:off x="4845767" y="794748"/>
            <a:ext cx="9120782" cy="2504069"/>
          </a:xfrm>
          <a:custGeom>
            <a:avLst/>
            <a:gdLst/>
            <a:ahLst/>
            <a:cxnLst/>
            <a:rect l="l" t="t" r="r" b="b"/>
            <a:pathLst>
              <a:path w="9120782" h="2504069">
                <a:moveTo>
                  <a:pt x="0" y="0"/>
                </a:moveTo>
                <a:lnTo>
                  <a:pt x="9120782" y="0"/>
                </a:lnTo>
                <a:lnTo>
                  <a:pt x="9120782" y="2504069"/>
                </a:lnTo>
                <a:lnTo>
                  <a:pt x="0" y="25040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990010" y="3772243"/>
            <a:ext cx="1387860" cy="1523029"/>
          </a:xfrm>
          <a:custGeom>
            <a:avLst/>
            <a:gdLst/>
            <a:ahLst/>
            <a:cxnLst/>
            <a:rect l="l" t="t" r="r" b="b"/>
            <a:pathLst>
              <a:path w="1387860" h="1523029">
                <a:moveTo>
                  <a:pt x="0" y="0"/>
                </a:moveTo>
                <a:lnTo>
                  <a:pt x="1387861" y="0"/>
                </a:lnTo>
                <a:lnTo>
                  <a:pt x="1387861" y="1523029"/>
                </a:lnTo>
                <a:lnTo>
                  <a:pt x="0" y="15230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a:off x="4625771" y="3822850"/>
            <a:ext cx="1465789" cy="1421815"/>
          </a:xfrm>
          <a:custGeom>
            <a:avLst/>
            <a:gdLst/>
            <a:ahLst/>
            <a:cxnLst/>
            <a:rect l="l" t="t" r="r" b="b"/>
            <a:pathLst>
              <a:path w="1465789" h="1421815">
                <a:moveTo>
                  <a:pt x="0" y="0"/>
                </a:moveTo>
                <a:lnTo>
                  <a:pt x="1465788" y="0"/>
                </a:lnTo>
                <a:lnTo>
                  <a:pt x="1465788" y="1421815"/>
                </a:lnTo>
                <a:lnTo>
                  <a:pt x="0" y="142181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p:cNvSpPr/>
          <p:nvPr/>
        </p:nvSpPr>
        <p:spPr>
          <a:xfrm>
            <a:off x="8341671" y="3721636"/>
            <a:ext cx="1370726" cy="1523029"/>
          </a:xfrm>
          <a:custGeom>
            <a:avLst/>
            <a:gdLst/>
            <a:ahLst/>
            <a:cxnLst/>
            <a:rect l="l" t="t" r="r" b="b"/>
            <a:pathLst>
              <a:path w="1370726" h="1523029">
                <a:moveTo>
                  <a:pt x="0" y="0"/>
                </a:moveTo>
                <a:lnTo>
                  <a:pt x="1370726" y="0"/>
                </a:lnTo>
                <a:lnTo>
                  <a:pt x="1370726" y="1523029"/>
                </a:lnTo>
                <a:lnTo>
                  <a:pt x="0" y="152302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7" name="Freeform 7"/>
          <p:cNvSpPr/>
          <p:nvPr/>
        </p:nvSpPr>
        <p:spPr>
          <a:xfrm>
            <a:off x="11847115" y="3750174"/>
            <a:ext cx="1493965" cy="1465953"/>
          </a:xfrm>
          <a:custGeom>
            <a:avLst/>
            <a:gdLst/>
            <a:ahLst/>
            <a:cxnLst/>
            <a:rect l="l" t="t" r="r" b="b"/>
            <a:pathLst>
              <a:path w="1493965" h="1465953">
                <a:moveTo>
                  <a:pt x="0" y="0"/>
                </a:moveTo>
                <a:lnTo>
                  <a:pt x="1493965" y="0"/>
                </a:lnTo>
                <a:lnTo>
                  <a:pt x="1493965" y="1465953"/>
                </a:lnTo>
                <a:lnTo>
                  <a:pt x="0" y="146595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8" name="Freeform 8"/>
          <p:cNvSpPr/>
          <p:nvPr/>
        </p:nvSpPr>
        <p:spPr>
          <a:xfrm>
            <a:off x="15971604" y="3999309"/>
            <a:ext cx="1121009" cy="1391772"/>
          </a:xfrm>
          <a:custGeom>
            <a:avLst/>
            <a:gdLst/>
            <a:ahLst/>
            <a:cxnLst/>
            <a:rect l="l" t="t" r="r" b="b"/>
            <a:pathLst>
              <a:path w="1121009" h="1391772">
                <a:moveTo>
                  <a:pt x="0" y="0"/>
                </a:moveTo>
                <a:lnTo>
                  <a:pt x="1121009" y="0"/>
                </a:lnTo>
                <a:lnTo>
                  <a:pt x="1121009" y="1391773"/>
                </a:lnTo>
                <a:lnTo>
                  <a:pt x="0" y="139177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9" name="TextBox 9"/>
          <p:cNvSpPr txBox="1"/>
          <p:nvPr/>
        </p:nvSpPr>
        <p:spPr>
          <a:xfrm>
            <a:off x="11089239" y="5497624"/>
            <a:ext cx="3553744" cy="3736340"/>
          </a:xfrm>
          <a:prstGeom prst="rect">
            <a:avLst/>
          </a:prstGeom>
        </p:spPr>
        <p:txBody>
          <a:bodyPr lIns="0" tIns="0" rIns="0" bIns="0" rtlCol="0" anchor="t">
            <a:spAutoFit/>
          </a:bodyPr>
          <a:lstStyle/>
          <a:p>
            <a:pPr algn="ctr">
              <a:lnSpc>
                <a:spcPts val="3919"/>
              </a:lnSpc>
            </a:pPr>
            <a:r>
              <a:rPr lang="en-US" sz="2799">
                <a:solidFill>
                  <a:srgbClr val="242424"/>
                </a:solidFill>
                <a:latin typeface="Times New Roman Bold"/>
              </a:rPr>
              <a:t>Marketing and Sales</a:t>
            </a:r>
          </a:p>
          <a:p>
            <a:pPr marL="647700" lvl="1" indent="-323850" algn="l">
              <a:lnSpc>
                <a:spcPts val="4200"/>
              </a:lnSpc>
              <a:buFont typeface="Arial"/>
              <a:buChar char="•"/>
            </a:pPr>
            <a:r>
              <a:rPr lang="en-US" sz="3000">
                <a:solidFill>
                  <a:srgbClr val="242424"/>
                </a:solidFill>
                <a:latin typeface="Times New Roman"/>
              </a:rPr>
              <a:t>Create marketing and advertising campaigns,</a:t>
            </a:r>
          </a:p>
          <a:p>
            <a:pPr marL="647700" lvl="1" indent="-323850" algn="l">
              <a:lnSpc>
                <a:spcPts val="4200"/>
              </a:lnSpc>
              <a:buFont typeface="Arial"/>
              <a:buChar char="•"/>
            </a:pPr>
            <a:r>
              <a:rPr lang="en-US" sz="3000">
                <a:solidFill>
                  <a:srgbClr val="242424"/>
                </a:solidFill>
                <a:latin typeface="Times New Roman"/>
              </a:rPr>
              <a:t> Collect customer feedback, and analyze data.</a:t>
            </a:r>
          </a:p>
        </p:txBody>
      </p:sp>
      <p:sp>
        <p:nvSpPr>
          <p:cNvPr id="10" name="TextBox 10"/>
          <p:cNvSpPr txBox="1"/>
          <p:nvPr/>
        </p:nvSpPr>
        <p:spPr>
          <a:xfrm>
            <a:off x="7487762" y="5498005"/>
            <a:ext cx="3190365" cy="3735959"/>
          </a:xfrm>
          <a:prstGeom prst="rect">
            <a:avLst/>
          </a:prstGeom>
        </p:spPr>
        <p:txBody>
          <a:bodyPr wrap="square" lIns="0" tIns="0" rIns="0" bIns="0" rtlCol="0" anchor="t">
            <a:spAutoFit/>
          </a:bodyPr>
          <a:lstStyle/>
          <a:p>
            <a:pPr algn="just">
              <a:lnSpc>
                <a:spcPts val="3919"/>
              </a:lnSpc>
            </a:pPr>
            <a:r>
              <a:rPr lang="en-US" sz="2799">
                <a:solidFill>
                  <a:srgbClr val="242424"/>
                </a:solidFill>
                <a:latin typeface="Times New Roman Bold"/>
              </a:rPr>
              <a:t>Outbound Logistics</a:t>
            </a:r>
          </a:p>
          <a:p>
            <a:pPr marL="654174" lvl="1" indent="-327087" algn="l">
              <a:lnSpc>
                <a:spcPts val="4241"/>
              </a:lnSpc>
              <a:buFont typeface="Arial"/>
              <a:buChar char="•"/>
            </a:pPr>
            <a:r>
              <a:rPr lang="en-US" sz="3029">
                <a:solidFill>
                  <a:srgbClr val="242424"/>
                </a:solidFill>
                <a:latin typeface="Times New Roman"/>
              </a:rPr>
              <a:t>Distribution activities</a:t>
            </a:r>
          </a:p>
          <a:p>
            <a:pPr marL="654174" lvl="1" indent="-327087" algn="l">
              <a:lnSpc>
                <a:spcPts val="4241"/>
              </a:lnSpc>
              <a:buFont typeface="Arial"/>
              <a:buChar char="•"/>
            </a:pPr>
            <a:r>
              <a:rPr lang="en-US" sz="3029">
                <a:solidFill>
                  <a:srgbClr val="242424"/>
                </a:solidFill>
                <a:latin typeface="Times New Roman"/>
              </a:rPr>
              <a:t>Providing products and services to consumers. </a:t>
            </a:r>
          </a:p>
        </p:txBody>
      </p:sp>
      <p:sp>
        <p:nvSpPr>
          <p:cNvPr id="11" name="TextBox 11"/>
          <p:cNvSpPr txBox="1"/>
          <p:nvPr/>
        </p:nvSpPr>
        <p:spPr>
          <a:xfrm>
            <a:off x="3763482" y="5488480"/>
            <a:ext cx="2789718" cy="5176032"/>
          </a:xfrm>
          <a:prstGeom prst="rect">
            <a:avLst/>
          </a:prstGeom>
        </p:spPr>
        <p:txBody>
          <a:bodyPr wrap="square" lIns="0" tIns="0" rIns="0" bIns="0" rtlCol="0" anchor="t">
            <a:spAutoFit/>
          </a:bodyPr>
          <a:lstStyle/>
          <a:p>
            <a:pPr algn="ctr">
              <a:lnSpc>
                <a:spcPts val="4341"/>
              </a:lnSpc>
            </a:pPr>
            <a:r>
              <a:rPr lang="en-US" sz="3100">
                <a:solidFill>
                  <a:srgbClr val="242424"/>
                </a:solidFill>
                <a:latin typeface="Times New Roman Bold"/>
              </a:rPr>
              <a:t>Operation</a:t>
            </a:r>
          </a:p>
          <a:p>
            <a:pPr marL="632588" lvl="1" indent="-316294" algn="just">
              <a:lnSpc>
                <a:spcPts val="4102"/>
              </a:lnSpc>
              <a:buFont typeface="Arial"/>
              <a:buChar char="•"/>
            </a:pPr>
            <a:r>
              <a:rPr lang="en-US" sz="2930">
                <a:solidFill>
                  <a:srgbClr val="242424"/>
                </a:solidFill>
                <a:latin typeface="Times New Roman"/>
              </a:rPr>
              <a:t>Manage and regularly check equipment and rooms</a:t>
            </a:r>
          </a:p>
          <a:p>
            <a:pPr marL="632588" lvl="1" indent="-316294" algn="just">
              <a:lnSpc>
                <a:spcPts val="4102"/>
              </a:lnSpc>
              <a:buFont typeface="Arial"/>
              <a:buChar char="•"/>
            </a:pPr>
            <a:r>
              <a:rPr lang="en-US" sz="2930">
                <a:solidFill>
                  <a:srgbClr val="242424"/>
                </a:solidFill>
                <a:latin typeface="Times New Roman"/>
              </a:rPr>
              <a:t>Monitor market trends</a:t>
            </a:r>
          </a:p>
          <a:p>
            <a:pPr algn="l">
              <a:lnSpc>
                <a:spcPts val="3922"/>
              </a:lnSpc>
            </a:pPr>
            <a:endParaRPr lang="en-US" sz="2930">
              <a:solidFill>
                <a:srgbClr val="242424"/>
              </a:solidFill>
              <a:latin typeface="Times New Roman"/>
            </a:endParaRPr>
          </a:p>
          <a:p>
            <a:pPr marL="0" lvl="0" indent="0" algn="ctr">
              <a:lnSpc>
                <a:spcPts val="3721"/>
              </a:lnSpc>
              <a:spcBef>
                <a:spcPct val="0"/>
              </a:spcBef>
            </a:pPr>
            <a:endParaRPr lang="en-US" sz="2930">
              <a:solidFill>
                <a:srgbClr val="242424"/>
              </a:solidFill>
              <a:latin typeface="Times New Roman"/>
            </a:endParaRPr>
          </a:p>
        </p:txBody>
      </p:sp>
      <p:sp>
        <p:nvSpPr>
          <p:cNvPr id="12" name="TextBox 12"/>
          <p:cNvSpPr txBox="1"/>
          <p:nvPr/>
        </p:nvSpPr>
        <p:spPr>
          <a:xfrm>
            <a:off x="105332" y="5498005"/>
            <a:ext cx="3088514" cy="3126926"/>
          </a:xfrm>
          <a:prstGeom prst="rect">
            <a:avLst/>
          </a:prstGeom>
        </p:spPr>
        <p:txBody>
          <a:bodyPr lIns="0" tIns="0" rIns="0" bIns="0" rtlCol="0" anchor="t">
            <a:spAutoFit/>
          </a:bodyPr>
          <a:lstStyle/>
          <a:p>
            <a:pPr algn="just">
              <a:lnSpc>
                <a:spcPts val="3869"/>
              </a:lnSpc>
            </a:pPr>
            <a:r>
              <a:rPr lang="en-US" sz="2764">
                <a:solidFill>
                  <a:srgbClr val="242424"/>
                </a:solidFill>
                <a:latin typeface="Times New Roman Bold"/>
              </a:rPr>
              <a:t> Inbound logistics</a:t>
            </a:r>
          </a:p>
          <a:p>
            <a:pPr marL="631846" lvl="1" indent="-315923" algn="just">
              <a:lnSpc>
                <a:spcPts val="4097"/>
              </a:lnSpc>
              <a:buFont typeface="Arial"/>
              <a:buChar char="•"/>
            </a:pPr>
            <a:r>
              <a:rPr lang="en-US" sz="2926">
                <a:latin typeface="Times New Roman"/>
              </a:rPr>
              <a:t>Order furniture</a:t>
            </a:r>
          </a:p>
          <a:p>
            <a:pPr marL="631846" lvl="1" indent="-315923" algn="just">
              <a:lnSpc>
                <a:spcPts val="4097"/>
              </a:lnSpc>
              <a:buFont typeface="Arial"/>
              <a:buChar char="•"/>
            </a:pPr>
            <a:r>
              <a:rPr lang="en-US" sz="2926">
                <a:latin typeface="Times New Roman"/>
              </a:rPr>
              <a:t>Sign long-term contracts to produce requested items</a:t>
            </a:r>
            <a:endParaRPr lang="en-US" sz="2926">
              <a:latin typeface="Times New Roman"/>
              <a:hlinkClick r:id="rId14" tooltip="https://docs.google.com/spreadsheets/d/1DUF2isFWsqVSYhbaACYtbgcLi_YjDqpE3GLQIVgkKQg/edit#gid=69851113">
                <a:extLst>
                  <a:ext uri="{A12FA001-AC4F-418D-AE19-62706E023703}">
                    <ahyp:hlinkClr xmlns:ahyp="http://schemas.microsoft.com/office/drawing/2018/hyperlinkcolor" val="tx"/>
                  </a:ext>
                </a:extLst>
              </a:hlinkClick>
            </a:endParaRPr>
          </a:p>
        </p:txBody>
      </p:sp>
      <p:sp>
        <p:nvSpPr>
          <p:cNvPr id="13" name="TextBox 13"/>
          <p:cNvSpPr txBox="1"/>
          <p:nvPr/>
        </p:nvSpPr>
        <p:spPr>
          <a:xfrm>
            <a:off x="5527216" y="949038"/>
            <a:ext cx="7233568" cy="1504319"/>
          </a:xfrm>
          <a:prstGeom prst="rect">
            <a:avLst/>
          </a:prstGeom>
        </p:spPr>
        <p:txBody>
          <a:bodyPr lIns="0" tIns="0" rIns="0" bIns="0" rtlCol="0" anchor="t">
            <a:spAutoFit/>
          </a:bodyPr>
          <a:lstStyle/>
          <a:p>
            <a:pPr algn="ctr">
              <a:lnSpc>
                <a:spcPts val="11059"/>
              </a:lnSpc>
              <a:spcBef>
                <a:spcPct val="0"/>
              </a:spcBef>
            </a:pPr>
            <a:r>
              <a:rPr lang="en-US" sz="7899">
                <a:solidFill>
                  <a:srgbClr val="000000"/>
                </a:solidFill>
                <a:latin typeface="Times New Roman Bold"/>
              </a:rPr>
              <a:t>VALUE CHAIN</a:t>
            </a:r>
          </a:p>
        </p:txBody>
      </p:sp>
      <p:sp>
        <p:nvSpPr>
          <p:cNvPr id="14" name="TextBox 14"/>
          <p:cNvSpPr txBox="1"/>
          <p:nvPr/>
        </p:nvSpPr>
        <p:spPr>
          <a:xfrm>
            <a:off x="7607272" y="2354370"/>
            <a:ext cx="3597771" cy="840741"/>
          </a:xfrm>
          <a:prstGeom prst="rect">
            <a:avLst/>
          </a:prstGeom>
        </p:spPr>
        <p:txBody>
          <a:bodyPr lIns="0" tIns="0" rIns="0" bIns="0" rtlCol="0" anchor="t">
            <a:spAutoFit/>
          </a:bodyPr>
          <a:lstStyle/>
          <a:p>
            <a:pPr algn="ctr">
              <a:lnSpc>
                <a:spcPts val="6159"/>
              </a:lnSpc>
              <a:spcBef>
                <a:spcPct val="0"/>
              </a:spcBef>
            </a:pPr>
            <a:r>
              <a:rPr lang="en-US" sz="4399">
                <a:solidFill>
                  <a:srgbClr val="F64F59"/>
                </a:solidFill>
                <a:latin typeface="Times New Roman Bold"/>
              </a:rPr>
              <a:t>Main activities </a:t>
            </a:r>
          </a:p>
        </p:txBody>
      </p:sp>
      <p:sp>
        <p:nvSpPr>
          <p:cNvPr id="15" name="Freeform 15"/>
          <p:cNvSpPr/>
          <p:nvPr/>
        </p:nvSpPr>
        <p:spPr>
          <a:xfrm>
            <a:off x="342785" y="424595"/>
            <a:ext cx="2204332" cy="1208210"/>
          </a:xfrm>
          <a:custGeom>
            <a:avLst/>
            <a:gdLst/>
            <a:ahLst/>
            <a:cxnLst/>
            <a:rect l="l" t="t" r="r" b="b"/>
            <a:pathLst>
              <a:path w="2204332" h="1208210">
                <a:moveTo>
                  <a:pt x="0" y="0"/>
                </a:moveTo>
                <a:lnTo>
                  <a:pt x="2204331" y="0"/>
                </a:lnTo>
                <a:lnTo>
                  <a:pt x="2204331" y="1208210"/>
                </a:lnTo>
                <a:lnTo>
                  <a:pt x="0" y="1208210"/>
                </a:lnTo>
                <a:lnTo>
                  <a:pt x="0" y="0"/>
                </a:lnTo>
                <a:close/>
              </a:path>
            </a:pathLst>
          </a:custGeom>
          <a:blipFill>
            <a:blip r:embed="rId15"/>
            <a:stretch>
              <a:fillRect t="-993" r="-757" b="-993"/>
            </a:stretch>
          </a:blipFill>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845767" y="794748"/>
            <a:ext cx="9120782" cy="2504069"/>
          </a:xfrm>
          <a:custGeom>
            <a:avLst/>
            <a:gdLst/>
            <a:ahLst/>
            <a:cxnLst/>
            <a:rect l="l" t="t" r="r" b="b"/>
            <a:pathLst>
              <a:path w="9120782" h="2504069">
                <a:moveTo>
                  <a:pt x="0" y="0"/>
                </a:moveTo>
                <a:lnTo>
                  <a:pt x="9120782" y="0"/>
                </a:lnTo>
                <a:lnTo>
                  <a:pt x="9120782" y="2504069"/>
                </a:lnTo>
                <a:lnTo>
                  <a:pt x="0" y="25040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4901262" y="3834751"/>
            <a:ext cx="1791928" cy="1758329"/>
          </a:xfrm>
          <a:custGeom>
            <a:avLst/>
            <a:gdLst/>
            <a:ahLst/>
            <a:cxnLst/>
            <a:rect l="l" t="t" r="r" b="b"/>
            <a:pathLst>
              <a:path w="1791928" h="1758329">
                <a:moveTo>
                  <a:pt x="0" y="0"/>
                </a:moveTo>
                <a:lnTo>
                  <a:pt x="1791928" y="0"/>
                </a:lnTo>
                <a:lnTo>
                  <a:pt x="1791928" y="1758329"/>
                </a:lnTo>
                <a:lnTo>
                  <a:pt x="0" y="17583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342785" y="424595"/>
            <a:ext cx="2204332" cy="1208210"/>
          </a:xfrm>
          <a:custGeom>
            <a:avLst/>
            <a:gdLst/>
            <a:ahLst/>
            <a:cxnLst/>
            <a:rect l="l" t="t" r="r" b="b"/>
            <a:pathLst>
              <a:path w="2204332" h="1208210">
                <a:moveTo>
                  <a:pt x="0" y="0"/>
                </a:moveTo>
                <a:lnTo>
                  <a:pt x="2204331" y="0"/>
                </a:lnTo>
                <a:lnTo>
                  <a:pt x="2204331" y="1208210"/>
                </a:lnTo>
                <a:lnTo>
                  <a:pt x="0" y="1208210"/>
                </a:lnTo>
                <a:lnTo>
                  <a:pt x="0" y="0"/>
                </a:lnTo>
                <a:close/>
              </a:path>
            </a:pathLst>
          </a:custGeom>
          <a:blipFill>
            <a:blip r:embed="rId6"/>
            <a:stretch>
              <a:fillRect t="-993" r="-757" b="-993"/>
            </a:stretch>
          </a:blipFill>
        </p:spPr>
        <p:txBody>
          <a:bodyPr/>
          <a:lstStyle/>
          <a:p>
            <a:endParaRPr lang="en-US"/>
          </a:p>
        </p:txBody>
      </p:sp>
      <p:sp>
        <p:nvSpPr>
          <p:cNvPr id="5" name="Freeform 5"/>
          <p:cNvSpPr/>
          <p:nvPr/>
        </p:nvSpPr>
        <p:spPr>
          <a:xfrm>
            <a:off x="554389" y="3497049"/>
            <a:ext cx="2573749" cy="1811276"/>
          </a:xfrm>
          <a:custGeom>
            <a:avLst/>
            <a:gdLst/>
            <a:ahLst/>
            <a:cxnLst/>
            <a:rect l="l" t="t" r="r" b="b"/>
            <a:pathLst>
              <a:path w="2573749" h="1811276">
                <a:moveTo>
                  <a:pt x="0" y="0"/>
                </a:moveTo>
                <a:lnTo>
                  <a:pt x="2573749" y="0"/>
                </a:lnTo>
                <a:lnTo>
                  <a:pt x="2573749" y="1811275"/>
                </a:lnTo>
                <a:lnTo>
                  <a:pt x="0" y="181127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6" name="Freeform 6"/>
          <p:cNvSpPr/>
          <p:nvPr/>
        </p:nvSpPr>
        <p:spPr>
          <a:xfrm>
            <a:off x="5900473" y="3497049"/>
            <a:ext cx="2094645" cy="1927074"/>
          </a:xfrm>
          <a:custGeom>
            <a:avLst/>
            <a:gdLst/>
            <a:ahLst/>
            <a:cxnLst/>
            <a:rect l="l" t="t" r="r" b="b"/>
            <a:pathLst>
              <a:path w="2094645" h="1927074">
                <a:moveTo>
                  <a:pt x="0" y="0"/>
                </a:moveTo>
                <a:lnTo>
                  <a:pt x="2094645" y="0"/>
                </a:lnTo>
                <a:lnTo>
                  <a:pt x="2094645" y="1927073"/>
                </a:lnTo>
                <a:lnTo>
                  <a:pt x="0" y="192707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7" name="Freeform 7"/>
          <p:cNvSpPr/>
          <p:nvPr/>
        </p:nvSpPr>
        <p:spPr>
          <a:xfrm>
            <a:off x="10659745" y="3699222"/>
            <a:ext cx="1787390" cy="1901478"/>
          </a:xfrm>
          <a:custGeom>
            <a:avLst/>
            <a:gdLst/>
            <a:ahLst/>
            <a:cxnLst/>
            <a:rect l="l" t="t" r="r" b="b"/>
            <a:pathLst>
              <a:path w="1787390" h="1901478">
                <a:moveTo>
                  <a:pt x="0" y="0"/>
                </a:moveTo>
                <a:lnTo>
                  <a:pt x="1787390" y="0"/>
                </a:lnTo>
                <a:lnTo>
                  <a:pt x="1787390" y="1901478"/>
                </a:lnTo>
                <a:lnTo>
                  <a:pt x="0" y="190147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8" name="TextBox 8"/>
          <p:cNvSpPr txBox="1"/>
          <p:nvPr/>
        </p:nvSpPr>
        <p:spPr>
          <a:xfrm>
            <a:off x="13966549" y="5620024"/>
            <a:ext cx="3784390" cy="3248025"/>
          </a:xfrm>
          <a:prstGeom prst="rect">
            <a:avLst/>
          </a:prstGeom>
        </p:spPr>
        <p:txBody>
          <a:bodyPr lIns="0" tIns="0" rIns="0" bIns="0" rtlCol="0" anchor="t">
            <a:spAutoFit/>
          </a:bodyPr>
          <a:lstStyle/>
          <a:p>
            <a:pPr algn="ctr">
              <a:lnSpc>
                <a:spcPts val="4200"/>
              </a:lnSpc>
            </a:pPr>
            <a:r>
              <a:rPr lang="en-US" sz="3000">
                <a:solidFill>
                  <a:srgbClr val="242424"/>
                </a:solidFill>
                <a:latin typeface="Times New Roman Bold"/>
              </a:rPr>
              <a:t> Firm infrastructure</a:t>
            </a:r>
          </a:p>
          <a:p>
            <a:pPr marL="0" lvl="0" indent="0" algn="just">
              <a:lnSpc>
                <a:spcPts val="4200"/>
              </a:lnSpc>
              <a:spcBef>
                <a:spcPct val="0"/>
              </a:spcBef>
            </a:pPr>
            <a:r>
              <a:rPr lang="en-US" sz="3000">
                <a:solidFill>
                  <a:srgbClr val="242424"/>
                </a:solidFill>
                <a:latin typeface="Times New Roman"/>
              </a:rPr>
              <a:t>Ensure rooms are always well maintained and equipment is always maintained and upgraded.</a:t>
            </a:r>
          </a:p>
        </p:txBody>
      </p:sp>
      <p:sp>
        <p:nvSpPr>
          <p:cNvPr id="9" name="TextBox 9"/>
          <p:cNvSpPr txBox="1"/>
          <p:nvPr/>
        </p:nvSpPr>
        <p:spPr>
          <a:xfrm>
            <a:off x="9886465" y="5620024"/>
            <a:ext cx="3352203" cy="3248025"/>
          </a:xfrm>
          <a:prstGeom prst="rect">
            <a:avLst/>
          </a:prstGeom>
        </p:spPr>
        <p:txBody>
          <a:bodyPr lIns="0" tIns="0" rIns="0" bIns="0" rtlCol="0" anchor="t">
            <a:spAutoFit/>
          </a:bodyPr>
          <a:lstStyle/>
          <a:p>
            <a:pPr algn="ctr">
              <a:lnSpc>
                <a:spcPts val="4200"/>
              </a:lnSpc>
            </a:pPr>
            <a:r>
              <a:rPr lang="en-US" sz="3000">
                <a:solidFill>
                  <a:srgbClr val="242424"/>
                </a:solidFill>
                <a:latin typeface="Times New Roman Bold"/>
              </a:rPr>
              <a:t> Human resource management </a:t>
            </a:r>
          </a:p>
          <a:p>
            <a:pPr marL="0" lvl="0" indent="0" algn="just">
              <a:lnSpc>
                <a:spcPts val="4200"/>
              </a:lnSpc>
              <a:spcBef>
                <a:spcPct val="0"/>
              </a:spcBef>
            </a:pPr>
            <a:r>
              <a:rPr lang="en-US" sz="3000">
                <a:solidFill>
                  <a:srgbClr val="242424"/>
                </a:solidFill>
                <a:latin typeface="Times New Roman"/>
              </a:rPr>
              <a:t>Develop criteria for employee selection, team building and training.</a:t>
            </a:r>
          </a:p>
        </p:txBody>
      </p:sp>
      <p:sp>
        <p:nvSpPr>
          <p:cNvPr id="10" name="TextBox 10"/>
          <p:cNvSpPr txBox="1"/>
          <p:nvPr/>
        </p:nvSpPr>
        <p:spPr>
          <a:xfrm>
            <a:off x="4439400" y="5620024"/>
            <a:ext cx="4616415" cy="3248025"/>
          </a:xfrm>
          <a:prstGeom prst="rect">
            <a:avLst/>
          </a:prstGeom>
        </p:spPr>
        <p:txBody>
          <a:bodyPr lIns="0" tIns="0" rIns="0" bIns="0" rtlCol="0" anchor="t">
            <a:spAutoFit/>
          </a:bodyPr>
          <a:lstStyle/>
          <a:p>
            <a:pPr algn="ctr">
              <a:lnSpc>
                <a:spcPts val="4200"/>
              </a:lnSpc>
            </a:pPr>
            <a:r>
              <a:rPr lang="en-US" sz="3000">
                <a:solidFill>
                  <a:srgbClr val="242424"/>
                </a:solidFill>
                <a:latin typeface="Times New Roman Bold"/>
              </a:rPr>
              <a:t>Technology development</a:t>
            </a:r>
          </a:p>
          <a:p>
            <a:pPr marL="0" lvl="0" indent="0" algn="just">
              <a:lnSpc>
                <a:spcPts val="4200"/>
              </a:lnSpc>
              <a:spcBef>
                <a:spcPct val="0"/>
              </a:spcBef>
            </a:pPr>
            <a:r>
              <a:rPr lang="en-US" sz="3000">
                <a:solidFill>
                  <a:srgbClr val="242424"/>
                </a:solidFill>
                <a:latin typeface="Times New Roman"/>
              </a:rPr>
              <a:t>Actively apply technologies such as smart room control and effective resource management with asset tracking features.</a:t>
            </a:r>
          </a:p>
        </p:txBody>
      </p:sp>
      <p:sp>
        <p:nvSpPr>
          <p:cNvPr id="11" name="TextBox 11"/>
          <p:cNvSpPr txBox="1"/>
          <p:nvPr/>
        </p:nvSpPr>
        <p:spPr>
          <a:xfrm>
            <a:off x="345993" y="5476875"/>
            <a:ext cx="3407608" cy="3781425"/>
          </a:xfrm>
          <a:prstGeom prst="rect">
            <a:avLst/>
          </a:prstGeom>
        </p:spPr>
        <p:txBody>
          <a:bodyPr lIns="0" tIns="0" rIns="0" bIns="0" rtlCol="0" anchor="t">
            <a:spAutoFit/>
          </a:bodyPr>
          <a:lstStyle/>
          <a:p>
            <a:pPr algn="ctr">
              <a:lnSpc>
                <a:spcPts val="4200"/>
              </a:lnSpc>
            </a:pPr>
            <a:r>
              <a:rPr lang="en-US" sz="3000">
                <a:solidFill>
                  <a:srgbClr val="242424"/>
                </a:solidFill>
                <a:latin typeface="Times New Roman Bold"/>
              </a:rPr>
              <a:t>Procurement</a:t>
            </a:r>
          </a:p>
          <a:p>
            <a:pPr marL="0" lvl="0" indent="0" algn="just">
              <a:lnSpc>
                <a:spcPts val="4200"/>
              </a:lnSpc>
              <a:spcBef>
                <a:spcPct val="0"/>
              </a:spcBef>
            </a:pPr>
            <a:r>
              <a:rPr lang="en-US" sz="3000">
                <a:solidFill>
                  <a:srgbClr val="242424"/>
                </a:solidFill>
                <a:latin typeface="Times New Roman"/>
              </a:rPr>
              <a:t>Contact places that provide goods to ensure licenses, issue invoices, and ensure safety in quality and hygiene.</a:t>
            </a:r>
            <a:endParaRPr lang="en-US" sz="3000">
              <a:solidFill>
                <a:srgbClr val="242424"/>
              </a:solidFill>
              <a:latin typeface="Times New Roman"/>
              <a:hlinkClick r:id="rId13" tooltip="https://docs.google.com/spreadsheets/d/1DUF2isFWsqVSYhbaACYtbgcLi_YjDqpE3GLQIVgkKQg/edit#gid=69851113"/>
            </a:endParaRPr>
          </a:p>
        </p:txBody>
      </p:sp>
      <p:sp>
        <p:nvSpPr>
          <p:cNvPr id="12" name="TextBox 12"/>
          <p:cNvSpPr txBox="1"/>
          <p:nvPr/>
        </p:nvSpPr>
        <p:spPr>
          <a:xfrm>
            <a:off x="5527216" y="949038"/>
            <a:ext cx="7233568" cy="1504319"/>
          </a:xfrm>
          <a:prstGeom prst="rect">
            <a:avLst/>
          </a:prstGeom>
        </p:spPr>
        <p:txBody>
          <a:bodyPr lIns="0" tIns="0" rIns="0" bIns="0" rtlCol="0" anchor="t">
            <a:spAutoFit/>
          </a:bodyPr>
          <a:lstStyle/>
          <a:p>
            <a:pPr algn="ctr">
              <a:lnSpc>
                <a:spcPts val="11059"/>
              </a:lnSpc>
              <a:spcBef>
                <a:spcPct val="0"/>
              </a:spcBef>
            </a:pPr>
            <a:r>
              <a:rPr lang="en-US" sz="7899">
                <a:solidFill>
                  <a:srgbClr val="000000"/>
                </a:solidFill>
                <a:latin typeface="Times New Roman Bold"/>
              </a:rPr>
              <a:t>VALUE CHAIN</a:t>
            </a:r>
          </a:p>
        </p:txBody>
      </p:sp>
      <p:sp>
        <p:nvSpPr>
          <p:cNvPr id="13" name="TextBox 13"/>
          <p:cNvSpPr txBox="1"/>
          <p:nvPr/>
        </p:nvSpPr>
        <p:spPr>
          <a:xfrm>
            <a:off x="7239462" y="2061436"/>
            <a:ext cx="4881143" cy="728533"/>
          </a:xfrm>
          <a:prstGeom prst="rect">
            <a:avLst/>
          </a:prstGeom>
        </p:spPr>
        <p:txBody>
          <a:bodyPr wrap="square" lIns="0" tIns="0" rIns="0" bIns="0" rtlCol="0" anchor="t">
            <a:spAutoFit/>
          </a:bodyPr>
          <a:lstStyle/>
          <a:p>
            <a:pPr algn="ctr">
              <a:lnSpc>
                <a:spcPts val="6159"/>
              </a:lnSpc>
              <a:spcBef>
                <a:spcPct val="0"/>
              </a:spcBef>
            </a:pPr>
            <a:r>
              <a:rPr lang="en-US" sz="4399">
                <a:solidFill>
                  <a:srgbClr val="F64F59"/>
                </a:solidFill>
                <a:latin typeface="Times New Roman Bold"/>
              </a:rPr>
              <a:t>Support activities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60209" y="2947994"/>
            <a:ext cx="4161751" cy="1184729"/>
            <a:chOff x="0" y="0"/>
            <a:chExt cx="2565722" cy="730386"/>
          </a:xfrm>
        </p:grpSpPr>
        <p:sp>
          <p:nvSpPr>
            <p:cNvPr id="3" name="Freeform 3"/>
            <p:cNvSpPr/>
            <p:nvPr/>
          </p:nvSpPr>
          <p:spPr>
            <a:xfrm>
              <a:off x="0" y="0"/>
              <a:ext cx="2565722" cy="730386"/>
            </a:xfrm>
            <a:custGeom>
              <a:avLst/>
              <a:gdLst/>
              <a:ahLst/>
              <a:cxnLst/>
              <a:rect l="l" t="t" r="r" b="b"/>
              <a:pathLst>
                <a:path w="2565722" h="730386">
                  <a:moveTo>
                    <a:pt x="0" y="0"/>
                  </a:moveTo>
                  <a:lnTo>
                    <a:pt x="2362522" y="0"/>
                  </a:lnTo>
                  <a:lnTo>
                    <a:pt x="2565722" y="365193"/>
                  </a:lnTo>
                  <a:lnTo>
                    <a:pt x="2362522" y="730386"/>
                  </a:lnTo>
                  <a:lnTo>
                    <a:pt x="0" y="730386"/>
                  </a:lnTo>
                  <a:lnTo>
                    <a:pt x="203200" y="365193"/>
                  </a:lnTo>
                  <a:lnTo>
                    <a:pt x="0" y="0"/>
                  </a:lnTo>
                  <a:close/>
                </a:path>
              </a:pathLst>
            </a:custGeom>
            <a:solidFill>
              <a:srgbClr val="FF5660"/>
            </a:solidFill>
          </p:spPr>
          <p:txBody>
            <a:bodyPr/>
            <a:lstStyle/>
            <a:p>
              <a:endParaRPr lang="en-US"/>
            </a:p>
          </p:txBody>
        </p:sp>
        <p:sp>
          <p:nvSpPr>
            <p:cNvPr id="4" name="TextBox 4"/>
            <p:cNvSpPr txBox="1"/>
            <p:nvPr/>
          </p:nvSpPr>
          <p:spPr>
            <a:xfrm>
              <a:off x="177800" y="-38100"/>
              <a:ext cx="2311722" cy="768486"/>
            </a:xfrm>
            <a:prstGeom prst="rect">
              <a:avLst/>
            </a:prstGeom>
          </p:spPr>
          <p:txBody>
            <a:bodyPr lIns="50800" tIns="50800" rIns="50800" bIns="50800" rtlCol="0" anchor="ctr"/>
            <a:lstStyle/>
            <a:p>
              <a:pPr algn="ctr">
                <a:lnSpc>
                  <a:spcPts val="2605"/>
                </a:lnSpc>
              </a:pPr>
              <a:endParaRPr/>
            </a:p>
          </p:txBody>
        </p:sp>
      </p:grpSp>
      <p:grpSp>
        <p:nvGrpSpPr>
          <p:cNvPr id="5" name="Group 5"/>
          <p:cNvGrpSpPr/>
          <p:nvPr/>
        </p:nvGrpSpPr>
        <p:grpSpPr>
          <a:xfrm rot="-10800000">
            <a:off x="6093797" y="4132722"/>
            <a:ext cx="4161751" cy="1184729"/>
            <a:chOff x="0" y="0"/>
            <a:chExt cx="2565722" cy="730386"/>
          </a:xfrm>
        </p:grpSpPr>
        <p:sp>
          <p:nvSpPr>
            <p:cNvPr id="6" name="Freeform 6"/>
            <p:cNvSpPr/>
            <p:nvPr/>
          </p:nvSpPr>
          <p:spPr>
            <a:xfrm>
              <a:off x="0" y="0"/>
              <a:ext cx="2565722" cy="730386"/>
            </a:xfrm>
            <a:custGeom>
              <a:avLst/>
              <a:gdLst/>
              <a:ahLst/>
              <a:cxnLst/>
              <a:rect l="l" t="t" r="r" b="b"/>
              <a:pathLst>
                <a:path w="2565722" h="730386">
                  <a:moveTo>
                    <a:pt x="0" y="0"/>
                  </a:moveTo>
                  <a:lnTo>
                    <a:pt x="2362522" y="0"/>
                  </a:lnTo>
                  <a:lnTo>
                    <a:pt x="2565722" y="365193"/>
                  </a:lnTo>
                  <a:lnTo>
                    <a:pt x="2362522" y="730386"/>
                  </a:lnTo>
                  <a:lnTo>
                    <a:pt x="0" y="730386"/>
                  </a:lnTo>
                  <a:lnTo>
                    <a:pt x="203200" y="365193"/>
                  </a:lnTo>
                  <a:lnTo>
                    <a:pt x="0" y="0"/>
                  </a:lnTo>
                  <a:close/>
                </a:path>
              </a:pathLst>
            </a:custGeom>
            <a:solidFill>
              <a:srgbClr val="FF848B"/>
            </a:solidFill>
          </p:spPr>
          <p:txBody>
            <a:bodyPr/>
            <a:lstStyle/>
            <a:p>
              <a:endParaRPr lang="en-US"/>
            </a:p>
          </p:txBody>
        </p:sp>
        <p:sp>
          <p:nvSpPr>
            <p:cNvPr id="7" name="TextBox 7"/>
            <p:cNvSpPr txBox="1"/>
            <p:nvPr/>
          </p:nvSpPr>
          <p:spPr>
            <a:xfrm>
              <a:off x="177800" y="-38100"/>
              <a:ext cx="2311722" cy="768486"/>
            </a:xfrm>
            <a:prstGeom prst="rect">
              <a:avLst/>
            </a:prstGeom>
          </p:spPr>
          <p:txBody>
            <a:bodyPr lIns="50800" tIns="50800" rIns="50800" bIns="50800" rtlCol="0" anchor="ctr"/>
            <a:lstStyle/>
            <a:p>
              <a:pPr algn="ctr">
                <a:lnSpc>
                  <a:spcPts val="2605"/>
                </a:lnSpc>
              </a:pPr>
              <a:endParaRPr/>
            </a:p>
          </p:txBody>
        </p:sp>
      </p:grpSp>
      <p:grpSp>
        <p:nvGrpSpPr>
          <p:cNvPr id="8" name="Group 8"/>
          <p:cNvGrpSpPr/>
          <p:nvPr/>
        </p:nvGrpSpPr>
        <p:grpSpPr>
          <a:xfrm>
            <a:off x="7724615" y="5317451"/>
            <a:ext cx="4161751" cy="1184729"/>
            <a:chOff x="0" y="0"/>
            <a:chExt cx="2565722" cy="730386"/>
          </a:xfrm>
        </p:grpSpPr>
        <p:sp>
          <p:nvSpPr>
            <p:cNvPr id="9" name="Freeform 9"/>
            <p:cNvSpPr/>
            <p:nvPr/>
          </p:nvSpPr>
          <p:spPr>
            <a:xfrm>
              <a:off x="0" y="0"/>
              <a:ext cx="2565722" cy="730386"/>
            </a:xfrm>
            <a:custGeom>
              <a:avLst/>
              <a:gdLst/>
              <a:ahLst/>
              <a:cxnLst/>
              <a:rect l="l" t="t" r="r" b="b"/>
              <a:pathLst>
                <a:path w="2565722" h="730386">
                  <a:moveTo>
                    <a:pt x="0" y="0"/>
                  </a:moveTo>
                  <a:lnTo>
                    <a:pt x="2362522" y="0"/>
                  </a:lnTo>
                  <a:lnTo>
                    <a:pt x="2565722" y="365193"/>
                  </a:lnTo>
                  <a:lnTo>
                    <a:pt x="2362522" y="730386"/>
                  </a:lnTo>
                  <a:lnTo>
                    <a:pt x="0" y="730386"/>
                  </a:lnTo>
                  <a:lnTo>
                    <a:pt x="203200" y="365193"/>
                  </a:lnTo>
                  <a:lnTo>
                    <a:pt x="0" y="0"/>
                  </a:lnTo>
                  <a:close/>
                </a:path>
              </a:pathLst>
            </a:custGeom>
            <a:solidFill>
              <a:srgbClr val="FFA1A6"/>
            </a:solidFill>
          </p:spPr>
          <p:txBody>
            <a:bodyPr/>
            <a:lstStyle/>
            <a:p>
              <a:endParaRPr lang="en-US"/>
            </a:p>
          </p:txBody>
        </p:sp>
        <p:sp>
          <p:nvSpPr>
            <p:cNvPr id="10" name="TextBox 10"/>
            <p:cNvSpPr txBox="1"/>
            <p:nvPr/>
          </p:nvSpPr>
          <p:spPr>
            <a:xfrm>
              <a:off x="177800" y="-38100"/>
              <a:ext cx="2311722" cy="768486"/>
            </a:xfrm>
            <a:prstGeom prst="rect">
              <a:avLst/>
            </a:prstGeom>
          </p:spPr>
          <p:txBody>
            <a:bodyPr lIns="50800" tIns="50800" rIns="50800" bIns="50800" rtlCol="0" anchor="ctr"/>
            <a:lstStyle/>
            <a:p>
              <a:pPr algn="ctr">
                <a:lnSpc>
                  <a:spcPts val="2605"/>
                </a:lnSpc>
              </a:pPr>
              <a:endParaRPr/>
            </a:p>
          </p:txBody>
        </p:sp>
      </p:grpSp>
      <p:grpSp>
        <p:nvGrpSpPr>
          <p:cNvPr id="11" name="Group 11"/>
          <p:cNvGrpSpPr/>
          <p:nvPr/>
        </p:nvGrpSpPr>
        <p:grpSpPr>
          <a:xfrm rot="-10800000">
            <a:off x="6758203" y="6502179"/>
            <a:ext cx="4161751" cy="1184729"/>
            <a:chOff x="0" y="0"/>
            <a:chExt cx="2565722" cy="730386"/>
          </a:xfrm>
        </p:grpSpPr>
        <p:sp>
          <p:nvSpPr>
            <p:cNvPr id="12" name="Freeform 12"/>
            <p:cNvSpPr/>
            <p:nvPr/>
          </p:nvSpPr>
          <p:spPr>
            <a:xfrm>
              <a:off x="0" y="0"/>
              <a:ext cx="2565722" cy="730386"/>
            </a:xfrm>
            <a:custGeom>
              <a:avLst/>
              <a:gdLst/>
              <a:ahLst/>
              <a:cxnLst/>
              <a:rect l="l" t="t" r="r" b="b"/>
              <a:pathLst>
                <a:path w="2565722" h="730386">
                  <a:moveTo>
                    <a:pt x="0" y="0"/>
                  </a:moveTo>
                  <a:lnTo>
                    <a:pt x="2362522" y="0"/>
                  </a:lnTo>
                  <a:lnTo>
                    <a:pt x="2565722" y="365193"/>
                  </a:lnTo>
                  <a:lnTo>
                    <a:pt x="2362522" y="730386"/>
                  </a:lnTo>
                  <a:lnTo>
                    <a:pt x="0" y="730386"/>
                  </a:lnTo>
                  <a:lnTo>
                    <a:pt x="203200" y="365193"/>
                  </a:lnTo>
                  <a:lnTo>
                    <a:pt x="0" y="0"/>
                  </a:lnTo>
                  <a:close/>
                </a:path>
              </a:pathLst>
            </a:custGeom>
            <a:solidFill>
              <a:srgbClr val="FFB9BD"/>
            </a:solidFill>
          </p:spPr>
          <p:txBody>
            <a:bodyPr/>
            <a:lstStyle/>
            <a:p>
              <a:endParaRPr lang="en-US"/>
            </a:p>
          </p:txBody>
        </p:sp>
        <p:sp>
          <p:nvSpPr>
            <p:cNvPr id="13" name="TextBox 13"/>
            <p:cNvSpPr txBox="1"/>
            <p:nvPr/>
          </p:nvSpPr>
          <p:spPr>
            <a:xfrm>
              <a:off x="177800" y="-38100"/>
              <a:ext cx="2311722" cy="768486"/>
            </a:xfrm>
            <a:prstGeom prst="rect">
              <a:avLst/>
            </a:prstGeom>
          </p:spPr>
          <p:txBody>
            <a:bodyPr lIns="50800" tIns="50800" rIns="50800" bIns="50800" rtlCol="0" anchor="ctr"/>
            <a:lstStyle/>
            <a:p>
              <a:pPr algn="ctr">
                <a:lnSpc>
                  <a:spcPts val="2605"/>
                </a:lnSpc>
              </a:pPr>
              <a:endParaRPr/>
            </a:p>
          </p:txBody>
        </p:sp>
      </p:grpSp>
      <p:grpSp>
        <p:nvGrpSpPr>
          <p:cNvPr id="14" name="Group 14"/>
          <p:cNvGrpSpPr/>
          <p:nvPr/>
        </p:nvGrpSpPr>
        <p:grpSpPr>
          <a:xfrm>
            <a:off x="7724615" y="7682727"/>
            <a:ext cx="4161751" cy="1184729"/>
            <a:chOff x="0" y="0"/>
            <a:chExt cx="2565722" cy="730386"/>
          </a:xfrm>
        </p:grpSpPr>
        <p:sp>
          <p:nvSpPr>
            <p:cNvPr id="15" name="Freeform 15"/>
            <p:cNvSpPr/>
            <p:nvPr/>
          </p:nvSpPr>
          <p:spPr>
            <a:xfrm>
              <a:off x="0" y="0"/>
              <a:ext cx="2565722" cy="730386"/>
            </a:xfrm>
            <a:custGeom>
              <a:avLst/>
              <a:gdLst/>
              <a:ahLst/>
              <a:cxnLst/>
              <a:rect l="l" t="t" r="r" b="b"/>
              <a:pathLst>
                <a:path w="2565722" h="730386">
                  <a:moveTo>
                    <a:pt x="0" y="0"/>
                  </a:moveTo>
                  <a:lnTo>
                    <a:pt x="2362522" y="0"/>
                  </a:lnTo>
                  <a:lnTo>
                    <a:pt x="2565722" y="365193"/>
                  </a:lnTo>
                  <a:lnTo>
                    <a:pt x="2362522" y="730386"/>
                  </a:lnTo>
                  <a:lnTo>
                    <a:pt x="0" y="730386"/>
                  </a:lnTo>
                  <a:lnTo>
                    <a:pt x="203200" y="365193"/>
                  </a:lnTo>
                  <a:lnTo>
                    <a:pt x="0" y="0"/>
                  </a:lnTo>
                  <a:close/>
                </a:path>
              </a:pathLst>
            </a:custGeom>
            <a:solidFill>
              <a:srgbClr val="FFDFE1"/>
            </a:solidFill>
          </p:spPr>
          <p:txBody>
            <a:bodyPr/>
            <a:lstStyle/>
            <a:p>
              <a:endParaRPr lang="en-US"/>
            </a:p>
          </p:txBody>
        </p:sp>
        <p:sp>
          <p:nvSpPr>
            <p:cNvPr id="16" name="TextBox 16"/>
            <p:cNvSpPr txBox="1"/>
            <p:nvPr/>
          </p:nvSpPr>
          <p:spPr>
            <a:xfrm>
              <a:off x="177800" y="-38100"/>
              <a:ext cx="2311722" cy="768486"/>
            </a:xfrm>
            <a:prstGeom prst="rect">
              <a:avLst/>
            </a:prstGeom>
          </p:spPr>
          <p:txBody>
            <a:bodyPr lIns="50800" tIns="50800" rIns="50800" bIns="50800" rtlCol="0" anchor="ctr"/>
            <a:lstStyle/>
            <a:p>
              <a:pPr algn="ctr">
                <a:lnSpc>
                  <a:spcPts val="2605"/>
                </a:lnSpc>
              </a:pPr>
              <a:endParaRPr/>
            </a:p>
          </p:txBody>
        </p:sp>
      </p:grpSp>
      <p:sp>
        <p:nvSpPr>
          <p:cNvPr id="17" name="TextBox 17"/>
          <p:cNvSpPr txBox="1"/>
          <p:nvPr/>
        </p:nvSpPr>
        <p:spPr>
          <a:xfrm>
            <a:off x="6802031" y="4296550"/>
            <a:ext cx="2745282" cy="714199"/>
          </a:xfrm>
          <a:prstGeom prst="rect">
            <a:avLst/>
          </a:prstGeom>
        </p:spPr>
        <p:txBody>
          <a:bodyPr lIns="0" tIns="0" rIns="0" bIns="0" rtlCol="0" anchor="t">
            <a:spAutoFit/>
          </a:bodyPr>
          <a:lstStyle/>
          <a:p>
            <a:pPr marL="0" lvl="0" indent="0" algn="ctr">
              <a:lnSpc>
                <a:spcPts val="5185"/>
              </a:lnSpc>
              <a:spcBef>
                <a:spcPct val="0"/>
              </a:spcBef>
            </a:pPr>
            <a:r>
              <a:rPr lang="en-US" sz="3757">
                <a:solidFill>
                  <a:srgbClr val="000000"/>
                </a:solidFill>
                <a:latin typeface="Times New Roman Bold"/>
              </a:rPr>
              <a:t>Software</a:t>
            </a:r>
          </a:p>
        </p:txBody>
      </p:sp>
      <p:sp>
        <p:nvSpPr>
          <p:cNvPr id="18" name="TextBox 18"/>
          <p:cNvSpPr txBox="1"/>
          <p:nvPr/>
        </p:nvSpPr>
        <p:spPr>
          <a:xfrm>
            <a:off x="7768443" y="3111821"/>
            <a:ext cx="2745282" cy="714199"/>
          </a:xfrm>
          <a:prstGeom prst="rect">
            <a:avLst/>
          </a:prstGeom>
        </p:spPr>
        <p:txBody>
          <a:bodyPr lIns="0" tIns="0" rIns="0" bIns="0" rtlCol="0" anchor="t">
            <a:spAutoFit/>
          </a:bodyPr>
          <a:lstStyle/>
          <a:p>
            <a:pPr marL="0" lvl="0" indent="0" algn="ctr">
              <a:lnSpc>
                <a:spcPts val="5185"/>
              </a:lnSpc>
              <a:spcBef>
                <a:spcPct val="0"/>
              </a:spcBef>
            </a:pPr>
            <a:r>
              <a:rPr lang="en-US" sz="3757">
                <a:solidFill>
                  <a:srgbClr val="000000"/>
                </a:solidFill>
                <a:latin typeface="Times New Roman Bold"/>
              </a:rPr>
              <a:t>Hardware </a:t>
            </a:r>
          </a:p>
        </p:txBody>
      </p:sp>
      <p:sp>
        <p:nvSpPr>
          <p:cNvPr id="19" name="TextBox 19"/>
          <p:cNvSpPr txBox="1"/>
          <p:nvPr/>
        </p:nvSpPr>
        <p:spPr>
          <a:xfrm>
            <a:off x="11388338" y="2963590"/>
            <a:ext cx="6159836" cy="1275821"/>
          </a:xfrm>
          <a:prstGeom prst="rect">
            <a:avLst/>
          </a:prstGeom>
        </p:spPr>
        <p:txBody>
          <a:bodyPr lIns="0" tIns="0" rIns="0" bIns="0" rtlCol="0" anchor="t">
            <a:spAutoFit/>
          </a:bodyPr>
          <a:lstStyle/>
          <a:p>
            <a:pPr marL="0" lvl="0" indent="0" algn="just">
              <a:lnSpc>
                <a:spcPts val="3237"/>
              </a:lnSpc>
            </a:pPr>
            <a:r>
              <a:rPr lang="en-US" sz="2569">
                <a:solidFill>
                  <a:srgbClr val="000000"/>
                </a:solidFill>
                <a:latin typeface="Times New Roman"/>
              </a:rPr>
              <a:t>Computers are used to run related programs such as data storage, monitoring, cleaning, and servicing</a:t>
            </a:r>
          </a:p>
        </p:txBody>
      </p:sp>
      <p:sp>
        <p:nvSpPr>
          <p:cNvPr id="20" name="TextBox 20"/>
          <p:cNvSpPr txBox="1"/>
          <p:nvPr/>
        </p:nvSpPr>
        <p:spPr>
          <a:xfrm>
            <a:off x="8347593" y="5481278"/>
            <a:ext cx="2745282" cy="714199"/>
          </a:xfrm>
          <a:prstGeom prst="rect">
            <a:avLst/>
          </a:prstGeom>
        </p:spPr>
        <p:txBody>
          <a:bodyPr lIns="0" tIns="0" rIns="0" bIns="0" rtlCol="0" anchor="t">
            <a:spAutoFit/>
          </a:bodyPr>
          <a:lstStyle/>
          <a:p>
            <a:pPr marL="0" lvl="0" indent="0" algn="ctr">
              <a:lnSpc>
                <a:spcPts val="5185"/>
              </a:lnSpc>
              <a:spcBef>
                <a:spcPct val="0"/>
              </a:spcBef>
            </a:pPr>
            <a:r>
              <a:rPr lang="en-US" sz="3757">
                <a:solidFill>
                  <a:srgbClr val="000000"/>
                </a:solidFill>
                <a:latin typeface="Times New Roman Bold"/>
              </a:rPr>
              <a:t>Human</a:t>
            </a:r>
          </a:p>
        </p:txBody>
      </p:sp>
      <p:sp>
        <p:nvSpPr>
          <p:cNvPr id="21" name="TextBox 21"/>
          <p:cNvSpPr txBox="1"/>
          <p:nvPr/>
        </p:nvSpPr>
        <p:spPr>
          <a:xfrm>
            <a:off x="7381181" y="6666007"/>
            <a:ext cx="2745282" cy="714199"/>
          </a:xfrm>
          <a:prstGeom prst="rect">
            <a:avLst/>
          </a:prstGeom>
        </p:spPr>
        <p:txBody>
          <a:bodyPr lIns="0" tIns="0" rIns="0" bIns="0" rtlCol="0" anchor="t">
            <a:spAutoFit/>
          </a:bodyPr>
          <a:lstStyle/>
          <a:p>
            <a:pPr marL="0" lvl="0" indent="0" algn="ctr">
              <a:lnSpc>
                <a:spcPts val="5185"/>
              </a:lnSpc>
              <a:spcBef>
                <a:spcPct val="0"/>
              </a:spcBef>
            </a:pPr>
            <a:r>
              <a:rPr lang="en-US" sz="3757">
                <a:solidFill>
                  <a:srgbClr val="000000"/>
                </a:solidFill>
                <a:latin typeface="Times New Roman Bold"/>
              </a:rPr>
              <a:t>Procedure</a:t>
            </a:r>
          </a:p>
        </p:txBody>
      </p:sp>
      <p:sp>
        <p:nvSpPr>
          <p:cNvPr id="22" name="TextBox 22"/>
          <p:cNvSpPr txBox="1"/>
          <p:nvPr/>
        </p:nvSpPr>
        <p:spPr>
          <a:xfrm>
            <a:off x="8432849" y="7819909"/>
            <a:ext cx="2745282" cy="714199"/>
          </a:xfrm>
          <a:prstGeom prst="rect">
            <a:avLst/>
          </a:prstGeom>
        </p:spPr>
        <p:txBody>
          <a:bodyPr lIns="0" tIns="0" rIns="0" bIns="0" rtlCol="0" anchor="t">
            <a:spAutoFit/>
          </a:bodyPr>
          <a:lstStyle/>
          <a:p>
            <a:pPr marL="0" lvl="0" indent="0" algn="ctr">
              <a:lnSpc>
                <a:spcPts val="5185"/>
              </a:lnSpc>
              <a:spcBef>
                <a:spcPct val="0"/>
              </a:spcBef>
            </a:pPr>
            <a:r>
              <a:rPr lang="en-US" sz="3757">
                <a:solidFill>
                  <a:srgbClr val="051D40"/>
                </a:solidFill>
                <a:latin typeface="Times New Roman Bold"/>
              </a:rPr>
              <a:t>Data</a:t>
            </a:r>
          </a:p>
        </p:txBody>
      </p:sp>
      <p:sp>
        <p:nvSpPr>
          <p:cNvPr id="23" name="TextBox 23"/>
          <p:cNvSpPr txBox="1"/>
          <p:nvPr/>
        </p:nvSpPr>
        <p:spPr>
          <a:xfrm>
            <a:off x="84872" y="3849051"/>
            <a:ext cx="5856525" cy="1685397"/>
          </a:xfrm>
          <a:prstGeom prst="rect">
            <a:avLst/>
          </a:prstGeom>
        </p:spPr>
        <p:txBody>
          <a:bodyPr lIns="0" tIns="0" rIns="0" bIns="0" rtlCol="0" anchor="t">
            <a:spAutoFit/>
          </a:bodyPr>
          <a:lstStyle/>
          <a:p>
            <a:pPr marL="0" lvl="0" indent="0" algn="just">
              <a:lnSpc>
                <a:spcPts val="3237"/>
              </a:lnSpc>
            </a:pPr>
            <a:r>
              <a:rPr lang="en-US" sz="2569">
                <a:solidFill>
                  <a:srgbClr val="000000"/>
                </a:solidFill>
                <a:latin typeface="Times New Roman"/>
              </a:rPr>
              <a:t>Applications and websites for customers and employees. Invest in developing software used to control robot operations and camera monitoring software</a:t>
            </a:r>
          </a:p>
        </p:txBody>
      </p:sp>
      <p:sp>
        <p:nvSpPr>
          <p:cNvPr id="24" name="TextBox 24"/>
          <p:cNvSpPr txBox="1"/>
          <p:nvPr/>
        </p:nvSpPr>
        <p:spPr>
          <a:xfrm>
            <a:off x="12037445" y="5279351"/>
            <a:ext cx="5865086" cy="1275821"/>
          </a:xfrm>
          <a:prstGeom prst="rect">
            <a:avLst/>
          </a:prstGeom>
        </p:spPr>
        <p:txBody>
          <a:bodyPr lIns="0" tIns="0" rIns="0" bIns="0" rtlCol="0" anchor="t">
            <a:spAutoFit/>
          </a:bodyPr>
          <a:lstStyle/>
          <a:p>
            <a:pPr marL="0" lvl="0" indent="0" algn="just">
              <a:lnSpc>
                <a:spcPts val="3237"/>
              </a:lnSpc>
            </a:pPr>
            <a:r>
              <a:rPr lang="en-US" sz="2569">
                <a:solidFill>
                  <a:srgbClr val="000000"/>
                </a:solidFill>
                <a:latin typeface="Times New Roman"/>
              </a:rPr>
              <a:t>Includes customers who are system users, technical experts who build the system, marketing experts, and lawyers.</a:t>
            </a:r>
          </a:p>
        </p:txBody>
      </p:sp>
      <p:sp>
        <p:nvSpPr>
          <p:cNvPr id="25" name="TextBox 25"/>
          <p:cNvSpPr txBox="1"/>
          <p:nvPr/>
        </p:nvSpPr>
        <p:spPr>
          <a:xfrm>
            <a:off x="84872" y="6128802"/>
            <a:ext cx="6263018" cy="2094967"/>
          </a:xfrm>
          <a:prstGeom prst="rect">
            <a:avLst/>
          </a:prstGeom>
        </p:spPr>
        <p:txBody>
          <a:bodyPr lIns="0" tIns="0" rIns="0" bIns="0" rtlCol="0" anchor="t">
            <a:spAutoFit/>
          </a:bodyPr>
          <a:lstStyle/>
          <a:p>
            <a:pPr marL="0" lvl="0" indent="0" algn="just">
              <a:lnSpc>
                <a:spcPts val="3238"/>
              </a:lnSpc>
            </a:pPr>
            <a:r>
              <a:rPr lang="en-US" sz="2569">
                <a:solidFill>
                  <a:srgbClr val="000000"/>
                </a:solidFill>
                <a:latin typeface="Times New Roman"/>
              </a:rPr>
              <a:t>Customers enter information and the system checks age, allows guests to choose rooms, records length of stay and requested services. After checking out, the robot checks the room and cleans it.</a:t>
            </a:r>
          </a:p>
        </p:txBody>
      </p:sp>
      <p:sp>
        <p:nvSpPr>
          <p:cNvPr id="26" name="TextBox 26"/>
          <p:cNvSpPr txBox="1"/>
          <p:nvPr/>
        </p:nvSpPr>
        <p:spPr>
          <a:xfrm>
            <a:off x="12218175" y="7547772"/>
            <a:ext cx="5830390" cy="1685396"/>
          </a:xfrm>
          <a:prstGeom prst="rect">
            <a:avLst/>
          </a:prstGeom>
        </p:spPr>
        <p:txBody>
          <a:bodyPr lIns="0" tIns="0" rIns="0" bIns="0" rtlCol="0" anchor="t">
            <a:spAutoFit/>
          </a:bodyPr>
          <a:lstStyle/>
          <a:p>
            <a:pPr marL="0" lvl="0" indent="0" algn="just">
              <a:lnSpc>
                <a:spcPts val="3237"/>
              </a:lnSpc>
            </a:pPr>
            <a:r>
              <a:rPr lang="en-US" sz="2569">
                <a:solidFill>
                  <a:srgbClr val="000000"/>
                </a:solidFill>
                <a:latin typeface="Times New Roman"/>
              </a:rPr>
              <a:t>Customer transaction data and can be used to analyze customer behavior, personalize service offerings, and improve the customer experience.</a:t>
            </a:r>
          </a:p>
        </p:txBody>
      </p:sp>
      <p:sp>
        <p:nvSpPr>
          <p:cNvPr id="27" name="Freeform 27"/>
          <p:cNvSpPr/>
          <p:nvPr/>
        </p:nvSpPr>
        <p:spPr>
          <a:xfrm>
            <a:off x="342785" y="424595"/>
            <a:ext cx="2204332" cy="1208210"/>
          </a:xfrm>
          <a:custGeom>
            <a:avLst/>
            <a:gdLst/>
            <a:ahLst/>
            <a:cxnLst/>
            <a:rect l="l" t="t" r="r" b="b"/>
            <a:pathLst>
              <a:path w="2204332" h="1208210">
                <a:moveTo>
                  <a:pt x="0" y="0"/>
                </a:moveTo>
                <a:lnTo>
                  <a:pt x="2204331" y="0"/>
                </a:lnTo>
                <a:lnTo>
                  <a:pt x="2204331" y="1208210"/>
                </a:lnTo>
                <a:lnTo>
                  <a:pt x="0" y="1208210"/>
                </a:lnTo>
                <a:lnTo>
                  <a:pt x="0" y="0"/>
                </a:lnTo>
                <a:close/>
              </a:path>
            </a:pathLst>
          </a:custGeom>
          <a:blipFill>
            <a:blip r:embed="rId2"/>
            <a:stretch>
              <a:fillRect t="-993" r="-757" b="-993"/>
            </a:stretch>
          </a:blipFill>
        </p:spPr>
        <p:txBody>
          <a:bodyPr/>
          <a:lstStyle/>
          <a:p>
            <a:endParaRPr lang="en-US"/>
          </a:p>
        </p:txBody>
      </p:sp>
      <p:sp>
        <p:nvSpPr>
          <p:cNvPr id="28" name="Freeform 28"/>
          <p:cNvSpPr/>
          <p:nvPr/>
        </p:nvSpPr>
        <p:spPr>
          <a:xfrm>
            <a:off x="4688161" y="492986"/>
            <a:ext cx="8303316" cy="2279638"/>
          </a:xfrm>
          <a:custGeom>
            <a:avLst/>
            <a:gdLst/>
            <a:ahLst/>
            <a:cxnLst/>
            <a:rect l="l" t="t" r="r" b="b"/>
            <a:pathLst>
              <a:path w="8303316" h="2279638">
                <a:moveTo>
                  <a:pt x="0" y="0"/>
                </a:moveTo>
                <a:lnTo>
                  <a:pt x="8303316" y="0"/>
                </a:lnTo>
                <a:lnTo>
                  <a:pt x="8303316" y="2279638"/>
                </a:lnTo>
                <a:lnTo>
                  <a:pt x="0" y="22796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9" name="TextBox 29"/>
          <p:cNvSpPr txBox="1"/>
          <p:nvPr/>
        </p:nvSpPr>
        <p:spPr>
          <a:xfrm>
            <a:off x="4688161" y="996869"/>
            <a:ext cx="8641126" cy="1065299"/>
          </a:xfrm>
          <a:prstGeom prst="rect">
            <a:avLst/>
          </a:prstGeom>
        </p:spPr>
        <p:txBody>
          <a:bodyPr lIns="0" tIns="0" rIns="0" bIns="0" rtlCol="0" anchor="t">
            <a:spAutoFit/>
          </a:bodyPr>
          <a:lstStyle/>
          <a:p>
            <a:pPr algn="ctr">
              <a:lnSpc>
                <a:spcPts val="7833"/>
              </a:lnSpc>
              <a:spcBef>
                <a:spcPct val="0"/>
              </a:spcBef>
            </a:pPr>
            <a:r>
              <a:rPr lang="en-US" sz="5595">
                <a:solidFill>
                  <a:srgbClr val="000000"/>
                </a:solidFill>
                <a:latin typeface="Times New Roman Bold"/>
              </a:rPr>
              <a:t>INFORMATION SYSTEM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621527" y="6412866"/>
            <a:ext cx="3221125" cy="3379540"/>
          </a:xfrm>
          <a:custGeom>
            <a:avLst/>
            <a:gdLst/>
            <a:ahLst/>
            <a:cxnLst/>
            <a:rect l="l" t="t" r="r" b="b"/>
            <a:pathLst>
              <a:path w="3221125" h="3379540">
                <a:moveTo>
                  <a:pt x="0" y="0"/>
                </a:moveTo>
                <a:lnTo>
                  <a:pt x="3221124" y="0"/>
                </a:lnTo>
                <a:lnTo>
                  <a:pt x="3221124" y="3379541"/>
                </a:lnTo>
                <a:lnTo>
                  <a:pt x="0" y="3379541"/>
                </a:lnTo>
                <a:lnTo>
                  <a:pt x="0" y="0"/>
                </a:lnTo>
                <a:close/>
              </a:path>
            </a:pathLst>
          </a:custGeom>
          <a:blipFill>
            <a:blip r:embed="rId2"/>
            <a:stretch>
              <a:fillRect/>
            </a:stretch>
          </a:blipFill>
        </p:spPr>
        <p:txBody>
          <a:bodyPr/>
          <a:lstStyle/>
          <a:p>
            <a:endParaRPr lang="en-US"/>
          </a:p>
        </p:txBody>
      </p:sp>
      <p:sp>
        <p:nvSpPr>
          <p:cNvPr id="3" name="Freeform 3"/>
          <p:cNvSpPr/>
          <p:nvPr/>
        </p:nvSpPr>
        <p:spPr>
          <a:xfrm rot="-932096">
            <a:off x="7435966" y="3413344"/>
            <a:ext cx="3148279" cy="2802221"/>
          </a:xfrm>
          <a:custGeom>
            <a:avLst/>
            <a:gdLst/>
            <a:ahLst/>
            <a:cxnLst/>
            <a:rect l="l" t="t" r="r" b="b"/>
            <a:pathLst>
              <a:path w="3148279" h="2802221">
                <a:moveTo>
                  <a:pt x="0" y="0"/>
                </a:moveTo>
                <a:lnTo>
                  <a:pt x="3148279" y="0"/>
                </a:lnTo>
                <a:lnTo>
                  <a:pt x="3148279" y="2802221"/>
                </a:lnTo>
                <a:lnTo>
                  <a:pt x="0" y="2802221"/>
                </a:lnTo>
                <a:lnTo>
                  <a:pt x="0" y="0"/>
                </a:lnTo>
                <a:close/>
              </a:path>
            </a:pathLst>
          </a:custGeom>
          <a:blipFill>
            <a:blip r:embed="rId3"/>
            <a:stretch>
              <a:fillRect/>
            </a:stretch>
          </a:blipFill>
        </p:spPr>
        <p:txBody>
          <a:bodyPr/>
          <a:lstStyle/>
          <a:p>
            <a:endParaRPr lang="en-US"/>
          </a:p>
        </p:txBody>
      </p:sp>
      <p:sp>
        <p:nvSpPr>
          <p:cNvPr id="4" name="Freeform 4"/>
          <p:cNvSpPr/>
          <p:nvPr/>
        </p:nvSpPr>
        <p:spPr>
          <a:xfrm rot="670078">
            <a:off x="14325387" y="7442414"/>
            <a:ext cx="2214953" cy="2654589"/>
          </a:xfrm>
          <a:custGeom>
            <a:avLst/>
            <a:gdLst/>
            <a:ahLst/>
            <a:cxnLst/>
            <a:rect l="l" t="t" r="r" b="b"/>
            <a:pathLst>
              <a:path w="2214953" h="2654589">
                <a:moveTo>
                  <a:pt x="0" y="0"/>
                </a:moveTo>
                <a:lnTo>
                  <a:pt x="2214953" y="0"/>
                </a:lnTo>
                <a:lnTo>
                  <a:pt x="2214953" y="2654589"/>
                </a:lnTo>
                <a:lnTo>
                  <a:pt x="0" y="2654589"/>
                </a:lnTo>
                <a:lnTo>
                  <a:pt x="0" y="0"/>
                </a:lnTo>
                <a:close/>
              </a:path>
            </a:pathLst>
          </a:custGeom>
          <a:blipFill>
            <a:blip r:embed="rId4"/>
            <a:stretch>
              <a:fillRect r="-4019"/>
            </a:stretch>
          </a:blipFill>
        </p:spPr>
        <p:txBody>
          <a:bodyPr/>
          <a:lstStyle/>
          <a:p>
            <a:endParaRPr lang="en-US"/>
          </a:p>
        </p:txBody>
      </p:sp>
      <p:sp>
        <p:nvSpPr>
          <p:cNvPr id="5" name="Freeform 5"/>
          <p:cNvSpPr/>
          <p:nvPr/>
        </p:nvSpPr>
        <p:spPr>
          <a:xfrm>
            <a:off x="283968" y="651091"/>
            <a:ext cx="2337559" cy="1281232"/>
          </a:xfrm>
          <a:custGeom>
            <a:avLst/>
            <a:gdLst/>
            <a:ahLst/>
            <a:cxnLst/>
            <a:rect l="l" t="t" r="r" b="b"/>
            <a:pathLst>
              <a:path w="2337559" h="1281232">
                <a:moveTo>
                  <a:pt x="0" y="0"/>
                </a:moveTo>
                <a:lnTo>
                  <a:pt x="2337559" y="0"/>
                </a:lnTo>
                <a:lnTo>
                  <a:pt x="2337559" y="1281232"/>
                </a:lnTo>
                <a:lnTo>
                  <a:pt x="0" y="1281232"/>
                </a:lnTo>
                <a:lnTo>
                  <a:pt x="0" y="0"/>
                </a:lnTo>
                <a:close/>
              </a:path>
            </a:pathLst>
          </a:custGeom>
          <a:blipFill>
            <a:blip r:embed="rId5"/>
            <a:stretch>
              <a:fillRect t="-993" r="-757" b="-993"/>
            </a:stretch>
          </a:blipFill>
        </p:spPr>
        <p:txBody>
          <a:bodyPr/>
          <a:lstStyle/>
          <a:p>
            <a:endParaRPr lang="en-US"/>
          </a:p>
        </p:txBody>
      </p:sp>
      <p:sp>
        <p:nvSpPr>
          <p:cNvPr id="6" name="Freeform 6"/>
          <p:cNvSpPr/>
          <p:nvPr/>
        </p:nvSpPr>
        <p:spPr>
          <a:xfrm rot="957141">
            <a:off x="11767700" y="-548602"/>
            <a:ext cx="7797546" cy="8229600"/>
          </a:xfrm>
          <a:custGeom>
            <a:avLst/>
            <a:gdLst/>
            <a:ahLst/>
            <a:cxnLst/>
            <a:rect l="l" t="t" r="r" b="b"/>
            <a:pathLst>
              <a:path w="7797546" h="8229600">
                <a:moveTo>
                  <a:pt x="0" y="0"/>
                </a:moveTo>
                <a:lnTo>
                  <a:pt x="7797546" y="0"/>
                </a:lnTo>
                <a:lnTo>
                  <a:pt x="7797546" y="8229600"/>
                </a:lnTo>
                <a:lnTo>
                  <a:pt x="0" y="8229600"/>
                </a:lnTo>
                <a:lnTo>
                  <a:pt x="0" y="0"/>
                </a:lnTo>
                <a:close/>
              </a:path>
            </a:pathLst>
          </a:custGeom>
          <a:blipFill>
            <a:blip r:embed="rId6"/>
            <a:stretch>
              <a:fillRect/>
            </a:stretch>
          </a:blipFill>
        </p:spPr>
        <p:txBody>
          <a:bodyPr/>
          <a:lstStyle/>
          <a:p>
            <a:endParaRPr lang="en-US"/>
          </a:p>
        </p:txBody>
      </p:sp>
      <p:sp>
        <p:nvSpPr>
          <p:cNvPr id="7" name="TextBox 7"/>
          <p:cNvSpPr txBox="1"/>
          <p:nvPr/>
        </p:nvSpPr>
        <p:spPr>
          <a:xfrm>
            <a:off x="2938484" y="1760873"/>
            <a:ext cx="15349516" cy="1269578"/>
          </a:xfrm>
          <a:prstGeom prst="rect">
            <a:avLst/>
          </a:prstGeom>
        </p:spPr>
        <p:txBody>
          <a:bodyPr lIns="0" tIns="0" rIns="0" bIns="0" rtlCol="0" anchor="t">
            <a:spAutoFit/>
          </a:bodyPr>
          <a:lstStyle/>
          <a:p>
            <a:pPr algn="l">
              <a:lnSpc>
                <a:spcPts val="9931"/>
              </a:lnSpc>
            </a:pPr>
            <a:r>
              <a:rPr lang="en-US" sz="8275">
                <a:solidFill>
                  <a:srgbClr val="000000"/>
                </a:solidFill>
                <a:latin typeface="Times New Roman Bold"/>
              </a:rPr>
              <a:t>ORGANIZATION ISSUES</a:t>
            </a:r>
          </a:p>
        </p:txBody>
      </p:sp>
      <p:grpSp>
        <p:nvGrpSpPr>
          <p:cNvPr id="8" name="Group 8"/>
          <p:cNvGrpSpPr/>
          <p:nvPr/>
        </p:nvGrpSpPr>
        <p:grpSpPr>
          <a:xfrm>
            <a:off x="8251328" y="6066652"/>
            <a:ext cx="4145255" cy="3057770"/>
            <a:chOff x="0" y="0"/>
            <a:chExt cx="5527007" cy="4077027"/>
          </a:xfrm>
        </p:grpSpPr>
        <p:sp>
          <p:nvSpPr>
            <p:cNvPr id="9" name="TextBox 9"/>
            <p:cNvSpPr txBox="1"/>
            <p:nvPr/>
          </p:nvSpPr>
          <p:spPr>
            <a:xfrm>
              <a:off x="178257" y="2025183"/>
              <a:ext cx="5348750" cy="2051844"/>
            </a:xfrm>
            <a:prstGeom prst="rect">
              <a:avLst/>
            </a:prstGeom>
          </p:spPr>
          <p:txBody>
            <a:bodyPr lIns="0" tIns="0" rIns="0" bIns="0" rtlCol="0" anchor="t">
              <a:spAutoFit/>
            </a:bodyPr>
            <a:lstStyle/>
            <a:p>
              <a:pPr algn="l">
                <a:lnSpc>
                  <a:spcPts val="6000"/>
                </a:lnSpc>
              </a:pPr>
              <a:r>
                <a:rPr lang="en-US" sz="5000">
                  <a:solidFill>
                    <a:srgbClr val="000000"/>
                  </a:solidFill>
                  <a:latin typeface="Times New Roman "/>
                </a:rPr>
                <a:t>Website not yet developed.</a:t>
              </a:r>
            </a:p>
          </p:txBody>
        </p:sp>
        <p:sp>
          <p:nvSpPr>
            <p:cNvPr id="10" name="TextBox 10"/>
            <p:cNvSpPr txBox="1"/>
            <p:nvPr/>
          </p:nvSpPr>
          <p:spPr>
            <a:xfrm>
              <a:off x="0" y="0"/>
              <a:ext cx="5348749" cy="2019300"/>
            </a:xfrm>
            <a:prstGeom prst="rect">
              <a:avLst/>
            </a:prstGeom>
          </p:spPr>
          <p:txBody>
            <a:bodyPr lIns="0" tIns="0" rIns="0" bIns="0" rtlCol="0" anchor="t">
              <a:spAutoFit/>
            </a:bodyPr>
            <a:lstStyle/>
            <a:p>
              <a:pPr algn="l">
                <a:lnSpc>
                  <a:spcPts val="11999"/>
                </a:lnSpc>
              </a:pPr>
              <a:r>
                <a:rPr lang="en-US" sz="9999">
                  <a:solidFill>
                    <a:srgbClr val="000000"/>
                  </a:solidFill>
                  <a:latin typeface="Muli Bold"/>
                </a:rPr>
                <a:t>02</a:t>
              </a:r>
            </a:p>
          </p:txBody>
        </p:sp>
      </p:grpSp>
      <p:grpSp>
        <p:nvGrpSpPr>
          <p:cNvPr id="11" name="Group 11"/>
          <p:cNvGrpSpPr/>
          <p:nvPr/>
        </p:nvGrpSpPr>
        <p:grpSpPr>
          <a:xfrm>
            <a:off x="13799918" y="3651752"/>
            <a:ext cx="4011562" cy="2988784"/>
            <a:chOff x="0" y="91981"/>
            <a:chExt cx="5348749" cy="3985046"/>
          </a:xfrm>
        </p:grpSpPr>
        <p:sp>
          <p:nvSpPr>
            <p:cNvPr id="12" name="TextBox 12"/>
            <p:cNvSpPr txBox="1"/>
            <p:nvPr/>
          </p:nvSpPr>
          <p:spPr>
            <a:xfrm>
              <a:off x="0" y="2025183"/>
              <a:ext cx="5348749" cy="2051844"/>
            </a:xfrm>
            <a:prstGeom prst="rect">
              <a:avLst/>
            </a:prstGeom>
          </p:spPr>
          <p:txBody>
            <a:bodyPr wrap="square" lIns="0" tIns="0" rIns="0" bIns="0" rtlCol="0" anchor="t">
              <a:spAutoFit/>
            </a:bodyPr>
            <a:lstStyle/>
            <a:p>
              <a:pPr algn="l">
                <a:lnSpc>
                  <a:spcPts val="6000"/>
                </a:lnSpc>
              </a:pPr>
              <a:r>
                <a:rPr lang="en-US" sz="5000" b="1">
                  <a:solidFill>
                    <a:srgbClr val="000000"/>
                  </a:solidFill>
                  <a:latin typeface="Times New Roman "/>
                </a:rPr>
                <a:t>Energy wastage.</a:t>
              </a:r>
            </a:p>
          </p:txBody>
        </p:sp>
        <p:sp>
          <p:nvSpPr>
            <p:cNvPr id="13" name="TextBox 13"/>
            <p:cNvSpPr txBox="1"/>
            <p:nvPr/>
          </p:nvSpPr>
          <p:spPr>
            <a:xfrm>
              <a:off x="142877" y="91981"/>
              <a:ext cx="4354517" cy="2019300"/>
            </a:xfrm>
            <a:prstGeom prst="rect">
              <a:avLst/>
            </a:prstGeom>
          </p:spPr>
          <p:txBody>
            <a:bodyPr lIns="0" tIns="0" rIns="0" bIns="0" rtlCol="0" anchor="t">
              <a:spAutoFit/>
            </a:bodyPr>
            <a:lstStyle/>
            <a:p>
              <a:pPr algn="l">
                <a:lnSpc>
                  <a:spcPts val="11999"/>
                </a:lnSpc>
              </a:pPr>
              <a:r>
                <a:rPr lang="en-US" sz="9999">
                  <a:solidFill>
                    <a:srgbClr val="000000"/>
                  </a:solidFill>
                  <a:latin typeface="Muli Bold"/>
                </a:rPr>
                <a:t>03</a:t>
              </a:r>
            </a:p>
          </p:txBody>
        </p:sp>
      </p:grpSp>
      <p:grpSp>
        <p:nvGrpSpPr>
          <p:cNvPr id="14" name="Group 14"/>
          <p:cNvGrpSpPr/>
          <p:nvPr/>
        </p:nvGrpSpPr>
        <p:grpSpPr>
          <a:xfrm>
            <a:off x="333035" y="3584114"/>
            <a:ext cx="3943272" cy="3875307"/>
            <a:chOff x="0" y="0"/>
            <a:chExt cx="5257695" cy="5167076"/>
          </a:xfrm>
        </p:grpSpPr>
        <p:sp>
          <p:nvSpPr>
            <p:cNvPr id="15" name="TextBox 15"/>
            <p:cNvSpPr txBox="1"/>
            <p:nvPr/>
          </p:nvSpPr>
          <p:spPr>
            <a:xfrm>
              <a:off x="0" y="2014301"/>
              <a:ext cx="5257695" cy="3152775"/>
            </a:xfrm>
            <a:prstGeom prst="rect">
              <a:avLst/>
            </a:prstGeom>
          </p:spPr>
          <p:txBody>
            <a:bodyPr lIns="0" tIns="0" rIns="0" bIns="0" rtlCol="0" anchor="t">
              <a:spAutoFit/>
            </a:bodyPr>
            <a:lstStyle/>
            <a:p>
              <a:pPr algn="l">
                <a:lnSpc>
                  <a:spcPts val="6000"/>
                </a:lnSpc>
              </a:pPr>
              <a:r>
                <a:rPr lang="en-US" sz="5000">
                  <a:solidFill>
                    <a:srgbClr val="000000"/>
                  </a:solidFill>
                  <a:latin typeface="Times New Roman" panose="02020603050405020304" pitchFamily="18" charset="0"/>
                  <a:cs typeface="Times New Roman" panose="02020603050405020304" pitchFamily="18" charset="0"/>
                </a:rPr>
                <a:t>Low-quality fire alarm system.</a:t>
              </a:r>
            </a:p>
          </p:txBody>
        </p:sp>
        <p:sp>
          <p:nvSpPr>
            <p:cNvPr id="16" name="TextBox 16"/>
            <p:cNvSpPr txBox="1"/>
            <p:nvPr/>
          </p:nvSpPr>
          <p:spPr>
            <a:xfrm>
              <a:off x="0" y="0"/>
              <a:ext cx="5257695" cy="2019300"/>
            </a:xfrm>
            <a:prstGeom prst="rect">
              <a:avLst/>
            </a:prstGeom>
          </p:spPr>
          <p:txBody>
            <a:bodyPr lIns="0" tIns="0" rIns="0" bIns="0" rtlCol="0" anchor="t">
              <a:spAutoFit/>
            </a:bodyPr>
            <a:lstStyle/>
            <a:p>
              <a:pPr algn="l">
                <a:lnSpc>
                  <a:spcPts val="11999"/>
                </a:lnSpc>
              </a:pPr>
              <a:r>
                <a:rPr lang="en-US" sz="9999">
                  <a:solidFill>
                    <a:srgbClr val="000000"/>
                  </a:solidFill>
                  <a:latin typeface="Muli Bold"/>
                </a:rPr>
                <a:t>01</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27541" y="3761638"/>
            <a:ext cx="13232917" cy="3633037"/>
          </a:xfrm>
          <a:custGeom>
            <a:avLst/>
            <a:gdLst/>
            <a:ahLst/>
            <a:cxnLst/>
            <a:rect l="l" t="t" r="r" b="b"/>
            <a:pathLst>
              <a:path w="13232917" h="3633037">
                <a:moveTo>
                  <a:pt x="0" y="0"/>
                </a:moveTo>
                <a:lnTo>
                  <a:pt x="13232918" y="0"/>
                </a:lnTo>
                <a:lnTo>
                  <a:pt x="13232918" y="3633038"/>
                </a:lnTo>
                <a:lnTo>
                  <a:pt x="0" y="36330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4569104" y="3901842"/>
            <a:ext cx="9559131" cy="3968263"/>
          </a:xfrm>
          <a:prstGeom prst="rect">
            <a:avLst/>
          </a:prstGeom>
        </p:spPr>
        <p:txBody>
          <a:bodyPr lIns="0" tIns="0" rIns="0" bIns="0" rtlCol="0" anchor="t">
            <a:spAutoFit/>
          </a:bodyPr>
          <a:lstStyle/>
          <a:p>
            <a:pPr algn="ctr">
              <a:lnSpc>
                <a:spcPts val="10049"/>
              </a:lnSpc>
            </a:pPr>
            <a:r>
              <a:rPr lang="en-US" sz="8374">
                <a:solidFill>
                  <a:srgbClr val="010101"/>
                </a:solidFill>
                <a:latin typeface="Times New Roman Bold"/>
              </a:rPr>
              <a:t>Low-Quality </a:t>
            </a:r>
          </a:p>
          <a:p>
            <a:pPr algn="ctr">
              <a:lnSpc>
                <a:spcPts val="10049"/>
              </a:lnSpc>
            </a:pPr>
            <a:r>
              <a:rPr lang="en-US" sz="8374">
                <a:solidFill>
                  <a:srgbClr val="010101"/>
                </a:solidFill>
                <a:latin typeface="Times New Roman Bold"/>
              </a:rPr>
              <a:t>Fire Alarm System</a:t>
            </a:r>
          </a:p>
          <a:p>
            <a:pPr algn="ctr">
              <a:lnSpc>
                <a:spcPts val="10049"/>
              </a:lnSpc>
            </a:pPr>
            <a:endParaRPr lang="en-US" sz="8374">
              <a:solidFill>
                <a:srgbClr val="010101"/>
              </a:solidFill>
              <a:latin typeface="Times New Roman Bold"/>
            </a:endParaRPr>
          </a:p>
        </p:txBody>
      </p:sp>
      <p:sp>
        <p:nvSpPr>
          <p:cNvPr id="4" name="Freeform 4"/>
          <p:cNvSpPr/>
          <p:nvPr/>
        </p:nvSpPr>
        <p:spPr>
          <a:xfrm>
            <a:off x="7532446" y="1028700"/>
            <a:ext cx="2347203" cy="1286518"/>
          </a:xfrm>
          <a:custGeom>
            <a:avLst/>
            <a:gdLst/>
            <a:ahLst/>
            <a:cxnLst/>
            <a:rect l="l" t="t" r="r" b="b"/>
            <a:pathLst>
              <a:path w="2347203" h="1286518">
                <a:moveTo>
                  <a:pt x="0" y="0"/>
                </a:moveTo>
                <a:lnTo>
                  <a:pt x="2347203" y="0"/>
                </a:lnTo>
                <a:lnTo>
                  <a:pt x="2347203" y="1286518"/>
                </a:lnTo>
                <a:lnTo>
                  <a:pt x="0" y="1286518"/>
                </a:lnTo>
                <a:lnTo>
                  <a:pt x="0" y="0"/>
                </a:lnTo>
                <a:close/>
              </a:path>
            </a:pathLst>
          </a:custGeom>
          <a:blipFill>
            <a:blip r:embed="rId4"/>
            <a:stretch>
              <a:fillRect t="-993" r="-757" b="-993"/>
            </a:stretch>
          </a:blipFill>
        </p:spPr>
        <p:txBody>
          <a:bodyP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DFE1"/>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4708202" y="-266700"/>
            <a:ext cx="13732198" cy="16338762"/>
            <a:chOff x="0" y="0"/>
            <a:chExt cx="6231580" cy="7414421"/>
          </a:xfrm>
        </p:grpSpPr>
        <p:sp>
          <p:nvSpPr>
            <p:cNvPr id="3" name="Freeform 3"/>
            <p:cNvSpPr/>
            <p:nvPr/>
          </p:nvSpPr>
          <p:spPr>
            <a:xfrm>
              <a:off x="0" y="0"/>
              <a:ext cx="6231580" cy="7414421"/>
            </a:xfrm>
            <a:custGeom>
              <a:avLst/>
              <a:gdLst/>
              <a:ahLst/>
              <a:cxnLst/>
              <a:rect l="l" t="t" r="r" b="b"/>
              <a:pathLst>
                <a:path w="6231580" h="7414421">
                  <a:moveTo>
                    <a:pt x="6231580" y="7414421"/>
                  </a:moveTo>
                  <a:lnTo>
                    <a:pt x="0" y="7414421"/>
                  </a:lnTo>
                  <a:lnTo>
                    <a:pt x="0" y="0"/>
                  </a:lnTo>
                  <a:lnTo>
                    <a:pt x="6231580" y="7414421"/>
                  </a:lnTo>
                  <a:close/>
                </a:path>
              </a:pathLst>
            </a:custGeom>
            <a:solidFill>
              <a:srgbClr val="FFFFFF"/>
            </a:solidFill>
          </p:spPr>
          <p:txBody>
            <a:bodyPr/>
            <a:lstStyle/>
            <a:p>
              <a:endParaRPr lang="en-US"/>
            </a:p>
          </p:txBody>
        </p:sp>
      </p:grpSp>
      <p:sp>
        <p:nvSpPr>
          <p:cNvPr id="4" name="TextBox 4"/>
          <p:cNvSpPr txBox="1"/>
          <p:nvPr/>
        </p:nvSpPr>
        <p:spPr>
          <a:xfrm>
            <a:off x="-297630" y="3161904"/>
            <a:ext cx="7871247" cy="6677025"/>
          </a:xfrm>
          <a:prstGeom prst="rect">
            <a:avLst/>
          </a:prstGeom>
        </p:spPr>
        <p:txBody>
          <a:bodyPr lIns="0" tIns="0" rIns="0" bIns="0" rtlCol="0" anchor="t">
            <a:spAutoFit/>
          </a:bodyPr>
          <a:lstStyle/>
          <a:p>
            <a:pPr marL="863599" lvl="1" indent="-431800" algn="just">
              <a:lnSpc>
                <a:spcPts val="4799"/>
              </a:lnSpc>
              <a:buFont typeface="Arial"/>
              <a:buChar char="•"/>
            </a:pPr>
            <a:r>
              <a:rPr lang="en-US" sz="3999">
                <a:solidFill>
                  <a:srgbClr val="000000"/>
                </a:solidFill>
                <a:latin typeface="Times New Roman Bold"/>
              </a:rPr>
              <a:t>Outdated fire alarm systems </a:t>
            </a:r>
            <a:r>
              <a:rPr lang="en-US" sz="3999">
                <a:solidFill>
                  <a:srgbClr val="000000"/>
                </a:solidFill>
                <a:latin typeface="Times New Roman"/>
              </a:rPr>
              <a:t>cause reduced performance and reliability concerns.</a:t>
            </a:r>
          </a:p>
          <a:p>
            <a:pPr algn="just">
              <a:lnSpc>
                <a:spcPts val="4799"/>
              </a:lnSpc>
            </a:pPr>
            <a:endParaRPr lang="en-US" sz="3999">
              <a:solidFill>
                <a:srgbClr val="000000"/>
              </a:solidFill>
              <a:latin typeface="Times New Roman"/>
            </a:endParaRPr>
          </a:p>
          <a:p>
            <a:pPr marL="863599" lvl="1" indent="-431800" algn="just">
              <a:lnSpc>
                <a:spcPts val="4799"/>
              </a:lnSpc>
              <a:buFont typeface="Arial"/>
              <a:buChar char="•"/>
            </a:pPr>
            <a:r>
              <a:rPr lang="en-US" sz="3999">
                <a:solidFill>
                  <a:srgbClr val="000000"/>
                </a:solidFill>
                <a:latin typeface="Times New Roman"/>
              </a:rPr>
              <a:t>Encountered many </a:t>
            </a:r>
            <a:r>
              <a:rPr lang="en-US" sz="3999">
                <a:solidFill>
                  <a:srgbClr val="000000"/>
                </a:solidFill>
                <a:latin typeface="Times New Roman Bold"/>
              </a:rPr>
              <a:t>system errors </a:t>
            </a:r>
            <a:r>
              <a:rPr lang="en-US" sz="3999">
                <a:solidFill>
                  <a:srgbClr val="000000"/>
                </a:solidFill>
                <a:latin typeface="Times New Roman"/>
              </a:rPr>
              <a:t>and </a:t>
            </a:r>
            <a:r>
              <a:rPr lang="en-US" sz="3999">
                <a:solidFill>
                  <a:srgbClr val="000000"/>
                </a:solidFill>
                <a:latin typeface="Times New Roman Bold"/>
              </a:rPr>
              <a:t>unhappy customers.</a:t>
            </a:r>
          </a:p>
          <a:p>
            <a:pPr algn="just">
              <a:lnSpc>
                <a:spcPts val="4799"/>
              </a:lnSpc>
            </a:pPr>
            <a:endParaRPr lang="en-US" sz="3999">
              <a:solidFill>
                <a:srgbClr val="000000"/>
              </a:solidFill>
              <a:latin typeface="Times New Roman Bold"/>
            </a:endParaRPr>
          </a:p>
          <a:p>
            <a:pPr marL="863599" lvl="1" indent="-431800" algn="just">
              <a:lnSpc>
                <a:spcPts val="4799"/>
              </a:lnSpc>
              <a:buFont typeface="Arial"/>
              <a:buChar char="•"/>
            </a:pPr>
            <a:r>
              <a:rPr lang="en-US" sz="3999">
                <a:solidFill>
                  <a:srgbClr val="000000"/>
                </a:solidFill>
                <a:latin typeface="Times New Roman Bold"/>
              </a:rPr>
              <a:t>Lack of real-time data</a:t>
            </a:r>
            <a:r>
              <a:rPr lang="en-US" sz="3999">
                <a:solidFill>
                  <a:srgbClr val="000000"/>
                </a:solidFill>
                <a:latin typeface="Times New Roman"/>
              </a:rPr>
              <a:t> and </a:t>
            </a:r>
            <a:r>
              <a:rPr lang="en-US" sz="3999">
                <a:solidFill>
                  <a:srgbClr val="000000"/>
                </a:solidFill>
                <a:latin typeface="Times New Roman Bold"/>
              </a:rPr>
              <a:t>remote monitoring capabilities </a:t>
            </a:r>
            <a:r>
              <a:rPr lang="en-US" sz="3999">
                <a:solidFill>
                  <a:srgbClr val="000000"/>
                </a:solidFill>
                <a:latin typeface="Times New Roman"/>
              </a:rPr>
              <a:t>has</a:t>
            </a:r>
            <a:r>
              <a:rPr lang="en-US" sz="3999">
                <a:solidFill>
                  <a:srgbClr val="000000"/>
                </a:solidFill>
                <a:latin typeface="Times New Roman Bold"/>
              </a:rPr>
              <a:t> </a:t>
            </a:r>
            <a:r>
              <a:rPr lang="en-US" sz="3999">
                <a:solidFill>
                  <a:srgbClr val="000000"/>
                </a:solidFill>
                <a:latin typeface="Times New Roman"/>
              </a:rPr>
              <a:t>made it difficult to identify and resolve potential problems.</a:t>
            </a:r>
          </a:p>
        </p:txBody>
      </p:sp>
      <p:sp>
        <p:nvSpPr>
          <p:cNvPr id="5" name="TextBox 5"/>
          <p:cNvSpPr txBox="1"/>
          <p:nvPr/>
        </p:nvSpPr>
        <p:spPr>
          <a:xfrm>
            <a:off x="409180" y="106632"/>
            <a:ext cx="4990614" cy="2257425"/>
          </a:xfrm>
          <a:prstGeom prst="rect">
            <a:avLst/>
          </a:prstGeom>
        </p:spPr>
        <p:txBody>
          <a:bodyPr lIns="0" tIns="0" rIns="0" bIns="0" rtlCol="0" anchor="t">
            <a:spAutoFit/>
          </a:bodyPr>
          <a:lstStyle/>
          <a:p>
            <a:pPr algn="l">
              <a:lnSpc>
                <a:spcPts val="7200"/>
              </a:lnSpc>
            </a:pPr>
            <a:r>
              <a:rPr lang="en-US" sz="6000">
                <a:solidFill>
                  <a:srgbClr val="000000"/>
                </a:solidFill>
                <a:latin typeface="Times New Roman Bold"/>
              </a:rPr>
              <a:t>Existing</a:t>
            </a:r>
          </a:p>
          <a:p>
            <a:pPr algn="l">
              <a:lnSpc>
                <a:spcPts val="9600"/>
              </a:lnSpc>
            </a:pPr>
            <a:r>
              <a:rPr lang="en-US" sz="8000">
                <a:solidFill>
                  <a:srgbClr val="000000"/>
                </a:solidFill>
                <a:latin typeface="Times New Roman Bold"/>
              </a:rPr>
              <a:t>Problem</a:t>
            </a:r>
          </a:p>
        </p:txBody>
      </p:sp>
      <p:sp>
        <p:nvSpPr>
          <p:cNvPr id="6" name="TextBox 6"/>
          <p:cNvSpPr txBox="1"/>
          <p:nvPr/>
        </p:nvSpPr>
        <p:spPr>
          <a:xfrm>
            <a:off x="9144000" y="761604"/>
            <a:ext cx="9121070" cy="4876800"/>
          </a:xfrm>
          <a:prstGeom prst="rect">
            <a:avLst/>
          </a:prstGeom>
        </p:spPr>
        <p:txBody>
          <a:bodyPr lIns="0" tIns="0" rIns="0" bIns="0" rtlCol="0" anchor="t">
            <a:spAutoFit/>
          </a:bodyPr>
          <a:lstStyle/>
          <a:p>
            <a:pPr marL="863599" lvl="1" indent="-431800" algn="just">
              <a:lnSpc>
                <a:spcPts val="4799"/>
              </a:lnSpc>
              <a:buFont typeface="Arial"/>
              <a:buChar char="•"/>
            </a:pPr>
            <a:r>
              <a:rPr lang="en-US" sz="3999">
                <a:solidFill>
                  <a:srgbClr val="000000"/>
                </a:solidFill>
                <a:latin typeface="Times New Roman"/>
              </a:rPr>
              <a:t>IoT systems integrate </a:t>
            </a:r>
            <a:r>
              <a:rPr lang="en-US" sz="3999">
                <a:solidFill>
                  <a:srgbClr val="000000"/>
                </a:solidFill>
                <a:latin typeface="Times New Roman Bold"/>
              </a:rPr>
              <a:t>sensors and devices. </a:t>
            </a:r>
          </a:p>
          <a:p>
            <a:pPr algn="just">
              <a:lnSpc>
                <a:spcPts val="4799"/>
              </a:lnSpc>
            </a:pPr>
            <a:endParaRPr lang="en-US" sz="3999">
              <a:solidFill>
                <a:srgbClr val="000000"/>
              </a:solidFill>
              <a:latin typeface="Times New Roman Bold"/>
            </a:endParaRPr>
          </a:p>
          <a:p>
            <a:pPr marL="863599" lvl="1" indent="-431800" algn="just">
              <a:lnSpc>
                <a:spcPts val="4799"/>
              </a:lnSpc>
              <a:buFont typeface="Arial"/>
              <a:buChar char="•"/>
            </a:pPr>
            <a:r>
              <a:rPr lang="en-US" sz="3999">
                <a:solidFill>
                  <a:srgbClr val="000000"/>
                </a:solidFill>
                <a:latin typeface="Times New Roman Bold"/>
              </a:rPr>
              <a:t>Enabling real-time monitoring </a:t>
            </a:r>
            <a:r>
              <a:rPr lang="en-US" sz="3999">
                <a:solidFill>
                  <a:srgbClr val="000000"/>
                </a:solidFill>
                <a:latin typeface="Times New Roman"/>
              </a:rPr>
              <a:t>and </a:t>
            </a:r>
            <a:r>
              <a:rPr lang="en-US" sz="3999">
                <a:solidFill>
                  <a:srgbClr val="000000"/>
                </a:solidFill>
                <a:latin typeface="Times New Roman Bold"/>
              </a:rPr>
              <a:t>emergency</a:t>
            </a:r>
            <a:r>
              <a:rPr lang="en-US" sz="3999">
                <a:solidFill>
                  <a:srgbClr val="000000"/>
                </a:solidFill>
                <a:latin typeface="Times New Roman"/>
              </a:rPr>
              <a:t> </a:t>
            </a:r>
            <a:r>
              <a:rPr lang="en-US" sz="3999">
                <a:solidFill>
                  <a:srgbClr val="000000"/>
                </a:solidFill>
                <a:latin typeface="Times New Roman Bold"/>
              </a:rPr>
              <a:t>response.</a:t>
            </a:r>
            <a:r>
              <a:rPr lang="en-US" sz="3999">
                <a:solidFill>
                  <a:srgbClr val="000000"/>
                </a:solidFill>
                <a:latin typeface="Times New Roman"/>
              </a:rPr>
              <a:t> </a:t>
            </a:r>
          </a:p>
          <a:p>
            <a:pPr algn="just">
              <a:lnSpc>
                <a:spcPts val="4799"/>
              </a:lnSpc>
            </a:pPr>
            <a:endParaRPr lang="en-US" sz="3999">
              <a:solidFill>
                <a:srgbClr val="000000"/>
              </a:solidFill>
              <a:latin typeface="Times New Roman"/>
            </a:endParaRPr>
          </a:p>
          <a:p>
            <a:pPr marL="863599" lvl="1" indent="-431800" algn="just">
              <a:lnSpc>
                <a:spcPts val="4799"/>
              </a:lnSpc>
              <a:buFont typeface="Arial"/>
              <a:buChar char="•"/>
            </a:pPr>
            <a:r>
              <a:rPr lang="en-US" sz="3999">
                <a:solidFill>
                  <a:srgbClr val="000000"/>
                </a:solidFill>
                <a:latin typeface="Times New Roman"/>
              </a:rPr>
              <a:t>Improving </a:t>
            </a:r>
            <a:r>
              <a:rPr lang="en-US" sz="3999">
                <a:solidFill>
                  <a:srgbClr val="000000"/>
                </a:solidFill>
                <a:latin typeface="Times New Roman Bold"/>
              </a:rPr>
              <a:t>service quality</a:t>
            </a:r>
            <a:r>
              <a:rPr lang="en-US" sz="3999">
                <a:solidFill>
                  <a:srgbClr val="000000"/>
                </a:solidFill>
                <a:latin typeface="Times New Roman"/>
              </a:rPr>
              <a:t> and </a:t>
            </a:r>
            <a:r>
              <a:rPr lang="en-US" sz="3999">
                <a:solidFill>
                  <a:srgbClr val="000000"/>
                </a:solidFill>
                <a:latin typeface="Times New Roman Bold"/>
              </a:rPr>
              <a:t>optimizing hotel operations.</a:t>
            </a:r>
          </a:p>
        </p:txBody>
      </p:sp>
      <p:sp>
        <p:nvSpPr>
          <p:cNvPr id="7" name="TextBox 7"/>
          <p:cNvSpPr txBox="1"/>
          <p:nvPr/>
        </p:nvSpPr>
        <p:spPr>
          <a:xfrm>
            <a:off x="13499897" y="8677529"/>
            <a:ext cx="4735865" cy="1152944"/>
          </a:xfrm>
          <a:prstGeom prst="rect">
            <a:avLst/>
          </a:prstGeom>
        </p:spPr>
        <p:txBody>
          <a:bodyPr wrap="square" lIns="0" tIns="0" rIns="0" bIns="0" rtlCol="0" anchor="t">
            <a:spAutoFit/>
          </a:bodyPr>
          <a:lstStyle/>
          <a:p>
            <a:pPr algn="ctr">
              <a:lnSpc>
                <a:spcPts val="9799"/>
              </a:lnSpc>
              <a:spcBef>
                <a:spcPct val="0"/>
              </a:spcBef>
            </a:pPr>
            <a:r>
              <a:rPr lang="en-US" sz="6999">
                <a:solidFill>
                  <a:srgbClr val="000000"/>
                </a:solidFill>
                <a:latin typeface="Times New Roman Bold"/>
              </a:rPr>
              <a:t>Expectation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DFE1"/>
        </a:solidFill>
        <a:effectLst/>
      </p:bgPr>
    </p:bg>
    <p:spTree>
      <p:nvGrpSpPr>
        <p:cNvPr id="1" name=""/>
        <p:cNvGrpSpPr/>
        <p:nvPr/>
      </p:nvGrpSpPr>
      <p:grpSpPr>
        <a:xfrm>
          <a:off x="0" y="0"/>
          <a:ext cx="0" cy="0"/>
          <a:chOff x="0" y="0"/>
          <a:chExt cx="0" cy="0"/>
        </a:xfrm>
      </p:grpSpPr>
      <p:grpSp>
        <p:nvGrpSpPr>
          <p:cNvPr id="2" name="Group 2"/>
          <p:cNvGrpSpPr/>
          <p:nvPr/>
        </p:nvGrpSpPr>
        <p:grpSpPr>
          <a:xfrm>
            <a:off x="0" y="5143500"/>
            <a:ext cx="9144000" cy="5673928"/>
            <a:chOff x="0" y="0"/>
            <a:chExt cx="2408296" cy="1494368"/>
          </a:xfrm>
        </p:grpSpPr>
        <p:sp>
          <p:nvSpPr>
            <p:cNvPr id="3" name="Freeform 3"/>
            <p:cNvSpPr/>
            <p:nvPr/>
          </p:nvSpPr>
          <p:spPr>
            <a:xfrm>
              <a:off x="0" y="0"/>
              <a:ext cx="2408296" cy="1494368"/>
            </a:xfrm>
            <a:custGeom>
              <a:avLst/>
              <a:gdLst/>
              <a:ahLst/>
              <a:cxnLst/>
              <a:rect l="l" t="t" r="r" b="b"/>
              <a:pathLst>
                <a:path w="2408296" h="1494368">
                  <a:moveTo>
                    <a:pt x="0" y="0"/>
                  </a:moveTo>
                  <a:lnTo>
                    <a:pt x="2408296" y="0"/>
                  </a:lnTo>
                  <a:lnTo>
                    <a:pt x="2408296" y="1494368"/>
                  </a:lnTo>
                  <a:lnTo>
                    <a:pt x="0" y="1494368"/>
                  </a:lnTo>
                  <a:close/>
                </a:path>
              </a:pathLst>
            </a:custGeom>
            <a:solidFill>
              <a:srgbClr val="FFFFFF"/>
            </a:solidFill>
          </p:spPr>
          <p:txBody>
            <a:bodyPr/>
            <a:lstStyle/>
            <a:p>
              <a:endParaRPr lang="en-US"/>
            </a:p>
          </p:txBody>
        </p:sp>
        <p:sp>
          <p:nvSpPr>
            <p:cNvPr id="4" name="TextBox 4"/>
            <p:cNvSpPr txBox="1"/>
            <p:nvPr/>
          </p:nvSpPr>
          <p:spPr>
            <a:xfrm>
              <a:off x="0" y="-47625"/>
              <a:ext cx="2408296" cy="1541993"/>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9144000" y="0"/>
            <a:ext cx="9144000" cy="5143500"/>
            <a:chOff x="0" y="0"/>
            <a:chExt cx="2408296" cy="1354667"/>
          </a:xfrm>
        </p:grpSpPr>
        <p:sp>
          <p:nvSpPr>
            <p:cNvPr id="6" name="Freeform 6"/>
            <p:cNvSpPr/>
            <p:nvPr/>
          </p:nvSpPr>
          <p:spPr>
            <a:xfrm>
              <a:off x="0" y="0"/>
              <a:ext cx="2408296" cy="1354667"/>
            </a:xfrm>
            <a:custGeom>
              <a:avLst/>
              <a:gdLst/>
              <a:ahLst/>
              <a:cxnLst/>
              <a:rect l="l" t="t" r="r" b="b"/>
              <a:pathLst>
                <a:path w="2408296" h="1354667">
                  <a:moveTo>
                    <a:pt x="0" y="0"/>
                  </a:moveTo>
                  <a:lnTo>
                    <a:pt x="2408296" y="0"/>
                  </a:lnTo>
                  <a:lnTo>
                    <a:pt x="2408296" y="1354667"/>
                  </a:lnTo>
                  <a:lnTo>
                    <a:pt x="0" y="1354667"/>
                  </a:lnTo>
                  <a:close/>
                </a:path>
              </a:pathLst>
            </a:custGeom>
            <a:solidFill>
              <a:srgbClr val="FFFFFF"/>
            </a:solidFill>
          </p:spPr>
          <p:txBody>
            <a:bodyPr/>
            <a:lstStyle/>
            <a:p>
              <a:endParaRPr lang="en-US"/>
            </a:p>
          </p:txBody>
        </p:sp>
        <p:sp>
          <p:nvSpPr>
            <p:cNvPr id="7" name="TextBox 7"/>
            <p:cNvSpPr txBox="1"/>
            <p:nvPr/>
          </p:nvSpPr>
          <p:spPr>
            <a:xfrm>
              <a:off x="0" y="-47625"/>
              <a:ext cx="2408296" cy="1402292"/>
            </a:xfrm>
            <a:prstGeom prst="rect">
              <a:avLst/>
            </a:prstGeom>
          </p:spPr>
          <p:txBody>
            <a:bodyPr lIns="50800" tIns="50800" rIns="50800" bIns="50800" rtlCol="0" anchor="ctr"/>
            <a:lstStyle/>
            <a:p>
              <a:pPr algn="ctr">
                <a:lnSpc>
                  <a:spcPts val="3359"/>
                </a:lnSpc>
              </a:pPr>
              <a:endParaRPr/>
            </a:p>
          </p:txBody>
        </p:sp>
      </p:grpSp>
      <p:sp>
        <p:nvSpPr>
          <p:cNvPr id="8" name="TextBox 8"/>
          <p:cNvSpPr txBox="1"/>
          <p:nvPr/>
        </p:nvSpPr>
        <p:spPr>
          <a:xfrm>
            <a:off x="910141" y="228600"/>
            <a:ext cx="7323717" cy="4914900"/>
          </a:xfrm>
          <a:prstGeom prst="rect">
            <a:avLst/>
          </a:prstGeom>
        </p:spPr>
        <p:txBody>
          <a:bodyPr lIns="0" tIns="0" rIns="0" bIns="0" rtlCol="0" anchor="t">
            <a:spAutoFit/>
          </a:bodyPr>
          <a:lstStyle/>
          <a:p>
            <a:pPr algn="ctr">
              <a:lnSpc>
                <a:spcPts val="4559"/>
              </a:lnSpc>
            </a:pPr>
            <a:r>
              <a:rPr lang="en-US" sz="3799">
                <a:solidFill>
                  <a:srgbClr val="000000"/>
                </a:solidFill>
                <a:latin typeface="Times New Roman Bold"/>
              </a:rPr>
              <a:t>Hardware </a:t>
            </a:r>
          </a:p>
          <a:p>
            <a:pPr algn="just">
              <a:lnSpc>
                <a:spcPts val="4217"/>
              </a:lnSpc>
            </a:pPr>
            <a:r>
              <a:rPr lang="en-US" sz="3514">
                <a:solidFill>
                  <a:srgbClr val="000000"/>
                </a:solidFill>
                <a:latin typeface="Times New Roman Bold"/>
              </a:rPr>
              <a:t>Outdated analog equipment.</a:t>
            </a:r>
            <a:r>
              <a:rPr lang="en-US" sz="3514">
                <a:solidFill>
                  <a:srgbClr val="000000"/>
                </a:solidFill>
                <a:latin typeface="Times New Roman"/>
              </a:rPr>
              <a:t> </a:t>
            </a:r>
          </a:p>
          <a:p>
            <a:pPr algn="just">
              <a:lnSpc>
                <a:spcPts val="4217"/>
              </a:lnSpc>
            </a:pPr>
            <a:r>
              <a:rPr lang="en-US" sz="3514">
                <a:solidFill>
                  <a:srgbClr val="000000"/>
                </a:solidFill>
                <a:latin typeface="Times New Roman"/>
              </a:rPr>
              <a:t>=&gt; prone to problems and failures and causing the risk of false alarms.</a:t>
            </a:r>
          </a:p>
          <a:p>
            <a:pPr algn="just">
              <a:lnSpc>
                <a:spcPts val="4217"/>
              </a:lnSpc>
            </a:pPr>
            <a:endParaRPr lang="en-US" sz="3514">
              <a:solidFill>
                <a:srgbClr val="000000"/>
              </a:solidFill>
              <a:latin typeface="Times New Roman"/>
            </a:endParaRPr>
          </a:p>
          <a:p>
            <a:pPr algn="just">
              <a:lnSpc>
                <a:spcPts val="4217"/>
              </a:lnSpc>
            </a:pPr>
            <a:r>
              <a:rPr lang="en-US" sz="3514">
                <a:solidFill>
                  <a:srgbClr val="000000"/>
                </a:solidFill>
                <a:latin typeface="Times New Roman Bold"/>
              </a:rPr>
              <a:t>The network system</a:t>
            </a:r>
            <a:r>
              <a:rPr lang="en-US" sz="3514">
                <a:solidFill>
                  <a:srgbClr val="000000"/>
                </a:solidFill>
                <a:latin typeface="Times New Roman"/>
              </a:rPr>
              <a:t> is </a:t>
            </a:r>
            <a:r>
              <a:rPr lang="en-US" sz="3514">
                <a:solidFill>
                  <a:srgbClr val="000000"/>
                </a:solidFill>
                <a:latin typeface="Times New Roman Bold"/>
              </a:rPr>
              <a:t>insufficient to support </a:t>
            </a:r>
            <a:r>
              <a:rPr lang="en-US" sz="3514">
                <a:solidFill>
                  <a:srgbClr val="000000"/>
                </a:solidFill>
                <a:latin typeface="Times New Roman"/>
              </a:rPr>
              <a:t>the fire alarm system. </a:t>
            </a:r>
          </a:p>
          <a:p>
            <a:pPr algn="just">
              <a:lnSpc>
                <a:spcPts val="4217"/>
              </a:lnSpc>
            </a:pPr>
            <a:r>
              <a:rPr lang="en-US" sz="3514">
                <a:solidFill>
                  <a:srgbClr val="000000"/>
                </a:solidFill>
                <a:latin typeface="Times New Roman"/>
              </a:rPr>
              <a:t>=&gt; leading to connection problems and system downtime.</a:t>
            </a:r>
          </a:p>
        </p:txBody>
      </p:sp>
      <p:sp>
        <p:nvSpPr>
          <p:cNvPr id="9" name="TextBox 9"/>
          <p:cNvSpPr txBox="1"/>
          <p:nvPr/>
        </p:nvSpPr>
        <p:spPr>
          <a:xfrm>
            <a:off x="9878782" y="-28575"/>
            <a:ext cx="7126153" cy="4996449"/>
          </a:xfrm>
          <a:prstGeom prst="rect">
            <a:avLst/>
          </a:prstGeom>
        </p:spPr>
        <p:txBody>
          <a:bodyPr lIns="0" tIns="0" rIns="0" bIns="0" rtlCol="0" anchor="t">
            <a:spAutoFit/>
          </a:bodyPr>
          <a:lstStyle/>
          <a:p>
            <a:pPr algn="ctr">
              <a:lnSpc>
                <a:spcPts val="4630"/>
              </a:lnSpc>
            </a:pPr>
            <a:r>
              <a:rPr lang="en-US" sz="3858">
                <a:solidFill>
                  <a:srgbClr val="000000"/>
                </a:solidFill>
                <a:latin typeface="Times New Roman Bold"/>
              </a:rPr>
              <a:t>Software </a:t>
            </a:r>
          </a:p>
          <a:p>
            <a:pPr algn="just">
              <a:lnSpc>
                <a:spcPts val="4282"/>
              </a:lnSpc>
            </a:pPr>
            <a:r>
              <a:rPr lang="en-US" sz="3568">
                <a:solidFill>
                  <a:srgbClr val="000000"/>
                </a:solidFill>
                <a:latin typeface="Times New Roman Bold"/>
              </a:rPr>
              <a:t>Not integrated</a:t>
            </a:r>
            <a:r>
              <a:rPr lang="en-US" sz="3568">
                <a:solidFill>
                  <a:srgbClr val="000000"/>
                </a:solidFill>
                <a:latin typeface="Times New Roman"/>
              </a:rPr>
              <a:t> with </a:t>
            </a:r>
            <a:r>
              <a:rPr lang="en-US" sz="3568">
                <a:solidFill>
                  <a:srgbClr val="000000"/>
                </a:solidFill>
                <a:latin typeface="Times New Roman Bold"/>
              </a:rPr>
              <a:t>other hotel systems </a:t>
            </a:r>
          </a:p>
          <a:p>
            <a:pPr algn="just">
              <a:lnSpc>
                <a:spcPts val="4282"/>
              </a:lnSpc>
            </a:pPr>
            <a:r>
              <a:rPr lang="en-US" sz="3568">
                <a:solidFill>
                  <a:srgbClr val="000000"/>
                </a:solidFill>
                <a:latin typeface="Times New Roman"/>
              </a:rPr>
              <a:t>=&gt; difficult to respond effectively to emergencies.</a:t>
            </a:r>
          </a:p>
          <a:p>
            <a:pPr algn="just">
              <a:lnSpc>
                <a:spcPts val="4282"/>
              </a:lnSpc>
            </a:pPr>
            <a:endParaRPr lang="en-US" sz="3568">
              <a:solidFill>
                <a:srgbClr val="000000"/>
              </a:solidFill>
              <a:latin typeface="Times New Roman"/>
            </a:endParaRPr>
          </a:p>
          <a:p>
            <a:pPr algn="just">
              <a:lnSpc>
                <a:spcPts val="4282"/>
              </a:lnSpc>
            </a:pPr>
            <a:r>
              <a:rPr lang="en-US" sz="3568">
                <a:solidFill>
                  <a:srgbClr val="000000"/>
                </a:solidFill>
                <a:latin typeface="Times New Roman Bold"/>
              </a:rPr>
              <a:t>Not</a:t>
            </a:r>
            <a:r>
              <a:rPr lang="en-US" sz="3568">
                <a:solidFill>
                  <a:srgbClr val="000000"/>
                </a:solidFill>
                <a:latin typeface="Times New Roman"/>
              </a:rPr>
              <a:t> </a:t>
            </a:r>
            <a:r>
              <a:rPr lang="en-US" sz="3568">
                <a:solidFill>
                  <a:srgbClr val="000000"/>
                </a:solidFill>
                <a:latin typeface="Times New Roman Bold"/>
              </a:rPr>
              <a:t>provide real-time</a:t>
            </a:r>
            <a:r>
              <a:rPr lang="en-US" sz="3568">
                <a:solidFill>
                  <a:srgbClr val="000000"/>
                </a:solidFill>
                <a:latin typeface="Times New Roman"/>
              </a:rPr>
              <a:t> data analysis.</a:t>
            </a:r>
          </a:p>
          <a:p>
            <a:pPr algn="just">
              <a:lnSpc>
                <a:spcPts val="4282"/>
              </a:lnSpc>
            </a:pPr>
            <a:r>
              <a:rPr lang="en-US" sz="3568">
                <a:solidFill>
                  <a:srgbClr val="000000"/>
                </a:solidFill>
                <a:latin typeface="Times New Roman"/>
              </a:rPr>
              <a:t>=&gt;difficult to be proactive to prevent fires.</a:t>
            </a:r>
          </a:p>
        </p:txBody>
      </p:sp>
      <p:sp>
        <p:nvSpPr>
          <p:cNvPr id="10" name="TextBox 10"/>
          <p:cNvSpPr txBox="1"/>
          <p:nvPr/>
        </p:nvSpPr>
        <p:spPr>
          <a:xfrm>
            <a:off x="108480" y="5946548"/>
            <a:ext cx="8927040" cy="3533775"/>
          </a:xfrm>
          <a:prstGeom prst="rect">
            <a:avLst/>
          </a:prstGeom>
        </p:spPr>
        <p:txBody>
          <a:bodyPr lIns="0" tIns="0" rIns="0" bIns="0" rtlCol="0" anchor="t">
            <a:spAutoFit/>
          </a:bodyPr>
          <a:lstStyle/>
          <a:p>
            <a:pPr algn="ctr">
              <a:lnSpc>
                <a:spcPts val="4799"/>
              </a:lnSpc>
            </a:pPr>
            <a:r>
              <a:rPr lang="en-US" sz="3999">
                <a:solidFill>
                  <a:srgbClr val="000000"/>
                </a:solidFill>
                <a:latin typeface="Times New Roman Bold"/>
              </a:rPr>
              <a:t>Process</a:t>
            </a:r>
          </a:p>
          <a:p>
            <a:pPr marL="818727" lvl="1" indent="-409363" algn="just">
              <a:lnSpc>
                <a:spcPts val="4550"/>
              </a:lnSpc>
              <a:buFont typeface="Arial"/>
              <a:buChar char="•"/>
            </a:pPr>
            <a:r>
              <a:rPr lang="en-US" sz="3792">
                <a:solidFill>
                  <a:srgbClr val="000000"/>
                </a:solidFill>
                <a:latin typeface="Times New Roman"/>
              </a:rPr>
              <a:t>not regularly maintained </a:t>
            </a:r>
          </a:p>
          <a:p>
            <a:pPr algn="just">
              <a:lnSpc>
                <a:spcPts val="4550"/>
              </a:lnSpc>
            </a:pPr>
            <a:r>
              <a:rPr lang="en-US" sz="3792">
                <a:solidFill>
                  <a:srgbClr val="000000"/>
                </a:solidFill>
                <a:latin typeface="Times New Roman"/>
              </a:rPr>
              <a:t>-&gt;system failure and reduced efficiency.</a:t>
            </a:r>
          </a:p>
          <a:p>
            <a:pPr marL="818727" lvl="1" indent="-409363" algn="just">
              <a:lnSpc>
                <a:spcPts val="4550"/>
              </a:lnSpc>
              <a:buFont typeface="Arial"/>
              <a:buChar char="•"/>
            </a:pPr>
            <a:r>
              <a:rPr lang="en-US" sz="3792">
                <a:solidFill>
                  <a:srgbClr val="000000"/>
                </a:solidFill>
                <a:latin typeface="Times New Roman"/>
              </a:rPr>
              <a:t>Employees lack knowledge about how to use </a:t>
            </a:r>
          </a:p>
          <a:p>
            <a:pPr algn="just">
              <a:lnSpc>
                <a:spcPts val="4550"/>
              </a:lnSpc>
            </a:pPr>
            <a:r>
              <a:rPr lang="en-US" sz="3792">
                <a:solidFill>
                  <a:srgbClr val="000000"/>
                </a:solidFill>
                <a:latin typeface="Times New Roman"/>
              </a:rPr>
              <a:t>-&gt; Leading to confusion and errors</a:t>
            </a:r>
          </a:p>
        </p:txBody>
      </p:sp>
      <p:sp>
        <p:nvSpPr>
          <p:cNvPr id="11" name="TextBox 11"/>
          <p:cNvSpPr txBox="1"/>
          <p:nvPr/>
        </p:nvSpPr>
        <p:spPr>
          <a:xfrm>
            <a:off x="9637200" y="6180239"/>
            <a:ext cx="8157599" cy="1800225"/>
          </a:xfrm>
          <a:prstGeom prst="rect">
            <a:avLst/>
          </a:prstGeom>
        </p:spPr>
        <p:txBody>
          <a:bodyPr lIns="0" tIns="0" rIns="0" bIns="0" rtlCol="0" anchor="t">
            <a:spAutoFit/>
          </a:bodyPr>
          <a:lstStyle/>
          <a:p>
            <a:pPr algn="ctr">
              <a:lnSpc>
                <a:spcPts val="4799"/>
              </a:lnSpc>
            </a:pPr>
            <a:r>
              <a:rPr lang="en-US" sz="3999">
                <a:solidFill>
                  <a:srgbClr val="000000"/>
                </a:solidFill>
                <a:latin typeface="Times New Roman Bold"/>
              </a:rPr>
              <a:t>Data</a:t>
            </a:r>
          </a:p>
          <a:p>
            <a:pPr marL="798829" lvl="1" indent="-399415" algn="just">
              <a:lnSpc>
                <a:spcPts val="4439"/>
              </a:lnSpc>
              <a:buFont typeface="Arial"/>
              <a:buChar char="•"/>
            </a:pPr>
            <a:r>
              <a:rPr lang="en-US" sz="3699">
                <a:solidFill>
                  <a:srgbClr val="000000"/>
                </a:solidFill>
                <a:latin typeface="Times New Roman"/>
              </a:rPr>
              <a:t>not provide real-time data,</a:t>
            </a:r>
          </a:p>
          <a:p>
            <a:pPr algn="just">
              <a:lnSpc>
                <a:spcPts val="4439"/>
              </a:lnSpc>
            </a:pPr>
            <a:r>
              <a:rPr lang="en-US" sz="3699">
                <a:solidFill>
                  <a:srgbClr val="000000"/>
                </a:solidFill>
                <a:latin typeface="Times New Roman"/>
              </a:rPr>
              <a:t>-&gt; makes it difficult to respond quickly.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27541" y="3761638"/>
            <a:ext cx="13232917" cy="3633037"/>
          </a:xfrm>
          <a:custGeom>
            <a:avLst/>
            <a:gdLst/>
            <a:ahLst/>
            <a:cxnLst/>
            <a:rect l="l" t="t" r="r" b="b"/>
            <a:pathLst>
              <a:path w="13232917" h="3633037">
                <a:moveTo>
                  <a:pt x="0" y="0"/>
                </a:moveTo>
                <a:lnTo>
                  <a:pt x="13232918" y="0"/>
                </a:lnTo>
                <a:lnTo>
                  <a:pt x="13232918" y="3633038"/>
                </a:lnTo>
                <a:lnTo>
                  <a:pt x="0" y="36330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3349844" y="4695192"/>
            <a:ext cx="11588313" cy="2699484"/>
          </a:xfrm>
          <a:prstGeom prst="rect">
            <a:avLst/>
          </a:prstGeom>
        </p:spPr>
        <p:txBody>
          <a:bodyPr lIns="0" tIns="0" rIns="0" bIns="0" rtlCol="0" anchor="t">
            <a:spAutoFit/>
          </a:bodyPr>
          <a:lstStyle/>
          <a:p>
            <a:pPr algn="ctr">
              <a:lnSpc>
                <a:spcPts val="10049"/>
              </a:lnSpc>
            </a:pPr>
            <a:r>
              <a:rPr lang="en-US" sz="8374">
                <a:solidFill>
                  <a:srgbClr val="010101"/>
                </a:solidFill>
                <a:latin typeface="Times New Roman Bold"/>
              </a:rPr>
              <a:t>Website not yet deployed</a:t>
            </a:r>
          </a:p>
          <a:p>
            <a:pPr algn="ctr">
              <a:lnSpc>
                <a:spcPts val="10049"/>
              </a:lnSpc>
            </a:pPr>
            <a:endParaRPr lang="en-US" sz="8374">
              <a:solidFill>
                <a:srgbClr val="010101"/>
              </a:solidFill>
              <a:latin typeface="Times New Roman Bold"/>
            </a:endParaRPr>
          </a:p>
        </p:txBody>
      </p:sp>
      <p:sp>
        <p:nvSpPr>
          <p:cNvPr id="4" name="Freeform 4"/>
          <p:cNvSpPr/>
          <p:nvPr/>
        </p:nvSpPr>
        <p:spPr>
          <a:xfrm>
            <a:off x="7238362" y="1028700"/>
            <a:ext cx="2347203" cy="1286518"/>
          </a:xfrm>
          <a:custGeom>
            <a:avLst/>
            <a:gdLst/>
            <a:ahLst/>
            <a:cxnLst/>
            <a:rect l="l" t="t" r="r" b="b"/>
            <a:pathLst>
              <a:path w="2347203" h="1286518">
                <a:moveTo>
                  <a:pt x="0" y="0"/>
                </a:moveTo>
                <a:lnTo>
                  <a:pt x="2347203" y="0"/>
                </a:lnTo>
                <a:lnTo>
                  <a:pt x="2347203" y="1286518"/>
                </a:lnTo>
                <a:lnTo>
                  <a:pt x="0" y="1286518"/>
                </a:lnTo>
                <a:lnTo>
                  <a:pt x="0" y="0"/>
                </a:lnTo>
                <a:close/>
              </a:path>
            </a:pathLst>
          </a:custGeom>
          <a:blipFill>
            <a:blip r:embed="rId4"/>
            <a:stretch>
              <a:fillRect t="-993" r="-757" b="-993"/>
            </a:stretch>
          </a:blipFill>
        </p:spPr>
        <p:txBody>
          <a:bodyP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48598">
            <a:off x="-260899" y="-3413900"/>
            <a:ext cx="14830473" cy="15280238"/>
            <a:chOff x="0" y="0"/>
            <a:chExt cx="7856906" cy="8095183"/>
          </a:xfrm>
        </p:grpSpPr>
        <p:sp>
          <p:nvSpPr>
            <p:cNvPr id="3" name="Freeform 3"/>
            <p:cNvSpPr/>
            <p:nvPr/>
          </p:nvSpPr>
          <p:spPr>
            <a:xfrm>
              <a:off x="0" y="0"/>
              <a:ext cx="7856906" cy="8095183"/>
            </a:xfrm>
            <a:custGeom>
              <a:avLst/>
              <a:gdLst/>
              <a:ahLst/>
              <a:cxnLst/>
              <a:rect l="l" t="t" r="r" b="b"/>
              <a:pathLst>
                <a:path w="7856906" h="8095183">
                  <a:moveTo>
                    <a:pt x="7856906" y="8095183"/>
                  </a:moveTo>
                  <a:lnTo>
                    <a:pt x="0" y="8095183"/>
                  </a:lnTo>
                  <a:lnTo>
                    <a:pt x="0" y="0"/>
                  </a:lnTo>
                  <a:lnTo>
                    <a:pt x="7856906" y="8095183"/>
                  </a:lnTo>
                  <a:close/>
                </a:path>
              </a:pathLst>
            </a:custGeom>
            <a:solidFill>
              <a:srgbClr val="FFDFE1"/>
            </a:solidFill>
          </p:spPr>
          <p:txBody>
            <a:bodyPr/>
            <a:lstStyle/>
            <a:p>
              <a:endParaRPr lang="en-US"/>
            </a:p>
          </p:txBody>
        </p:sp>
      </p:grpSp>
      <p:sp>
        <p:nvSpPr>
          <p:cNvPr id="4" name="TextBox 4"/>
          <p:cNvSpPr txBox="1"/>
          <p:nvPr/>
        </p:nvSpPr>
        <p:spPr>
          <a:xfrm>
            <a:off x="1507684" y="8486775"/>
            <a:ext cx="8000371" cy="1381125"/>
          </a:xfrm>
          <a:prstGeom prst="rect">
            <a:avLst/>
          </a:prstGeom>
        </p:spPr>
        <p:txBody>
          <a:bodyPr lIns="0" tIns="0" rIns="0" bIns="0" rtlCol="0" anchor="t">
            <a:spAutoFit/>
          </a:bodyPr>
          <a:lstStyle/>
          <a:p>
            <a:pPr algn="l">
              <a:lnSpc>
                <a:spcPts val="9600"/>
              </a:lnSpc>
            </a:pPr>
            <a:r>
              <a:rPr lang="en-US" sz="8000">
                <a:solidFill>
                  <a:srgbClr val="000000"/>
                </a:solidFill>
                <a:latin typeface="Times New Roman Bold"/>
              </a:rPr>
              <a:t>Existing Problem</a:t>
            </a:r>
          </a:p>
        </p:txBody>
      </p:sp>
      <p:grpSp>
        <p:nvGrpSpPr>
          <p:cNvPr id="5" name="Group 5"/>
          <p:cNvGrpSpPr/>
          <p:nvPr/>
        </p:nvGrpSpPr>
        <p:grpSpPr>
          <a:xfrm rot="-10660848">
            <a:off x="3658924" y="-1323435"/>
            <a:ext cx="14705376" cy="16338762"/>
            <a:chOff x="0" y="0"/>
            <a:chExt cx="6673201" cy="7414421"/>
          </a:xfrm>
        </p:grpSpPr>
        <p:sp>
          <p:nvSpPr>
            <p:cNvPr id="6" name="Freeform 6"/>
            <p:cNvSpPr/>
            <p:nvPr/>
          </p:nvSpPr>
          <p:spPr>
            <a:xfrm>
              <a:off x="0" y="0"/>
              <a:ext cx="6673201" cy="7414421"/>
            </a:xfrm>
            <a:custGeom>
              <a:avLst/>
              <a:gdLst/>
              <a:ahLst/>
              <a:cxnLst/>
              <a:rect l="l" t="t" r="r" b="b"/>
              <a:pathLst>
                <a:path w="6673201" h="7414421">
                  <a:moveTo>
                    <a:pt x="6673201" y="7414421"/>
                  </a:moveTo>
                  <a:lnTo>
                    <a:pt x="0" y="7414421"/>
                  </a:lnTo>
                  <a:lnTo>
                    <a:pt x="0" y="0"/>
                  </a:lnTo>
                  <a:lnTo>
                    <a:pt x="6673201" y="7414421"/>
                  </a:lnTo>
                  <a:close/>
                </a:path>
              </a:pathLst>
            </a:custGeom>
            <a:solidFill>
              <a:srgbClr val="FFDFE1"/>
            </a:solidFill>
          </p:spPr>
          <p:txBody>
            <a:bodyPr/>
            <a:lstStyle/>
            <a:p>
              <a:endParaRPr lang="en-US"/>
            </a:p>
          </p:txBody>
        </p:sp>
      </p:grpSp>
      <p:sp>
        <p:nvSpPr>
          <p:cNvPr id="7" name="Freeform 7"/>
          <p:cNvSpPr/>
          <p:nvPr/>
        </p:nvSpPr>
        <p:spPr>
          <a:xfrm>
            <a:off x="-1104377" y="-758925"/>
            <a:ext cx="5157859" cy="11438799"/>
          </a:xfrm>
          <a:custGeom>
            <a:avLst/>
            <a:gdLst/>
            <a:ahLst/>
            <a:cxnLst/>
            <a:rect l="l" t="t" r="r" b="b"/>
            <a:pathLst>
              <a:path w="5157859" h="11438799">
                <a:moveTo>
                  <a:pt x="0" y="0"/>
                </a:moveTo>
                <a:lnTo>
                  <a:pt x="5157859" y="0"/>
                </a:lnTo>
                <a:lnTo>
                  <a:pt x="5157859" y="11438799"/>
                </a:lnTo>
                <a:lnTo>
                  <a:pt x="0" y="114387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rot="10738611">
            <a:off x="13341314" y="9575121"/>
            <a:ext cx="7766824" cy="3615103"/>
          </a:xfrm>
          <a:custGeom>
            <a:avLst/>
            <a:gdLst/>
            <a:ahLst/>
            <a:cxnLst/>
            <a:rect l="l" t="t" r="r" b="b"/>
            <a:pathLst>
              <a:path w="7766824" h="3615103">
                <a:moveTo>
                  <a:pt x="0" y="0"/>
                </a:moveTo>
                <a:lnTo>
                  <a:pt x="7766824" y="0"/>
                </a:lnTo>
                <a:lnTo>
                  <a:pt x="7766824" y="3615103"/>
                </a:lnTo>
                <a:lnTo>
                  <a:pt x="0" y="361510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rot="-7765463">
            <a:off x="437694" y="5420699"/>
            <a:ext cx="16230600" cy="488558"/>
          </a:xfrm>
          <a:custGeom>
            <a:avLst/>
            <a:gdLst/>
            <a:ahLst/>
            <a:cxnLst/>
            <a:rect l="l" t="t" r="r" b="b"/>
            <a:pathLst>
              <a:path w="16230600" h="488558">
                <a:moveTo>
                  <a:pt x="0" y="0"/>
                </a:moveTo>
                <a:lnTo>
                  <a:pt x="16230600" y="0"/>
                </a:lnTo>
                <a:lnTo>
                  <a:pt x="16230600" y="488558"/>
                </a:lnTo>
                <a:lnTo>
                  <a:pt x="0" y="488558"/>
                </a:lnTo>
                <a:lnTo>
                  <a:pt x="0" y="0"/>
                </a:lnTo>
                <a:close/>
              </a:path>
            </a:pathLst>
          </a:custGeom>
          <a:blipFill>
            <a:blip r:embed="rId6"/>
            <a:stretch>
              <a:fillRect l="-33957" t="-26215" r="-33957" b="-182919"/>
            </a:stretch>
          </a:blipFill>
        </p:spPr>
        <p:txBody>
          <a:bodyPr/>
          <a:lstStyle/>
          <a:p>
            <a:endParaRPr lang="en-US"/>
          </a:p>
        </p:txBody>
      </p:sp>
      <p:sp>
        <p:nvSpPr>
          <p:cNvPr id="10" name="TextBox 10"/>
          <p:cNvSpPr txBox="1"/>
          <p:nvPr/>
        </p:nvSpPr>
        <p:spPr>
          <a:xfrm>
            <a:off x="7154338" y="1558366"/>
            <a:ext cx="11534524" cy="4962525"/>
          </a:xfrm>
          <a:prstGeom prst="rect">
            <a:avLst/>
          </a:prstGeom>
        </p:spPr>
        <p:txBody>
          <a:bodyPr lIns="0" tIns="0" rIns="0" bIns="0" rtlCol="0" anchor="t">
            <a:spAutoFit/>
          </a:bodyPr>
          <a:lstStyle/>
          <a:p>
            <a:pPr algn="l">
              <a:lnSpc>
                <a:spcPts val="4315"/>
              </a:lnSpc>
            </a:pPr>
            <a:r>
              <a:rPr lang="en-US" sz="3596">
                <a:solidFill>
                  <a:srgbClr val="000000"/>
                </a:solidFill>
                <a:latin typeface="Times New Roman"/>
              </a:rPr>
              <a:t> Create </a:t>
            </a:r>
            <a:r>
              <a:rPr lang="en-US" sz="3596">
                <a:solidFill>
                  <a:srgbClr val="000000"/>
                </a:solidFill>
                <a:latin typeface="Times New Roman Bold"/>
              </a:rPr>
              <a:t>a website</a:t>
            </a:r>
            <a:r>
              <a:rPr lang="en-US" sz="3596">
                <a:solidFill>
                  <a:srgbClr val="000000"/>
                </a:solidFill>
                <a:latin typeface="Times New Roman"/>
              </a:rPr>
              <a:t> for the hotel to </a:t>
            </a:r>
            <a:r>
              <a:rPr lang="en-US" sz="3596">
                <a:solidFill>
                  <a:srgbClr val="000000"/>
                </a:solidFill>
                <a:latin typeface="Times New Roman Bold"/>
              </a:rPr>
              <a:t>provide </a:t>
            </a:r>
            <a:r>
              <a:rPr lang="en-US" sz="3596">
                <a:solidFill>
                  <a:srgbClr val="000000"/>
                </a:solidFill>
                <a:latin typeface="Times New Roman"/>
              </a:rPr>
              <a:t>information and</a:t>
            </a:r>
          </a:p>
          <a:p>
            <a:pPr algn="l">
              <a:lnSpc>
                <a:spcPts val="4315"/>
              </a:lnSpc>
            </a:pPr>
            <a:r>
              <a:rPr lang="en-US" sz="3596">
                <a:solidFill>
                  <a:srgbClr val="000000"/>
                </a:solidFill>
                <a:latin typeface="Times New Roman"/>
              </a:rPr>
              <a:t>     services</a:t>
            </a:r>
            <a:r>
              <a:rPr lang="en-US" sz="3596">
                <a:solidFill>
                  <a:srgbClr val="000000"/>
                </a:solidFill>
                <a:latin typeface="Times New Roman Bold"/>
              </a:rPr>
              <a:t>.</a:t>
            </a:r>
          </a:p>
          <a:p>
            <a:pPr algn="l">
              <a:lnSpc>
                <a:spcPts val="4315"/>
              </a:lnSpc>
            </a:pPr>
            <a:endParaRPr lang="en-US" sz="3596">
              <a:solidFill>
                <a:srgbClr val="000000"/>
              </a:solidFill>
              <a:latin typeface="Times New Roman Bold"/>
            </a:endParaRPr>
          </a:p>
          <a:p>
            <a:pPr algn="l">
              <a:lnSpc>
                <a:spcPts val="4315"/>
              </a:lnSpc>
            </a:pPr>
            <a:r>
              <a:rPr lang="en-US" sz="3596">
                <a:solidFill>
                  <a:srgbClr val="000000"/>
                </a:solidFill>
                <a:latin typeface="Times New Roman"/>
              </a:rPr>
              <a:t>            Create a smart room control system </a:t>
            </a:r>
            <a:r>
              <a:rPr lang="en-US" sz="3596">
                <a:solidFill>
                  <a:srgbClr val="000000"/>
                </a:solidFill>
                <a:latin typeface="Times New Roman Bold"/>
              </a:rPr>
              <a:t>based on</a:t>
            </a:r>
          </a:p>
          <a:p>
            <a:pPr algn="l">
              <a:lnSpc>
                <a:spcPts val="4315"/>
              </a:lnSpc>
            </a:pPr>
            <a:r>
              <a:rPr lang="en-US" sz="3596">
                <a:solidFill>
                  <a:srgbClr val="000000"/>
                </a:solidFill>
                <a:latin typeface="Times New Roman Bold"/>
              </a:rPr>
              <a:t>                IoT technology</a:t>
            </a:r>
            <a:r>
              <a:rPr lang="en-US" sz="3596">
                <a:solidFill>
                  <a:srgbClr val="000000"/>
                </a:solidFill>
                <a:latin typeface="Times New Roman"/>
              </a:rPr>
              <a:t>.</a:t>
            </a:r>
          </a:p>
          <a:p>
            <a:pPr algn="l">
              <a:lnSpc>
                <a:spcPts val="4315"/>
              </a:lnSpc>
            </a:pPr>
            <a:endParaRPr lang="en-US" sz="3596">
              <a:solidFill>
                <a:srgbClr val="000000"/>
              </a:solidFill>
              <a:latin typeface="Times New Roman"/>
            </a:endParaRPr>
          </a:p>
          <a:p>
            <a:pPr algn="l">
              <a:lnSpc>
                <a:spcPts val="4315"/>
              </a:lnSpc>
            </a:pPr>
            <a:r>
              <a:rPr lang="en-US" sz="3596">
                <a:solidFill>
                  <a:srgbClr val="000000"/>
                </a:solidFill>
                <a:latin typeface="Times New Roman"/>
              </a:rPr>
              <a:t>                        </a:t>
            </a:r>
            <a:r>
              <a:rPr lang="en-US" sz="3596">
                <a:solidFill>
                  <a:srgbClr val="000000"/>
                </a:solidFill>
                <a:latin typeface="Times New Roman Bold"/>
              </a:rPr>
              <a:t>IoT technology</a:t>
            </a:r>
            <a:r>
              <a:rPr lang="en-US" sz="3596">
                <a:solidFill>
                  <a:srgbClr val="000000"/>
                </a:solidFill>
                <a:latin typeface="Times New Roman"/>
              </a:rPr>
              <a:t> can also be applied to</a:t>
            </a:r>
          </a:p>
          <a:p>
            <a:pPr algn="l">
              <a:lnSpc>
                <a:spcPts val="4315"/>
              </a:lnSpc>
            </a:pPr>
            <a:r>
              <a:rPr lang="en-US" sz="3596">
                <a:solidFill>
                  <a:srgbClr val="000000"/>
                </a:solidFill>
                <a:latin typeface="Times New Roman"/>
              </a:rPr>
              <a:t>                            </a:t>
            </a:r>
            <a:r>
              <a:rPr lang="en-US" sz="3596">
                <a:solidFill>
                  <a:srgbClr val="000000"/>
                </a:solidFill>
                <a:latin typeface="Times New Roman Bold"/>
              </a:rPr>
              <a:t>monitoring and system management of</a:t>
            </a:r>
          </a:p>
          <a:p>
            <a:pPr algn="l">
              <a:lnSpc>
                <a:spcPts val="4315"/>
              </a:lnSpc>
            </a:pPr>
            <a:r>
              <a:rPr lang="en-US" sz="3596">
                <a:solidFill>
                  <a:srgbClr val="000000"/>
                </a:solidFill>
                <a:latin typeface="Times New Roman Bold"/>
              </a:rPr>
              <a:t>                                 devices.</a:t>
            </a:r>
          </a:p>
        </p:txBody>
      </p:sp>
      <p:sp>
        <p:nvSpPr>
          <p:cNvPr id="11" name="TextBox 11"/>
          <p:cNvSpPr txBox="1"/>
          <p:nvPr/>
        </p:nvSpPr>
        <p:spPr>
          <a:xfrm>
            <a:off x="10489037" y="253441"/>
            <a:ext cx="5430716" cy="1381125"/>
          </a:xfrm>
          <a:prstGeom prst="rect">
            <a:avLst/>
          </a:prstGeom>
        </p:spPr>
        <p:txBody>
          <a:bodyPr lIns="0" tIns="0" rIns="0" bIns="0" rtlCol="0" anchor="t">
            <a:spAutoFit/>
          </a:bodyPr>
          <a:lstStyle/>
          <a:p>
            <a:pPr algn="l">
              <a:lnSpc>
                <a:spcPts val="9600"/>
              </a:lnSpc>
            </a:pPr>
            <a:r>
              <a:rPr lang="en-US" sz="8000">
                <a:solidFill>
                  <a:srgbClr val="000000"/>
                </a:solidFill>
                <a:latin typeface="Times New Roman Bold"/>
              </a:rPr>
              <a:t>Expectation</a:t>
            </a:r>
          </a:p>
        </p:txBody>
      </p:sp>
      <p:sp>
        <p:nvSpPr>
          <p:cNvPr id="12" name="TextBox 12"/>
          <p:cNvSpPr txBox="1"/>
          <p:nvPr/>
        </p:nvSpPr>
        <p:spPr>
          <a:xfrm>
            <a:off x="370039" y="4150019"/>
            <a:ext cx="7366887" cy="4572000"/>
          </a:xfrm>
          <a:prstGeom prst="rect">
            <a:avLst/>
          </a:prstGeom>
        </p:spPr>
        <p:txBody>
          <a:bodyPr lIns="0" tIns="0" rIns="0" bIns="0" rtlCol="0" anchor="t">
            <a:spAutoFit/>
          </a:bodyPr>
          <a:lstStyle/>
          <a:p>
            <a:pPr algn="l">
              <a:lnSpc>
                <a:spcPts val="4435"/>
              </a:lnSpc>
            </a:pPr>
            <a:r>
              <a:rPr lang="en-US" sz="3696">
                <a:solidFill>
                  <a:srgbClr val="000000"/>
                </a:solidFill>
                <a:latin typeface="Times New Roman Bold"/>
              </a:rPr>
              <a:t>Without website</a:t>
            </a:r>
            <a:r>
              <a:rPr lang="en-US" sz="3696">
                <a:solidFill>
                  <a:srgbClr val="000000"/>
                </a:solidFill>
                <a:latin typeface="Times New Roman"/>
              </a:rPr>
              <a:t>, it will reduce access to reach customer.</a:t>
            </a:r>
          </a:p>
          <a:p>
            <a:pPr algn="l">
              <a:lnSpc>
                <a:spcPts val="4435"/>
              </a:lnSpc>
            </a:pPr>
            <a:endParaRPr lang="en-US" sz="3696">
              <a:solidFill>
                <a:srgbClr val="000000"/>
              </a:solidFill>
              <a:latin typeface="Times New Roman"/>
            </a:endParaRPr>
          </a:p>
          <a:p>
            <a:pPr algn="l">
              <a:lnSpc>
                <a:spcPts val="4435"/>
              </a:lnSpc>
            </a:pPr>
            <a:r>
              <a:rPr lang="en-US" sz="3696">
                <a:solidFill>
                  <a:srgbClr val="000000"/>
                </a:solidFill>
                <a:latin typeface="Times New Roman Bold"/>
              </a:rPr>
              <a:t>Direct booking</a:t>
            </a:r>
            <a:r>
              <a:rPr lang="en-US" sz="3696">
                <a:solidFill>
                  <a:srgbClr val="000000"/>
                </a:solidFill>
                <a:latin typeface="Times New Roman"/>
              </a:rPr>
              <a:t> puts customers at a </a:t>
            </a:r>
            <a:r>
              <a:rPr lang="en-US" sz="3696">
                <a:solidFill>
                  <a:srgbClr val="000000"/>
                </a:solidFill>
                <a:latin typeface="Times New Roman Bold"/>
              </a:rPr>
              <a:t>disadvantage in finding the room</a:t>
            </a:r>
            <a:r>
              <a:rPr lang="en-US" sz="3696">
                <a:solidFill>
                  <a:srgbClr val="000000"/>
                </a:solidFill>
                <a:latin typeface="Times New Roman"/>
              </a:rPr>
              <a:t> they want.</a:t>
            </a:r>
          </a:p>
          <a:p>
            <a:pPr algn="just">
              <a:lnSpc>
                <a:spcPts val="4435"/>
              </a:lnSpc>
            </a:pPr>
            <a:endParaRPr lang="en-US" sz="3696">
              <a:solidFill>
                <a:srgbClr val="000000"/>
              </a:solidFill>
              <a:latin typeface="Times New Roman"/>
            </a:endParaRPr>
          </a:p>
          <a:p>
            <a:pPr algn="just">
              <a:lnSpc>
                <a:spcPts val="4435"/>
              </a:lnSpc>
            </a:pPr>
            <a:endParaRPr lang="en-US" sz="3696">
              <a:solidFill>
                <a:srgbClr val="000000"/>
              </a:solidFill>
              <a:latin typeface="Times New Roman"/>
            </a:endParaRPr>
          </a:p>
        </p:txBody>
      </p:sp>
      <p:sp>
        <p:nvSpPr>
          <p:cNvPr id="13" name="Freeform 13"/>
          <p:cNvSpPr/>
          <p:nvPr/>
        </p:nvSpPr>
        <p:spPr>
          <a:xfrm rot="3030050">
            <a:off x="1592780" y="5357065"/>
            <a:ext cx="16230600" cy="488558"/>
          </a:xfrm>
          <a:custGeom>
            <a:avLst/>
            <a:gdLst/>
            <a:ahLst/>
            <a:cxnLst/>
            <a:rect l="l" t="t" r="r" b="b"/>
            <a:pathLst>
              <a:path w="16230600" h="488558">
                <a:moveTo>
                  <a:pt x="0" y="0"/>
                </a:moveTo>
                <a:lnTo>
                  <a:pt x="16230600" y="0"/>
                </a:lnTo>
                <a:lnTo>
                  <a:pt x="16230600" y="488558"/>
                </a:lnTo>
                <a:lnTo>
                  <a:pt x="0" y="488558"/>
                </a:lnTo>
                <a:lnTo>
                  <a:pt x="0" y="0"/>
                </a:lnTo>
                <a:close/>
              </a:path>
            </a:pathLst>
          </a:custGeom>
          <a:blipFill>
            <a:blip r:embed="rId6"/>
            <a:stretch>
              <a:fillRect l="-33957" t="-26215" r="-33957" b="-182919"/>
            </a:stretch>
          </a:blipFill>
        </p:spPr>
        <p:txBody>
          <a:bodyPr/>
          <a:lstStyle/>
          <a:p>
            <a:endParaRPr lang="en-US"/>
          </a:p>
        </p:txBody>
      </p:sp>
      <p:sp>
        <p:nvSpPr>
          <p:cNvPr id="14" name="Freeform 14"/>
          <p:cNvSpPr/>
          <p:nvPr/>
        </p:nvSpPr>
        <p:spPr>
          <a:xfrm>
            <a:off x="0" y="415366"/>
            <a:ext cx="2210757" cy="1211731"/>
          </a:xfrm>
          <a:custGeom>
            <a:avLst/>
            <a:gdLst/>
            <a:ahLst/>
            <a:cxnLst/>
            <a:rect l="l" t="t" r="r" b="b"/>
            <a:pathLst>
              <a:path w="2210757" h="1211731">
                <a:moveTo>
                  <a:pt x="0" y="0"/>
                </a:moveTo>
                <a:lnTo>
                  <a:pt x="2210757" y="0"/>
                </a:lnTo>
                <a:lnTo>
                  <a:pt x="2210757" y="1211731"/>
                </a:lnTo>
                <a:lnTo>
                  <a:pt x="0" y="1211731"/>
                </a:lnTo>
                <a:lnTo>
                  <a:pt x="0" y="0"/>
                </a:lnTo>
                <a:close/>
              </a:path>
            </a:pathLst>
          </a:custGeom>
          <a:blipFill>
            <a:blip r:embed="rId7"/>
            <a:stretch>
              <a:fillRect t="-993" r="-757" b="-993"/>
            </a:stretch>
          </a:blipFill>
        </p:spPr>
        <p:txBody>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DFE1"/>
        </a:solidFill>
        <a:effectLst/>
      </p:bgPr>
    </p:bg>
    <p:spTree>
      <p:nvGrpSpPr>
        <p:cNvPr id="1" name=""/>
        <p:cNvGrpSpPr/>
        <p:nvPr/>
      </p:nvGrpSpPr>
      <p:grpSpPr>
        <a:xfrm>
          <a:off x="0" y="0"/>
          <a:ext cx="0" cy="0"/>
          <a:chOff x="0" y="0"/>
          <a:chExt cx="0" cy="0"/>
        </a:xfrm>
      </p:grpSpPr>
      <p:sp>
        <p:nvSpPr>
          <p:cNvPr id="2" name="Freeform 2"/>
          <p:cNvSpPr/>
          <p:nvPr/>
        </p:nvSpPr>
        <p:spPr>
          <a:xfrm rot="3439930">
            <a:off x="-3455352" y="-7681838"/>
            <a:ext cx="8968105" cy="19888942"/>
          </a:xfrm>
          <a:custGeom>
            <a:avLst/>
            <a:gdLst/>
            <a:ahLst/>
            <a:cxnLst/>
            <a:rect l="l" t="t" r="r" b="b"/>
            <a:pathLst>
              <a:path w="8968105" h="19888942">
                <a:moveTo>
                  <a:pt x="0" y="0"/>
                </a:moveTo>
                <a:lnTo>
                  <a:pt x="8968104" y="0"/>
                </a:lnTo>
                <a:lnTo>
                  <a:pt x="8968104" y="19888941"/>
                </a:lnTo>
                <a:lnTo>
                  <a:pt x="0" y="198889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44000" y="6675247"/>
            <a:ext cx="15519253" cy="7223507"/>
          </a:xfrm>
          <a:custGeom>
            <a:avLst/>
            <a:gdLst/>
            <a:ahLst/>
            <a:cxnLst/>
            <a:rect l="l" t="t" r="r" b="b"/>
            <a:pathLst>
              <a:path w="15519253" h="7223507">
                <a:moveTo>
                  <a:pt x="0" y="0"/>
                </a:moveTo>
                <a:lnTo>
                  <a:pt x="15519253" y="0"/>
                </a:lnTo>
                <a:lnTo>
                  <a:pt x="15519253" y="7223506"/>
                </a:lnTo>
                <a:lnTo>
                  <a:pt x="0" y="72235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rot="392075">
            <a:off x="-696077" y="8946117"/>
            <a:ext cx="4239946" cy="2681766"/>
          </a:xfrm>
          <a:custGeom>
            <a:avLst/>
            <a:gdLst/>
            <a:ahLst/>
            <a:cxnLst/>
            <a:rect l="l" t="t" r="r" b="b"/>
            <a:pathLst>
              <a:path w="4239946" h="2681766">
                <a:moveTo>
                  <a:pt x="0" y="0"/>
                </a:moveTo>
                <a:lnTo>
                  <a:pt x="4239945" y="0"/>
                </a:lnTo>
                <a:lnTo>
                  <a:pt x="4239945" y="2681766"/>
                </a:lnTo>
                <a:lnTo>
                  <a:pt x="0" y="2681766"/>
                </a:lnTo>
                <a:lnTo>
                  <a:pt x="0" y="0"/>
                </a:lnTo>
                <a:close/>
              </a:path>
            </a:pathLst>
          </a:custGeom>
          <a:blipFill>
            <a:blip r:embed="rId6"/>
            <a:stretch>
              <a:fillRect/>
            </a:stretch>
          </a:blipFill>
        </p:spPr>
        <p:txBody>
          <a:bodyPr/>
          <a:lstStyle/>
          <a:p>
            <a:endParaRPr lang="en-US"/>
          </a:p>
        </p:txBody>
      </p:sp>
      <p:sp>
        <p:nvSpPr>
          <p:cNvPr id="5" name="Freeform 5"/>
          <p:cNvSpPr/>
          <p:nvPr/>
        </p:nvSpPr>
        <p:spPr>
          <a:xfrm>
            <a:off x="-5376133" y="1419192"/>
            <a:ext cx="23519244" cy="8585968"/>
          </a:xfrm>
          <a:custGeom>
            <a:avLst/>
            <a:gdLst/>
            <a:ahLst/>
            <a:cxnLst/>
            <a:rect l="l" t="t" r="r" b="b"/>
            <a:pathLst>
              <a:path w="23519244" h="8585968">
                <a:moveTo>
                  <a:pt x="0" y="0"/>
                </a:moveTo>
                <a:lnTo>
                  <a:pt x="23519244" y="0"/>
                </a:lnTo>
                <a:lnTo>
                  <a:pt x="23519244" y="8585967"/>
                </a:lnTo>
                <a:lnTo>
                  <a:pt x="0" y="8585967"/>
                </a:lnTo>
                <a:lnTo>
                  <a:pt x="0" y="0"/>
                </a:lnTo>
                <a:close/>
              </a:path>
            </a:pathLst>
          </a:custGeom>
          <a:blipFill>
            <a:blip r:embed="rId7"/>
            <a:stretch>
              <a:fillRect t="-676" b="-676"/>
            </a:stretch>
          </a:blipFill>
        </p:spPr>
        <p:txBody>
          <a:bodyPr/>
          <a:lstStyle/>
          <a:p>
            <a:endParaRPr lang="en-US"/>
          </a:p>
        </p:txBody>
      </p:sp>
      <p:sp>
        <p:nvSpPr>
          <p:cNvPr id="6" name="Freeform 6"/>
          <p:cNvSpPr/>
          <p:nvPr/>
        </p:nvSpPr>
        <p:spPr>
          <a:xfrm>
            <a:off x="344233" y="235650"/>
            <a:ext cx="2159325" cy="1183541"/>
          </a:xfrm>
          <a:custGeom>
            <a:avLst/>
            <a:gdLst/>
            <a:ahLst/>
            <a:cxnLst/>
            <a:rect l="l" t="t" r="r" b="b"/>
            <a:pathLst>
              <a:path w="2159325" h="1183541">
                <a:moveTo>
                  <a:pt x="0" y="0"/>
                </a:moveTo>
                <a:lnTo>
                  <a:pt x="2159325" y="0"/>
                </a:lnTo>
                <a:lnTo>
                  <a:pt x="2159325" y="1183542"/>
                </a:lnTo>
                <a:lnTo>
                  <a:pt x="0" y="1183542"/>
                </a:lnTo>
                <a:lnTo>
                  <a:pt x="0" y="0"/>
                </a:lnTo>
                <a:close/>
              </a:path>
            </a:pathLst>
          </a:custGeom>
          <a:blipFill>
            <a:blip r:embed="rId8"/>
            <a:stretch>
              <a:fillRect t="-993" r="-757" b="-993"/>
            </a:stretch>
          </a:blipFill>
        </p:spPr>
        <p:txBody>
          <a:bodyPr/>
          <a:lstStyle/>
          <a:p>
            <a:endParaRPr lang="en-US"/>
          </a:p>
        </p:txBody>
      </p:sp>
      <p:sp>
        <p:nvSpPr>
          <p:cNvPr id="7" name="TextBox 7"/>
          <p:cNvSpPr txBox="1"/>
          <p:nvPr/>
        </p:nvSpPr>
        <p:spPr>
          <a:xfrm>
            <a:off x="426909" y="2515237"/>
            <a:ext cx="8109140" cy="4572000"/>
          </a:xfrm>
          <a:prstGeom prst="rect">
            <a:avLst/>
          </a:prstGeom>
        </p:spPr>
        <p:txBody>
          <a:bodyPr lIns="0" tIns="0" rIns="0" bIns="0" rtlCol="0" anchor="t">
            <a:spAutoFit/>
          </a:bodyPr>
          <a:lstStyle/>
          <a:p>
            <a:pPr marL="798007" lvl="1" indent="-399003" algn="l">
              <a:lnSpc>
                <a:spcPts val="4435"/>
              </a:lnSpc>
              <a:buFont typeface="Arial"/>
              <a:buChar char="•"/>
            </a:pPr>
            <a:r>
              <a:rPr lang="en-US" sz="3696">
                <a:solidFill>
                  <a:srgbClr val="000000"/>
                </a:solidFill>
                <a:latin typeface="Times New Roman Bold"/>
              </a:rPr>
              <a:t>Hardware and Software: </a:t>
            </a:r>
          </a:p>
          <a:p>
            <a:pPr algn="l">
              <a:lnSpc>
                <a:spcPts val="4435"/>
              </a:lnSpc>
            </a:pPr>
            <a:r>
              <a:rPr lang="en-US" sz="3696">
                <a:solidFill>
                  <a:srgbClr val="000000"/>
                </a:solidFill>
                <a:latin typeface="Times New Roman Bold"/>
              </a:rPr>
              <a:t>Old hardware and software systems</a:t>
            </a:r>
          </a:p>
          <a:p>
            <a:pPr algn="l">
              <a:lnSpc>
                <a:spcPts val="4435"/>
              </a:lnSpc>
            </a:pPr>
            <a:r>
              <a:rPr lang="en-US" sz="3696">
                <a:solidFill>
                  <a:srgbClr val="000000"/>
                </a:solidFill>
                <a:latin typeface="Times New Roman"/>
              </a:rPr>
              <a:t>=&gt; cannot meet modern website management.</a:t>
            </a:r>
          </a:p>
          <a:p>
            <a:pPr algn="l">
              <a:lnSpc>
                <a:spcPts val="4435"/>
              </a:lnSpc>
            </a:pPr>
            <a:endParaRPr lang="en-US" sz="3696">
              <a:solidFill>
                <a:srgbClr val="000000"/>
              </a:solidFill>
              <a:latin typeface="Times New Roman"/>
            </a:endParaRPr>
          </a:p>
          <a:p>
            <a:pPr algn="l">
              <a:lnSpc>
                <a:spcPts val="4435"/>
              </a:lnSpc>
            </a:pPr>
            <a:r>
              <a:rPr lang="en-US" sz="3696">
                <a:solidFill>
                  <a:srgbClr val="000000"/>
                </a:solidFill>
                <a:latin typeface="Times New Roman Bold"/>
              </a:rPr>
              <a:t>Lack of knowledge or resources</a:t>
            </a:r>
          </a:p>
          <a:p>
            <a:pPr algn="l">
              <a:lnSpc>
                <a:spcPts val="4435"/>
              </a:lnSpc>
            </a:pPr>
            <a:r>
              <a:rPr lang="en-US" sz="3696">
                <a:solidFill>
                  <a:srgbClr val="000000"/>
                </a:solidFill>
                <a:latin typeface="Times New Roman"/>
              </a:rPr>
              <a:t>=&gt; unable to deploy new technologies for the hotel system.</a:t>
            </a:r>
          </a:p>
        </p:txBody>
      </p:sp>
      <p:sp>
        <p:nvSpPr>
          <p:cNvPr id="8" name="TextBox 8"/>
          <p:cNvSpPr txBox="1"/>
          <p:nvPr/>
        </p:nvSpPr>
        <p:spPr>
          <a:xfrm>
            <a:off x="10049752" y="2906402"/>
            <a:ext cx="7829649" cy="4407522"/>
          </a:xfrm>
          <a:prstGeom prst="rect">
            <a:avLst/>
          </a:prstGeom>
        </p:spPr>
        <p:txBody>
          <a:bodyPr lIns="0" tIns="0" rIns="0" bIns="0" rtlCol="0" anchor="t">
            <a:spAutoFit/>
          </a:bodyPr>
          <a:lstStyle/>
          <a:p>
            <a:pPr marL="770503" lvl="1" indent="-385251" algn="l">
              <a:lnSpc>
                <a:spcPts val="4282"/>
              </a:lnSpc>
              <a:buFont typeface="Arial"/>
              <a:buChar char="•"/>
            </a:pPr>
            <a:r>
              <a:rPr lang="en-US" sz="3568">
                <a:solidFill>
                  <a:srgbClr val="000000"/>
                </a:solidFill>
                <a:latin typeface="Times New Roman Bold"/>
              </a:rPr>
              <a:t>Data: </a:t>
            </a:r>
          </a:p>
          <a:p>
            <a:pPr algn="l">
              <a:lnSpc>
                <a:spcPts val="4282"/>
              </a:lnSpc>
            </a:pPr>
            <a:r>
              <a:rPr lang="en-US" sz="3568">
                <a:solidFill>
                  <a:srgbClr val="000000"/>
                </a:solidFill>
                <a:latin typeface="Times New Roman"/>
              </a:rPr>
              <a:t>There is </a:t>
            </a:r>
            <a:r>
              <a:rPr lang="en-US" sz="3568">
                <a:solidFill>
                  <a:srgbClr val="000000"/>
                </a:solidFill>
                <a:latin typeface="Times New Roman Bold"/>
              </a:rPr>
              <a:t>not enough data</a:t>
            </a:r>
            <a:r>
              <a:rPr lang="en-US" sz="3568">
                <a:solidFill>
                  <a:srgbClr val="000000"/>
                </a:solidFill>
                <a:latin typeface="Times New Roman"/>
              </a:rPr>
              <a:t> needed =&gt; cannot build an effective website</a:t>
            </a:r>
          </a:p>
          <a:p>
            <a:pPr algn="l">
              <a:lnSpc>
                <a:spcPts val="4282"/>
              </a:lnSpc>
            </a:pPr>
            <a:endParaRPr lang="en-US" sz="3568">
              <a:solidFill>
                <a:srgbClr val="000000"/>
              </a:solidFill>
              <a:latin typeface="Times New Roman"/>
            </a:endParaRPr>
          </a:p>
          <a:p>
            <a:pPr algn="l">
              <a:lnSpc>
                <a:spcPts val="4282"/>
              </a:lnSpc>
            </a:pPr>
            <a:r>
              <a:rPr lang="en-US" sz="3568">
                <a:solidFill>
                  <a:srgbClr val="000000"/>
                </a:solidFill>
                <a:latin typeface="Times New Roman Bold"/>
              </a:rPr>
              <a:t>Data</a:t>
            </a:r>
            <a:r>
              <a:rPr lang="en-US" sz="3568">
                <a:solidFill>
                  <a:srgbClr val="000000"/>
                </a:solidFill>
                <a:latin typeface="Times New Roman"/>
              </a:rPr>
              <a:t> is not either </a:t>
            </a:r>
            <a:r>
              <a:rPr lang="en-US" sz="3568">
                <a:solidFill>
                  <a:srgbClr val="000000"/>
                </a:solidFill>
                <a:latin typeface="Times New Roman Bold"/>
              </a:rPr>
              <a:t>updated</a:t>
            </a:r>
            <a:r>
              <a:rPr lang="en-US" sz="3568">
                <a:solidFill>
                  <a:srgbClr val="000000"/>
                </a:solidFill>
                <a:latin typeface="Times New Roman"/>
              </a:rPr>
              <a:t> regularly or </a:t>
            </a:r>
            <a:r>
              <a:rPr lang="en-US" sz="3568">
                <a:solidFill>
                  <a:srgbClr val="000000"/>
                </a:solidFill>
                <a:latin typeface="Times New Roman Bold"/>
              </a:rPr>
              <a:t>synchronized</a:t>
            </a:r>
            <a:r>
              <a:rPr lang="en-US" sz="3568">
                <a:solidFill>
                  <a:srgbClr val="000000"/>
                </a:solidFill>
                <a:latin typeface="Times New Roman"/>
              </a:rPr>
              <a:t> between internal</a:t>
            </a:r>
            <a:r>
              <a:rPr lang="en-US" sz="3568">
                <a:solidFill>
                  <a:srgbClr val="000000"/>
                </a:solidFill>
                <a:latin typeface="Times New Roman Bold"/>
              </a:rPr>
              <a:t> </a:t>
            </a:r>
          </a:p>
          <a:p>
            <a:pPr algn="l">
              <a:lnSpc>
                <a:spcPts val="4282"/>
              </a:lnSpc>
            </a:pPr>
            <a:r>
              <a:rPr lang="en-US" sz="3568">
                <a:solidFill>
                  <a:srgbClr val="000000"/>
                </a:solidFill>
                <a:latin typeface="Times New Roman"/>
              </a:rPr>
              <a:t>=&gt; making it difficult to present on the website.</a:t>
            </a:r>
          </a:p>
        </p:txBody>
      </p:sp>
      <p:sp>
        <p:nvSpPr>
          <p:cNvPr id="9" name="TextBox 9"/>
          <p:cNvSpPr txBox="1"/>
          <p:nvPr/>
        </p:nvSpPr>
        <p:spPr>
          <a:xfrm>
            <a:off x="6295726" y="1069241"/>
            <a:ext cx="5696549" cy="981075"/>
          </a:xfrm>
          <a:prstGeom prst="rect">
            <a:avLst/>
          </a:prstGeom>
        </p:spPr>
        <p:txBody>
          <a:bodyPr lIns="0" tIns="0" rIns="0" bIns="0" rtlCol="0" anchor="t">
            <a:spAutoFit/>
          </a:bodyPr>
          <a:lstStyle/>
          <a:p>
            <a:pPr algn="l">
              <a:lnSpc>
                <a:spcPts val="6839"/>
              </a:lnSpc>
            </a:pPr>
            <a:r>
              <a:rPr lang="en-US" sz="5699">
                <a:solidFill>
                  <a:srgbClr val="FF5660"/>
                </a:solidFill>
                <a:latin typeface="Times New Roman Bold"/>
              </a:rPr>
              <a:t>INDUCEMENT</a:t>
            </a:r>
          </a:p>
        </p:txBody>
      </p:sp>
      <p:sp>
        <p:nvSpPr>
          <p:cNvPr id="10" name="TextBox 10"/>
          <p:cNvSpPr txBox="1"/>
          <p:nvPr/>
        </p:nvSpPr>
        <p:spPr>
          <a:xfrm>
            <a:off x="5229176" y="7561682"/>
            <a:ext cx="7829649" cy="2237098"/>
          </a:xfrm>
          <a:prstGeom prst="rect">
            <a:avLst/>
          </a:prstGeom>
        </p:spPr>
        <p:txBody>
          <a:bodyPr lIns="0" tIns="0" rIns="0" bIns="0" rtlCol="0" anchor="t">
            <a:spAutoFit/>
          </a:bodyPr>
          <a:lstStyle/>
          <a:p>
            <a:pPr marL="770503" lvl="1" indent="-385251" algn="l">
              <a:lnSpc>
                <a:spcPts val="4282"/>
              </a:lnSpc>
              <a:buFont typeface="Arial"/>
              <a:buChar char="•"/>
            </a:pPr>
            <a:r>
              <a:rPr lang="en-US" sz="3568">
                <a:solidFill>
                  <a:srgbClr val="000000"/>
                </a:solidFill>
                <a:latin typeface="Times New Roman Bold"/>
              </a:rPr>
              <a:t>Process: </a:t>
            </a:r>
          </a:p>
          <a:p>
            <a:pPr algn="l">
              <a:lnSpc>
                <a:spcPts val="4282"/>
              </a:lnSpc>
            </a:pPr>
            <a:r>
              <a:rPr lang="en-US" sz="3568">
                <a:solidFill>
                  <a:srgbClr val="000000"/>
                </a:solidFill>
                <a:latin typeface="Times New Roman"/>
              </a:rPr>
              <a:t>Lack of long-term strategy in applying technology to promote and develop online business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527541" y="3761638"/>
            <a:ext cx="13232917" cy="3633037"/>
          </a:xfrm>
          <a:custGeom>
            <a:avLst/>
            <a:gdLst/>
            <a:ahLst/>
            <a:cxnLst/>
            <a:rect l="l" t="t" r="r" b="b"/>
            <a:pathLst>
              <a:path w="13232917" h="3633037">
                <a:moveTo>
                  <a:pt x="0" y="0"/>
                </a:moveTo>
                <a:lnTo>
                  <a:pt x="13232918" y="0"/>
                </a:lnTo>
                <a:lnTo>
                  <a:pt x="13232918" y="3633038"/>
                </a:lnTo>
                <a:lnTo>
                  <a:pt x="0" y="36330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3539809" y="4499264"/>
            <a:ext cx="11588313" cy="1543050"/>
          </a:xfrm>
          <a:prstGeom prst="rect">
            <a:avLst/>
          </a:prstGeom>
        </p:spPr>
        <p:txBody>
          <a:bodyPr lIns="0" tIns="0" rIns="0" bIns="0" rtlCol="0" anchor="t">
            <a:spAutoFit/>
          </a:bodyPr>
          <a:lstStyle/>
          <a:p>
            <a:pPr algn="ctr">
              <a:lnSpc>
                <a:spcPts val="10769"/>
              </a:lnSpc>
            </a:pPr>
            <a:r>
              <a:rPr lang="en-US" sz="8974">
                <a:solidFill>
                  <a:srgbClr val="010101"/>
                </a:solidFill>
                <a:latin typeface="Times New Roman Bold"/>
              </a:rPr>
              <a:t>Energy Wastage</a:t>
            </a:r>
          </a:p>
        </p:txBody>
      </p:sp>
      <p:sp>
        <p:nvSpPr>
          <p:cNvPr id="4" name="Freeform 4"/>
          <p:cNvSpPr/>
          <p:nvPr/>
        </p:nvSpPr>
        <p:spPr>
          <a:xfrm>
            <a:off x="7561854" y="1028700"/>
            <a:ext cx="2347203" cy="1286518"/>
          </a:xfrm>
          <a:custGeom>
            <a:avLst/>
            <a:gdLst/>
            <a:ahLst/>
            <a:cxnLst/>
            <a:rect l="l" t="t" r="r" b="b"/>
            <a:pathLst>
              <a:path w="2347203" h="1286518">
                <a:moveTo>
                  <a:pt x="0" y="0"/>
                </a:moveTo>
                <a:lnTo>
                  <a:pt x="2347203" y="0"/>
                </a:lnTo>
                <a:lnTo>
                  <a:pt x="2347203" y="1286518"/>
                </a:lnTo>
                <a:lnTo>
                  <a:pt x="0" y="1286518"/>
                </a:lnTo>
                <a:lnTo>
                  <a:pt x="0" y="0"/>
                </a:lnTo>
                <a:close/>
              </a:path>
            </a:pathLst>
          </a:custGeom>
          <a:blipFill>
            <a:blip r:embed="rId4"/>
            <a:stretch>
              <a:fillRect t="-993" r="-757" b="-993"/>
            </a:stretch>
          </a:blipFill>
        </p:spPr>
        <p:txBody>
          <a:bodyP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DFE1"/>
        </a:solidFill>
        <a:effectLst/>
      </p:bgPr>
    </p:bg>
    <p:spTree>
      <p:nvGrpSpPr>
        <p:cNvPr id="1" name=""/>
        <p:cNvGrpSpPr/>
        <p:nvPr/>
      </p:nvGrpSpPr>
      <p:grpSpPr>
        <a:xfrm>
          <a:off x="0" y="0"/>
          <a:ext cx="0" cy="0"/>
          <a:chOff x="0" y="0"/>
          <a:chExt cx="0" cy="0"/>
        </a:xfrm>
      </p:grpSpPr>
      <p:sp>
        <p:nvSpPr>
          <p:cNvPr id="2" name="Freeform 2"/>
          <p:cNvSpPr/>
          <p:nvPr/>
        </p:nvSpPr>
        <p:spPr>
          <a:xfrm rot="-3951874">
            <a:off x="4585181" y="-7549622"/>
            <a:ext cx="10119710" cy="22442906"/>
          </a:xfrm>
          <a:custGeom>
            <a:avLst/>
            <a:gdLst/>
            <a:ahLst/>
            <a:cxnLst/>
            <a:rect l="l" t="t" r="r" b="b"/>
            <a:pathLst>
              <a:path w="10119710" h="22442906">
                <a:moveTo>
                  <a:pt x="0" y="0"/>
                </a:moveTo>
                <a:lnTo>
                  <a:pt x="10119710" y="0"/>
                </a:lnTo>
                <a:lnTo>
                  <a:pt x="10119710" y="22442906"/>
                </a:lnTo>
                <a:lnTo>
                  <a:pt x="0" y="224429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04775" y="313400"/>
            <a:ext cx="2610075" cy="1430600"/>
          </a:xfrm>
          <a:custGeom>
            <a:avLst/>
            <a:gdLst/>
            <a:ahLst/>
            <a:cxnLst/>
            <a:rect l="l" t="t" r="r" b="b"/>
            <a:pathLst>
              <a:path w="2610075" h="1430600">
                <a:moveTo>
                  <a:pt x="0" y="0"/>
                </a:moveTo>
                <a:lnTo>
                  <a:pt x="2610075" y="0"/>
                </a:lnTo>
                <a:lnTo>
                  <a:pt x="2610075" y="1430600"/>
                </a:lnTo>
                <a:lnTo>
                  <a:pt x="0" y="1430600"/>
                </a:lnTo>
                <a:lnTo>
                  <a:pt x="0" y="0"/>
                </a:lnTo>
                <a:close/>
              </a:path>
            </a:pathLst>
          </a:custGeom>
          <a:blipFill>
            <a:blip r:embed="rId4"/>
            <a:stretch>
              <a:fillRect t="-993" r="-757" b="-993"/>
            </a:stretch>
          </a:blipFill>
        </p:spPr>
        <p:txBody>
          <a:bodyPr/>
          <a:lstStyle/>
          <a:p>
            <a:endParaRPr lang="en-US"/>
          </a:p>
        </p:txBody>
      </p:sp>
      <p:sp>
        <p:nvSpPr>
          <p:cNvPr id="4" name="TextBox 4"/>
          <p:cNvSpPr txBox="1"/>
          <p:nvPr/>
        </p:nvSpPr>
        <p:spPr>
          <a:xfrm>
            <a:off x="104775" y="6858346"/>
            <a:ext cx="16268196" cy="3226804"/>
          </a:xfrm>
          <a:prstGeom prst="rect">
            <a:avLst/>
          </a:prstGeom>
        </p:spPr>
        <p:txBody>
          <a:bodyPr lIns="0" tIns="0" rIns="0" bIns="0" rtlCol="0" anchor="t">
            <a:spAutoFit/>
          </a:bodyPr>
          <a:lstStyle/>
          <a:p>
            <a:pPr algn="l">
              <a:lnSpc>
                <a:spcPts val="4144"/>
              </a:lnSpc>
            </a:pPr>
            <a:r>
              <a:rPr lang="en-US" sz="3453">
                <a:solidFill>
                  <a:srgbClr val="000000"/>
                </a:solidFill>
                <a:latin typeface="Times New Roman Bold"/>
              </a:rPr>
              <a:t>Lack of</a:t>
            </a:r>
            <a:r>
              <a:rPr lang="en-US" sz="3453">
                <a:solidFill>
                  <a:srgbClr val="000000"/>
                </a:solidFill>
                <a:latin typeface="Times New Roman"/>
              </a:rPr>
              <a:t> ability to </a:t>
            </a:r>
            <a:r>
              <a:rPr lang="en-US" sz="3453">
                <a:solidFill>
                  <a:srgbClr val="000000"/>
                </a:solidFill>
                <a:latin typeface="Times New Roman Bold"/>
              </a:rPr>
              <a:t>monitor and manage</a:t>
            </a:r>
            <a:r>
              <a:rPr lang="en-US" sz="3453">
                <a:solidFill>
                  <a:srgbClr val="000000"/>
                </a:solidFill>
                <a:latin typeface="Times New Roman"/>
              </a:rPr>
              <a:t> electricity </a:t>
            </a:r>
          </a:p>
          <a:p>
            <a:pPr algn="l">
              <a:lnSpc>
                <a:spcPts val="4144"/>
              </a:lnSpc>
            </a:pPr>
            <a:r>
              <a:rPr lang="en-US" sz="3453">
                <a:solidFill>
                  <a:srgbClr val="000000"/>
                </a:solidFill>
                <a:latin typeface="Times New Roman"/>
              </a:rPr>
              <a:t>consumption causes </a:t>
            </a:r>
            <a:r>
              <a:rPr lang="en-US" sz="3453">
                <a:solidFill>
                  <a:srgbClr val="000000"/>
                </a:solidFill>
                <a:latin typeface="Times New Roman Bold"/>
              </a:rPr>
              <a:t>wasteful energy</a:t>
            </a:r>
            <a:r>
              <a:rPr lang="en-US" sz="3453">
                <a:solidFill>
                  <a:srgbClr val="000000"/>
                </a:solidFill>
                <a:latin typeface="Times New Roman"/>
              </a:rPr>
              <a:t> </a:t>
            </a:r>
            <a:r>
              <a:rPr lang="en-US" sz="3453">
                <a:solidFill>
                  <a:srgbClr val="000000"/>
                </a:solidFill>
                <a:latin typeface="Times New Roman Bold"/>
              </a:rPr>
              <a:t>consumption.</a:t>
            </a:r>
          </a:p>
          <a:p>
            <a:pPr algn="l">
              <a:lnSpc>
                <a:spcPts val="4144"/>
              </a:lnSpc>
            </a:pPr>
            <a:endParaRPr lang="en-US" sz="3453">
              <a:solidFill>
                <a:srgbClr val="000000"/>
              </a:solidFill>
              <a:latin typeface="Times New Roman Bold"/>
            </a:endParaRPr>
          </a:p>
          <a:p>
            <a:pPr algn="l">
              <a:lnSpc>
                <a:spcPts val="4144"/>
              </a:lnSpc>
            </a:pPr>
            <a:r>
              <a:rPr lang="en-US" sz="3453">
                <a:solidFill>
                  <a:srgbClr val="000000"/>
                </a:solidFill>
                <a:latin typeface="Times New Roman Bold"/>
              </a:rPr>
              <a:t>Electrical systems</a:t>
            </a:r>
            <a:r>
              <a:rPr lang="en-US" sz="3453">
                <a:solidFill>
                  <a:srgbClr val="000000"/>
                </a:solidFill>
                <a:latin typeface="Times New Roman"/>
              </a:rPr>
              <a:t> are used </a:t>
            </a:r>
            <a:r>
              <a:rPr lang="en-US" sz="3453">
                <a:solidFill>
                  <a:srgbClr val="000000"/>
                </a:solidFill>
                <a:latin typeface="Times New Roman Bold"/>
              </a:rPr>
              <a:t>without a clear plan </a:t>
            </a:r>
            <a:r>
              <a:rPr lang="en-US" sz="3453">
                <a:solidFill>
                  <a:srgbClr val="000000"/>
                </a:solidFill>
                <a:latin typeface="Times New Roman"/>
              </a:rPr>
              <a:t>leading to </a:t>
            </a:r>
            <a:r>
              <a:rPr lang="en-US" sz="3453">
                <a:solidFill>
                  <a:srgbClr val="000000"/>
                </a:solidFill>
                <a:latin typeface="Times New Roman Bold"/>
              </a:rPr>
              <a:t>negative impacts</a:t>
            </a:r>
            <a:r>
              <a:rPr lang="en-US" sz="3453">
                <a:solidFill>
                  <a:srgbClr val="000000"/>
                </a:solidFill>
                <a:latin typeface="Times New Roman"/>
              </a:rPr>
              <a:t>.</a:t>
            </a:r>
          </a:p>
          <a:p>
            <a:pPr algn="l">
              <a:lnSpc>
                <a:spcPts val="4144"/>
              </a:lnSpc>
            </a:pPr>
            <a:endParaRPr lang="en-US" sz="3453">
              <a:solidFill>
                <a:srgbClr val="000000"/>
              </a:solidFill>
              <a:latin typeface="Times New Roman"/>
            </a:endParaRPr>
          </a:p>
          <a:p>
            <a:pPr algn="l">
              <a:lnSpc>
                <a:spcPts val="4144"/>
              </a:lnSpc>
            </a:pPr>
            <a:r>
              <a:rPr lang="en-US" sz="3453">
                <a:solidFill>
                  <a:srgbClr val="000000"/>
                </a:solidFill>
                <a:latin typeface="Times New Roman Bold"/>
              </a:rPr>
              <a:t>Outdated equipment and technology</a:t>
            </a:r>
            <a:r>
              <a:rPr lang="en-US" sz="3453">
                <a:solidFill>
                  <a:srgbClr val="000000"/>
                </a:solidFill>
                <a:latin typeface="Times New Roman"/>
              </a:rPr>
              <a:t> lead to </a:t>
            </a:r>
            <a:r>
              <a:rPr lang="en-US" sz="3453">
                <a:solidFill>
                  <a:srgbClr val="000000"/>
                </a:solidFill>
                <a:latin typeface="Times New Roman Bold"/>
              </a:rPr>
              <a:t>inefficient operations and incidents.</a:t>
            </a:r>
          </a:p>
        </p:txBody>
      </p:sp>
      <p:sp>
        <p:nvSpPr>
          <p:cNvPr id="5" name="TextBox 5"/>
          <p:cNvSpPr txBox="1"/>
          <p:nvPr/>
        </p:nvSpPr>
        <p:spPr>
          <a:xfrm>
            <a:off x="133350" y="4286596"/>
            <a:ext cx="4684889" cy="2752725"/>
          </a:xfrm>
          <a:prstGeom prst="rect">
            <a:avLst/>
          </a:prstGeom>
        </p:spPr>
        <p:txBody>
          <a:bodyPr lIns="0" tIns="0" rIns="0" bIns="0" rtlCol="0" anchor="t">
            <a:spAutoFit/>
          </a:bodyPr>
          <a:lstStyle/>
          <a:p>
            <a:pPr algn="l">
              <a:lnSpc>
                <a:spcPts val="9600"/>
              </a:lnSpc>
            </a:pPr>
            <a:r>
              <a:rPr lang="en-US" sz="8000">
                <a:solidFill>
                  <a:srgbClr val="000000"/>
                </a:solidFill>
                <a:latin typeface="Times New Roman Bold"/>
              </a:rPr>
              <a:t>Existing </a:t>
            </a:r>
          </a:p>
          <a:p>
            <a:pPr algn="l">
              <a:lnSpc>
                <a:spcPts val="10800"/>
              </a:lnSpc>
            </a:pPr>
            <a:r>
              <a:rPr lang="en-US" sz="9000">
                <a:solidFill>
                  <a:srgbClr val="000000"/>
                </a:solidFill>
                <a:latin typeface="Times New Roman Bold"/>
              </a:rPr>
              <a:t>Problem.</a:t>
            </a:r>
          </a:p>
        </p:txBody>
      </p:sp>
      <p:sp>
        <p:nvSpPr>
          <p:cNvPr id="6" name="TextBox 6"/>
          <p:cNvSpPr txBox="1"/>
          <p:nvPr/>
        </p:nvSpPr>
        <p:spPr>
          <a:xfrm>
            <a:off x="10505386" y="2179190"/>
            <a:ext cx="7782614" cy="4572000"/>
          </a:xfrm>
          <a:prstGeom prst="rect">
            <a:avLst/>
          </a:prstGeom>
        </p:spPr>
        <p:txBody>
          <a:bodyPr lIns="0" tIns="0" rIns="0" bIns="0" rtlCol="0" anchor="t">
            <a:spAutoFit/>
          </a:bodyPr>
          <a:lstStyle/>
          <a:p>
            <a:pPr algn="l">
              <a:lnSpc>
                <a:spcPts val="4435"/>
              </a:lnSpc>
            </a:pPr>
            <a:r>
              <a:rPr lang="en-US" sz="3696">
                <a:solidFill>
                  <a:srgbClr val="000000"/>
                </a:solidFill>
                <a:latin typeface="Times New Roman Bold"/>
              </a:rPr>
              <a:t>IoE applications</a:t>
            </a:r>
            <a:r>
              <a:rPr lang="en-US" sz="3696">
                <a:solidFill>
                  <a:srgbClr val="000000"/>
                </a:solidFill>
                <a:latin typeface="Times New Roman"/>
              </a:rPr>
              <a:t> help hotel systems </a:t>
            </a:r>
            <a:r>
              <a:rPr lang="en-US" sz="3696">
                <a:solidFill>
                  <a:srgbClr val="000000"/>
                </a:solidFill>
                <a:latin typeface="Times New Roman Bold"/>
              </a:rPr>
              <a:t>optimize energy management.</a:t>
            </a:r>
          </a:p>
          <a:p>
            <a:pPr algn="l">
              <a:lnSpc>
                <a:spcPts val="4435"/>
              </a:lnSpc>
            </a:pPr>
            <a:endParaRPr lang="en-US" sz="3696">
              <a:solidFill>
                <a:srgbClr val="000000"/>
              </a:solidFill>
              <a:latin typeface="Times New Roman Bold"/>
            </a:endParaRPr>
          </a:p>
          <a:p>
            <a:pPr algn="l">
              <a:lnSpc>
                <a:spcPts val="4435"/>
              </a:lnSpc>
            </a:pPr>
            <a:endParaRPr lang="en-US" sz="3696">
              <a:solidFill>
                <a:srgbClr val="000000"/>
              </a:solidFill>
              <a:latin typeface="Times New Roman Bold"/>
            </a:endParaRPr>
          </a:p>
          <a:p>
            <a:pPr algn="l">
              <a:lnSpc>
                <a:spcPts val="4435"/>
              </a:lnSpc>
            </a:pPr>
            <a:r>
              <a:rPr lang="en-US" sz="3696">
                <a:solidFill>
                  <a:srgbClr val="000000"/>
                </a:solidFill>
                <a:latin typeface="Times New Roman Bold"/>
              </a:rPr>
              <a:t>Monitoring </a:t>
            </a:r>
            <a:r>
              <a:rPr lang="en-US" sz="3696">
                <a:solidFill>
                  <a:srgbClr val="000000"/>
                </a:solidFill>
                <a:latin typeface="Times New Roman"/>
              </a:rPr>
              <a:t>and </a:t>
            </a:r>
            <a:r>
              <a:rPr lang="en-US" sz="3696">
                <a:solidFill>
                  <a:srgbClr val="000000"/>
                </a:solidFill>
                <a:latin typeface="Times New Roman Bold"/>
              </a:rPr>
              <a:t>analyzing energy consumption </a:t>
            </a:r>
            <a:r>
              <a:rPr lang="en-US" sz="3696">
                <a:solidFill>
                  <a:srgbClr val="000000"/>
                </a:solidFill>
                <a:latin typeface="Times New Roman"/>
              </a:rPr>
              <a:t>will help hotels </a:t>
            </a:r>
            <a:r>
              <a:rPr lang="en-US" sz="3696">
                <a:solidFill>
                  <a:srgbClr val="000000"/>
                </a:solidFill>
                <a:latin typeface="Times New Roman Bold"/>
              </a:rPr>
              <a:t>build a better image</a:t>
            </a:r>
            <a:r>
              <a:rPr lang="en-US" sz="3696">
                <a:solidFill>
                  <a:srgbClr val="000000"/>
                </a:solidFill>
                <a:latin typeface="Times New Roman"/>
              </a:rPr>
              <a:t>.</a:t>
            </a:r>
          </a:p>
          <a:p>
            <a:pPr algn="just">
              <a:lnSpc>
                <a:spcPts val="4435"/>
              </a:lnSpc>
            </a:pPr>
            <a:endParaRPr lang="en-US" sz="3696">
              <a:solidFill>
                <a:srgbClr val="000000"/>
              </a:solidFill>
              <a:latin typeface="Times New Roman"/>
            </a:endParaRPr>
          </a:p>
        </p:txBody>
      </p:sp>
      <p:sp>
        <p:nvSpPr>
          <p:cNvPr id="7" name="TextBox 7"/>
          <p:cNvSpPr txBox="1"/>
          <p:nvPr/>
        </p:nvSpPr>
        <p:spPr>
          <a:xfrm>
            <a:off x="11278145" y="693290"/>
            <a:ext cx="6237096" cy="1381125"/>
          </a:xfrm>
          <a:prstGeom prst="rect">
            <a:avLst/>
          </a:prstGeom>
        </p:spPr>
        <p:txBody>
          <a:bodyPr lIns="0" tIns="0" rIns="0" bIns="0" rtlCol="0" anchor="t">
            <a:spAutoFit/>
          </a:bodyPr>
          <a:lstStyle/>
          <a:p>
            <a:pPr algn="l">
              <a:lnSpc>
                <a:spcPts val="9600"/>
              </a:lnSpc>
            </a:pPr>
            <a:r>
              <a:rPr lang="en-US" sz="8000">
                <a:solidFill>
                  <a:srgbClr val="000000"/>
                </a:solidFill>
                <a:latin typeface="Times New Roman Bold"/>
              </a:rPr>
              <a:t>Expectation.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635329" y="0"/>
            <a:ext cx="9652671" cy="10287000"/>
          </a:xfrm>
          <a:prstGeom prst="rect">
            <a:avLst/>
          </a:prstGeom>
          <a:solidFill>
            <a:srgbClr val="FFDFE1"/>
          </a:solidFill>
        </p:spPr>
        <p:txBody>
          <a:bodyPr/>
          <a:lstStyle/>
          <a:p>
            <a:endParaRPr lang="en-US"/>
          </a:p>
        </p:txBody>
      </p:sp>
      <p:sp>
        <p:nvSpPr>
          <p:cNvPr id="3" name="Freeform 3"/>
          <p:cNvSpPr/>
          <p:nvPr/>
        </p:nvSpPr>
        <p:spPr>
          <a:xfrm>
            <a:off x="352901" y="331541"/>
            <a:ext cx="2543878" cy="1394317"/>
          </a:xfrm>
          <a:custGeom>
            <a:avLst/>
            <a:gdLst/>
            <a:ahLst/>
            <a:cxnLst/>
            <a:rect l="l" t="t" r="r" b="b"/>
            <a:pathLst>
              <a:path w="2543878" h="1394317">
                <a:moveTo>
                  <a:pt x="0" y="0"/>
                </a:moveTo>
                <a:lnTo>
                  <a:pt x="2543878" y="0"/>
                </a:lnTo>
                <a:lnTo>
                  <a:pt x="2543878" y="1394318"/>
                </a:lnTo>
                <a:lnTo>
                  <a:pt x="0" y="1394318"/>
                </a:lnTo>
                <a:lnTo>
                  <a:pt x="0" y="0"/>
                </a:lnTo>
                <a:close/>
              </a:path>
            </a:pathLst>
          </a:custGeom>
          <a:blipFill>
            <a:blip r:embed="rId2"/>
            <a:stretch>
              <a:fillRect t="-993" r="-757" b="-993"/>
            </a:stretch>
          </a:blipFill>
        </p:spPr>
        <p:txBody>
          <a:bodyPr/>
          <a:lstStyle/>
          <a:p>
            <a:endParaRPr lang="en-US"/>
          </a:p>
        </p:txBody>
      </p:sp>
      <p:sp>
        <p:nvSpPr>
          <p:cNvPr id="4" name="Freeform 4"/>
          <p:cNvSpPr/>
          <p:nvPr/>
        </p:nvSpPr>
        <p:spPr>
          <a:xfrm rot="-1478943">
            <a:off x="-939185" y="3144677"/>
            <a:ext cx="22236090" cy="5153216"/>
          </a:xfrm>
          <a:custGeom>
            <a:avLst/>
            <a:gdLst/>
            <a:ahLst/>
            <a:cxnLst/>
            <a:rect l="l" t="t" r="r" b="b"/>
            <a:pathLst>
              <a:path w="22236090" h="5153216">
                <a:moveTo>
                  <a:pt x="0" y="0"/>
                </a:moveTo>
                <a:lnTo>
                  <a:pt x="22236089" y="0"/>
                </a:lnTo>
                <a:lnTo>
                  <a:pt x="22236089" y="5153215"/>
                </a:lnTo>
                <a:lnTo>
                  <a:pt x="0" y="5153215"/>
                </a:lnTo>
                <a:lnTo>
                  <a:pt x="0" y="0"/>
                </a:lnTo>
                <a:close/>
              </a:path>
            </a:pathLst>
          </a:custGeom>
          <a:blipFill>
            <a:blip r:embed="rId3"/>
            <a:stretch>
              <a:fillRect t="-18500" b="-18500"/>
            </a:stretch>
          </a:blipFill>
        </p:spPr>
        <p:txBody>
          <a:bodyPr/>
          <a:lstStyle/>
          <a:p>
            <a:endParaRPr lang="en-US"/>
          </a:p>
        </p:txBody>
      </p:sp>
      <p:sp>
        <p:nvSpPr>
          <p:cNvPr id="5" name="Freeform 5"/>
          <p:cNvSpPr/>
          <p:nvPr/>
        </p:nvSpPr>
        <p:spPr>
          <a:xfrm rot="-10468542">
            <a:off x="3828227" y="-8813023"/>
            <a:ext cx="9614203" cy="21321822"/>
          </a:xfrm>
          <a:custGeom>
            <a:avLst/>
            <a:gdLst/>
            <a:ahLst/>
            <a:cxnLst/>
            <a:rect l="l" t="t" r="r" b="b"/>
            <a:pathLst>
              <a:path w="9614203" h="21321822">
                <a:moveTo>
                  <a:pt x="0" y="0"/>
                </a:moveTo>
                <a:lnTo>
                  <a:pt x="9614204" y="0"/>
                </a:lnTo>
                <a:lnTo>
                  <a:pt x="9614204" y="21321822"/>
                </a:lnTo>
                <a:lnTo>
                  <a:pt x="0" y="21321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p:cNvSpPr txBox="1"/>
          <p:nvPr/>
        </p:nvSpPr>
        <p:spPr>
          <a:xfrm>
            <a:off x="0" y="1981238"/>
            <a:ext cx="6147936" cy="6819900"/>
          </a:xfrm>
          <a:prstGeom prst="rect">
            <a:avLst/>
          </a:prstGeom>
        </p:spPr>
        <p:txBody>
          <a:bodyPr lIns="0" tIns="0" rIns="0" bIns="0" rtlCol="0" anchor="t">
            <a:spAutoFit/>
          </a:bodyPr>
          <a:lstStyle/>
          <a:p>
            <a:pPr marL="798007" lvl="1" indent="-399003" algn="just">
              <a:lnSpc>
                <a:spcPts val="4435"/>
              </a:lnSpc>
              <a:buFont typeface="Arial"/>
              <a:buChar char="•"/>
            </a:pPr>
            <a:r>
              <a:rPr lang="en-US" sz="3696">
                <a:solidFill>
                  <a:srgbClr val="000000"/>
                </a:solidFill>
                <a:latin typeface="Times New Roman Bold"/>
              </a:rPr>
              <a:t>Hardware: </a:t>
            </a:r>
          </a:p>
          <a:p>
            <a:pPr algn="just">
              <a:lnSpc>
                <a:spcPts val="4435"/>
              </a:lnSpc>
            </a:pPr>
            <a:r>
              <a:rPr lang="en-US" sz="3696">
                <a:solidFill>
                  <a:srgbClr val="000000"/>
                </a:solidFill>
                <a:latin typeface="Times New Roman"/>
              </a:rPr>
              <a:t>The hotel's energy system is based on </a:t>
            </a:r>
            <a:r>
              <a:rPr lang="en-US" sz="3696">
                <a:solidFill>
                  <a:srgbClr val="000000"/>
                </a:solidFill>
                <a:latin typeface="Times New Roman Bold"/>
              </a:rPr>
              <a:t>outdated equipment and technology</a:t>
            </a:r>
            <a:r>
              <a:rPr lang="en-US" sz="3696">
                <a:solidFill>
                  <a:srgbClr val="000000"/>
                </a:solidFill>
                <a:latin typeface="Times New Roman"/>
              </a:rPr>
              <a:t>, operates inefficiently, and is prone to incidents.</a:t>
            </a:r>
          </a:p>
          <a:p>
            <a:pPr algn="just">
              <a:lnSpc>
                <a:spcPts val="4435"/>
              </a:lnSpc>
            </a:pPr>
            <a:r>
              <a:rPr lang="en-US" sz="3696">
                <a:solidFill>
                  <a:srgbClr val="000000"/>
                </a:solidFill>
                <a:latin typeface="Times New Roman Bold"/>
              </a:rPr>
              <a:t>Inadequate</a:t>
            </a:r>
            <a:r>
              <a:rPr lang="en-US" sz="3696">
                <a:solidFill>
                  <a:srgbClr val="000000"/>
                </a:solidFill>
                <a:latin typeface="Times New Roman"/>
              </a:rPr>
              <a:t> hotel energy storage capacity leads to frequent energy waste and high electricity bills.</a:t>
            </a:r>
          </a:p>
          <a:p>
            <a:pPr algn="just">
              <a:lnSpc>
                <a:spcPts val="4435"/>
              </a:lnSpc>
            </a:pPr>
            <a:endParaRPr lang="en-US" sz="3696">
              <a:solidFill>
                <a:srgbClr val="000000"/>
              </a:solidFill>
              <a:latin typeface="Times New Roman"/>
            </a:endParaRPr>
          </a:p>
          <a:p>
            <a:pPr algn="just">
              <a:lnSpc>
                <a:spcPts val="4435"/>
              </a:lnSpc>
            </a:pPr>
            <a:endParaRPr lang="en-US" sz="3696">
              <a:solidFill>
                <a:srgbClr val="000000"/>
              </a:solidFill>
              <a:latin typeface="Times New Roman"/>
            </a:endParaRPr>
          </a:p>
        </p:txBody>
      </p:sp>
      <p:sp>
        <p:nvSpPr>
          <p:cNvPr id="7" name="TextBox 7"/>
          <p:cNvSpPr txBox="1"/>
          <p:nvPr/>
        </p:nvSpPr>
        <p:spPr>
          <a:xfrm rot="-1574010">
            <a:off x="5759473" y="5848204"/>
            <a:ext cx="6710598" cy="1162050"/>
          </a:xfrm>
          <a:prstGeom prst="rect">
            <a:avLst/>
          </a:prstGeom>
        </p:spPr>
        <p:txBody>
          <a:bodyPr lIns="0" tIns="0" rIns="0" bIns="0" rtlCol="0" anchor="t">
            <a:spAutoFit/>
          </a:bodyPr>
          <a:lstStyle/>
          <a:p>
            <a:pPr algn="l">
              <a:lnSpc>
                <a:spcPts val="8159"/>
              </a:lnSpc>
            </a:pPr>
            <a:r>
              <a:rPr lang="en-US" sz="6799">
                <a:solidFill>
                  <a:srgbClr val="FF5660"/>
                </a:solidFill>
                <a:latin typeface="Times New Roman Bold Italics"/>
              </a:rPr>
              <a:t>INDUCEMENT</a:t>
            </a:r>
          </a:p>
        </p:txBody>
      </p:sp>
      <p:sp>
        <p:nvSpPr>
          <p:cNvPr id="8" name="TextBox 8"/>
          <p:cNvSpPr txBox="1"/>
          <p:nvPr/>
        </p:nvSpPr>
        <p:spPr>
          <a:xfrm>
            <a:off x="12176312" y="255341"/>
            <a:ext cx="6111688" cy="6819900"/>
          </a:xfrm>
          <a:prstGeom prst="rect">
            <a:avLst/>
          </a:prstGeom>
        </p:spPr>
        <p:txBody>
          <a:bodyPr lIns="0" tIns="0" rIns="0" bIns="0" rtlCol="0" anchor="t">
            <a:spAutoFit/>
          </a:bodyPr>
          <a:lstStyle/>
          <a:p>
            <a:pPr marL="798829" lvl="1" indent="-399415" algn="just">
              <a:lnSpc>
                <a:spcPts val="4439"/>
              </a:lnSpc>
              <a:buFont typeface="Arial"/>
              <a:buChar char="•"/>
            </a:pPr>
            <a:r>
              <a:rPr lang="en-US" sz="3699">
                <a:solidFill>
                  <a:srgbClr val="000000"/>
                </a:solidFill>
                <a:latin typeface="Times New Roman Bold"/>
              </a:rPr>
              <a:t>Data: </a:t>
            </a:r>
          </a:p>
          <a:p>
            <a:pPr algn="just">
              <a:lnSpc>
                <a:spcPts val="4439"/>
              </a:lnSpc>
            </a:pPr>
            <a:r>
              <a:rPr lang="en-US" sz="3699">
                <a:solidFill>
                  <a:srgbClr val="000000"/>
                </a:solidFill>
                <a:latin typeface="Times New Roman"/>
              </a:rPr>
              <a:t>The hotel </a:t>
            </a:r>
            <a:r>
              <a:rPr lang="en-US" sz="3699">
                <a:solidFill>
                  <a:srgbClr val="000000"/>
                </a:solidFill>
                <a:latin typeface="Times New Roman Bold"/>
              </a:rPr>
              <a:t>lacks</a:t>
            </a:r>
            <a:r>
              <a:rPr lang="en-US" sz="3699">
                <a:solidFill>
                  <a:srgbClr val="000000"/>
                </a:solidFill>
                <a:latin typeface="Times New Roman"/>
              </a:rPr>
              <a:t> a system to </a:t>
            </a:r>
            <a:r>
              <a:rPr lang="en-US" sz="3699">
                <a:solidFill>
                  <a:srgbClr val="000000"/>
                </a:solidFill>
                <a:latin typeface="Times New Roman Bold"/>
              </a:rPr>
              <a:t>monitor</a:t>
            </a:r>
            <a:r>
              <a:rPr lang="en-US" sz="3699">
                <a:solidFill>
                  <a:srgbClr val="000000"/>
                </a:solidFill>
                <a:latin typeface="Times New Roman"/>
              </a:rPr>
              <a:t> and </a:t>
            </a:r>
            <a:r>
              <a:rPr lang="en-US" sz="3699">
                <a:solidFill>
                  <a:srgbClr val="000000"/>
                </a:solidFill>
                <a:latin typeface="Times New Roman Bold"/>
              </a:rPr>
              <a:t>track</a:t>
            </a:r>
            <a:r>
              <a:rPr lang="en-US" sz="3699">
                <a:solidFill>
                  <a:srgbClr val="000000"/>
                </a:solidFill>
                <a:latin typeface="Times New Roman"/>
              </a:rPr>
              <a:t> real-time energy </a:t>
            </a:r>
            <a:r>
              <a:rPr lang="en-US" sz="3699">
                <a:solidFill>
                  <a:srgbClr val="000000"/>
                </a:solidFill>
                <a:latin typeface="Times New Roman Bold"/>
              </a:rPr>
              <a:t>usage data</a:t>
            </a:r>
            <a:r>
              <a:rPr lang="en-US" sz="3699">
                <a:solidFill>
                  <a:srgbClr val="000000"/>
                </a:solidFill>
                <a:latin typeface="Times New Roman"/>
              </a:rPr>
              <a:t>.</a:t>
            </a:r>
          </a:p>
          <a:p>
            <a:pPr algn="just">
              <a:lnSpc>
                <a:spcPts val="4439"/>
              </a:lnSpc>
            </a:pPr>
            <a:endParaRPr lang="en-US" sz="3699">
              <a:solidFill>
                <a:srgbClr val="000000"/>
              </a:solidFill>
              <a:latin typeface="Times New Roman"/>
            </a:endParaRPr>
          </a:p>
          <a:p>
            <a:pPr algn="just">
              <a:lnSpc>
                <a:spcPts val="4439"/>
              </a:lnSpc>
            </a:pPr>
            <a:r>
              <a:rPr lang="en-US" sz="3699">
                <a:solidFill>
                  <a:srgbClr val="000000"/>
                </a:solidFill>
                <a:latin typeface="Times New Roman"/>
              </a:rPr>
              <a:t>The </a:t>
            </a:r>
            <a:r>
              <a:rPr lang="en-US" sz="3699">
                <a:solidFill>
                  <a:srgbClr val="000000"/>
                </a:solidFill>
                <a:latin typeface="Times New Roman Bold"/>
              </a:rPr>
              <a:t>lack of energy</a:t>
            </a:r>
            <a:r>
              <a:rPr lang="en-US" sz="3699">
                <a:solidFill>
                  <a:srgbClr val="000000"/>
                </a:solidFill>
                <a:latin typeface="Times New Roman"/>
              </a:rPr>
              <a:t> data analysis hinders </a:t>
            </a:r>
            <a:r>
              <a:rPr lang="en-US" sz="3699">
                <a:solidFill>
                  <a:srgbClr val="000000"/>
                </a:solidFill>
                <a:latin typeface="Times New Roman Bold"/>
              </a:rPr>
              <a:t>identifying trends</a:t>
            </a:r>
            <a:r>
              <a:rPr lang="en-US" sz="3699">
                <a:solidFill>
                  <a:srgbClr val="000000"/>
                </a:solidFill>
                <a:latin typeface="Times New Roman"/>
              </a:rPr>
              <a:t>, patterns in energy use and </a:t>
            </a:r>
            <a:r>
              <a:rPr lang="en-US" sz="3699">
                <a:solidFill>
                  <a:srgbClr val="000000"/>
                </a:solidFill>
                <a:latin typeface="Times New Roman Bold"/>
              </a:rPr>
              <a:t>preventing waste.</a:t>
            </a:r>
          </a:p>
          <a:p>
            <a:pPr algn="just">
              <a:lnSpc>
                <a:spcPts val="4439"/>
              </a:lnSpc>
            </a:pPr>
            <a:endParaRPr lang="en-US" sz="3699">
              <a:solidFill>
                <a:srgbClr val="000000"/>
              </a:solidFill>
              <a:latin typeface="Times New Roman Bold"/>
            </a:endParaRPr>
          </a:p>
          <a:p>
            <a:pPr algn="just">
              <a:lnSpc>
                <a:spcPts val="4439"/>
              </a:lnSpc>
            </a:pPr>
            <a:endParaRPr lang="en-US" sz="3699">
              <a:solidFill>
                <a:srgbClr val="000000"/>
              </a:solidFill>
              <a:latin typeface="Times New Roman Bold"/>
            </a:endParaRPr>
          </a:p>
          <a:p>
            <a:pPr algn="just">
              <a:lnSpc>
                <a:spcPts val="4439"/>
              </a:lnSpc>
            </a:pPr>
            <a:endParaRPr lang="en-US" sz="3699">
              <a:solidFill>
                <a:srgbClr val="000000"/>
              </a:solidFill>
              <a:latin typeface="Times New Roman Bold"/>
            </a:endParaRPr>
          </a:p>
        </p:txBody>
      </p:sp>
      <p:sp>
        <p:nvSpPr>
          <p:cNvPr id="9" name="TextBox 9"/>
          <p:cNvSpPr txBox="1"/>
          <p:nvPr/>
        </p:nvSpPr>
        <p:spPr>
          <a:xfrm>
            <a:off x="9144000" y="6633307"/>
            <a:ext cx="9652671" cy="3190875"/>
          </a:xfrm>
          <a:prstGeom prst="rect">
            <a:avLst/>
          </a:prstGeom>
        </p:spPr>
        <p:txBody>
          <a:bodyPr lIns="0" tIns="0" rIns="0" bIns="0" rtlCol="0" anchor="t">
            <a:spAutoFit/>
          </a:bodyPr>
          <a:lstStyle/>
          <a:p>
            <a:pPr marL="837623" lvl="1" indent="-418812" algn="just">
              <a:lnSpc>
                <a:spcPts val="4655"/>
              </a:lnSpc>
              <a:buFont typeface="Arial"/>
              <a:buChar char="•"/>
            </a:pPr>
            <a:r>
              <a:rPr lang="en-US" sz="3879">
                <a:solidFill>
                  <a:srgbClr val="000000"/>
                </a:solidFill>
                <a:latin typeface="Times New Roman Bold"/>
              </a:rPr>
              <a:t>Human</a:t>
            </a:r>
          </a:p>
          <a:p>
            <a:pPr algn="l">
              <a:lnSpc>
                <a:spcPts val="4025"/>
              </a:lnSpc>
            </a:pPr>
            <a:r>
              <a:rPr lang="en-US" sz="3354">
                <a:solidFill>
                  <a:srgbClr val="000000"/>
                </a:solidFill>
                <a:latin typeface="Times New Roman"/>
              </a:rPr>
              <a:t>Hotel staff </a:t>
            </a:r>
            <a:r>
              <a:rPr lang="en-US" sz="3354">
                <a:solidFill>
                  <a:srgbClr val="000000"/>
                </a:solidFill>
                <a:latin typeface="Times New Roman Bold"/>
              </a:rPr>
              <a:t>have not been trained on </a:t>
            </a:r>
            <a:r>
              <a:rPr lang="en-US" sz="3354">
                <a:solidFill>
                  <a:srgbClr val="000000"/>
                </a:solidFill>
                <a:latin typeface="Times New Roman"/>
              </a:rPr>
              <a:t>efficient energy use methods -&gt; </a:t>
            </a:r>
            <a:r>
              <a:rPr lang="en-US" sz="3354">
                <a:solidFill>
                  <a:srgbClr val="000000"/>
                </a:solidFill>
                <a:latin typeface="Times New Roman Bold"/>
              </a:rPr>
              <a:t>ineffective energy </a:t>
            </a:r>
            <a:r>
              <a:rPr lang="en-US" sz="3354">
                <a:solidFill>
                  <a:srgbClr val="000000"/>
                </a:solidFill>
                <a:latin typeface="Times New Roman"/>
              </a:rPr>
              <a:t>use causes waste. </a:t>
            </a:r>
          </a:p>
          <a:p>
            <a:pPr algn="l">
              <a:lnSpc>
                <a:spcPts val="4025"/>
              </a:lnSpc>
            </a:pPr>
            <a:endParaRPr lang="en-US" sz="3354">
              <a:solidFill>
                <a:srgbClr val="000000"/>
              </a:solidFill>
              <a:latin typeface="Times New Roman"/>
            </a:endParaRPr>
          </a:p>
          <a:p>
            <a:pPr algn="l">
              <a:lnSpc>
                <a:spcPts val="4025"/>
              </a:lnSpc>
            </a:pPr>
            <a:r>
              <a:rPr lang="en-US" sz="3354">
                <a:solidFill>
                  <a:srgbClr val="000000"/>
                </a:solidFill>
                <a:latin typeface="Times New Roman"/>
              </a:rPr>
              <a:t>Employees and departments </a:t>
            </a:r>
            <a:r>
              <a:rPr lang="en-US" sz="3354">
                <a:solidFill>
                  <a:srgbClr val="000000"/>
                </a:solidFill>
                <a:latin typeface="Times New Roman Bold"/>
              </a:rPr>
              <a:t>do not communicate</a:t>
            </a:r>
            <a:r>
              <a:rPr lang="en-US" sz="3354">
                <a:solidFill>
                  <a:srgbClr val="000000"/>
                </a:solidFill>
                <a:latin typeface="Times New Roman"/>
              </a:rPr>
              <a:t>, l</a:t>
            </a:r>
            <a:r>
              <a:rPr lang="en-US" sz="3354">
                <a:solidFill>
                  <a:srgbClr val="000000"/>
                </a:solidFill>
                <a:latin typeface="Times New Roman Bold"/>
              </a:rPr>
              <a:t>eading to </a:t>
            </a:r>
            <a:r>
              <a:rPr lang="en-US" sz="3354">
                <a:solidFill>
                  <a:srgbClr val="000000"/>
                </a:solidFill>
                <a:latin typeface="Times New Roman"/>
              </a:rPr>
              <a:t>a lack of </a:t>
            </a:r>
            <a:r>
              <a:rPr lang="en-US" sz="3354">
                <a:solidFill>
                  <a:srgbClr val="000000"/>
                </a:solidFill>
                <a:latin typeface="Times New Roman Bold"/>
              </a:rPr>
              <a:t>coordination </a:t>
            </a:r>
            <a:r>
              <a:rPr lang="en-US" sz="3354">
                <a:solidFill>
                  <a:srgbClr val="000000"/>
                </a:solidFill>
                <a:latin typeface="Times New Roman"/>
              </a:rPr>
              <a:t>in energy saving.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9808821" cy="10768050"/>
          </a:xfrm>
          <a:prstGeom prst="rect">
            <a:avLst/>
          </a:prstGeom>
          <a:solidFill>
            <a:srgbClr val="FFDFE1"/>
          </a:solidFill>
        </p:spPr>
        <p:txBody>
          <a:bodyPr/>
          <a:lstStyle/>
          <a:p>
            <a:endParaRPr lang="en-US"/>
          </a:p>
        </p:txBody>
      </p:sp>
      <p:sp>
        <p:nvSpPr>
          <p:cNvPr id="3" name="Freeform 3"/>
          <p:cNvSpPr/>
          <p:nvPr/>
        </p:nvSpPr>
        <p:spPr>
          <a:xfrm>
            <a:off x="352901" y="331541"/>
            <a:ext cx="2543878" cy="1394317"/>
          </a:xfrm>
          <a:custGeom>
            <a:avLst/>
            <a:gdLst/>
            <a:ahLst/>
            <a:cxnLst/>
            <a:rect l="l" t="t" r="r" b="b"/>
            <a:pathLst>
              <a:path w="2543878" h="1394317">
                <a:moveTo>
                  <a:pt x="0" y="0"/>
                </a:moveTo>
                <a:lnTo>
                  <a:pt x="2543878" y="0"/>
                </a:lnTo>
                <a:lnTo>
                  <a:pt x="2543878" y="1394318"/>
                </a:lnTo>
                <a:lnTo>
                  <a:pt x="0" y="1394318"/>
                </a:lnTo>
                <a:lnTo>
                  <a:pt x="0" y="0"/>
                </a:lnTo>
                <a:close/>
              </a:path>
            </a:pathLst>
          </a:custGeom>
          <a:blipFill>
            <a:blip r:embed="rId2"/>
            <a:stretch>
              <a:fillRect t="-993" r="-757" b="-993"/>
            </a:stretch>
          </a:blipFill>
        </p:spPr>
        <p:txBody>
          <a:bodyPr/>
          <a:lstStyle/>
          <a:p>
            <a:endParaRPr lang="en-US"/>
          </a:p>
        </p:txBody>
      </p:sp>
      <p:sp>
        <p:nvSpPr>
          <p:cNvPr id="4" name="Freeform 4"/>
          <p:cNvSpPr/>
          <p:nvPr/>
        </p:nvSpPr>
        <p:spPr>
          <a:xfrm rot="9057026">
            <a:off x="-1974045" y="2852680"/>
            <a:ext cx="22236090" cy="5153216"/>
          </a:xfrm>
          <a:custGeom>
            <a:avLst/>
            <a:gdLst/>
            <a:ahLst/>
            <a:cxnLst/>
            <a:rect l="l" t="t" r="r" b="b"/>
            <a:pathLst>
              <a:path w="22236090" h="5153216">
                <a:moveTo>
                  <a:pt x="0" y="0"/>
                </a:moveTo>
                <a:lnTo>
                  <a:pt x="22236090" y="0"/>
                </a:lnTo>
                <a:lnTo>
                  <a:pt x="22236090" y="5153215"/>
                </a:lnTo>
                <a:lnTo>
                  <a:pt x="0" y="5153215"/>
                </a:lnTo>
                <a:lnTo>
                  <a:pt x="0" y="0"/>
                </a:lnTo>
                <a:close/>
              </a:path>
            </a:pathLst>
          </a:custGeom>
          <a:blipFill>
            <a:blip r:embed="rId3"/>
            <a:stretch>
              <a:fillRect t="-18500" b="-18500"/>
            </a:stretch>
          </a:blipFill>
        </p:spPr>
        <p:txBody>
          <a:bodyPr/>
          <a:lstStyle/>
          <a:p>
            <a:endParaRPr lang="en-US"/>
          </a:p>
        </p:txBody>
      </p:sp>
      <p:sp>
        <p:nvSpPr>
          <p:cNvPr id="5" name="Freeform 5"/>
          <p:cNvSpPr/>
          <p:nvPr/>
        </p:nvSpPr>
        <p:spPr>
          <a:xfrm>
            <a:off x="5371758" y="-2483292"/>
            <a:ext cx="9614203" cy="21321822"/>
          </a:xfrm>
          <a:custGeom>
            <a:avLst/>
            <a:gdLst/>
            <a:ahLst/>
            <a:cxnLst/>
            <a:rect l="l" t="t" r="r" b="b"/>
            <a:pathLst>
              <a:path w="9614203" h="21321822">
                <a:moveTo>
                  <a:pt x="0" y="0"/>
                </a:moveTo>
                <a:lnTo>
                  <a:pt x="9614203" y="0"/>
                </a:lnTo>
                <a:lnTo>
                  <a:pt x="9614203" y="21321822"/>
                </a:lnTo>
                <a:lnTo>
                  <a:pt x="0" y="21321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p:cNvSpPr txBox="1"/>
          <p:nvPr/>
        </p:nvSpPr>
        <p:spPr>
          <a:xfrm>
            <a:off x="660026" y="1912012"/>
            <a:ext cx="5444863" cy="6819900"/>
          </a:xfrm>
          <a:prstGeom prst="rect">
            <a:avLst/>
          </a:prstGeom>
        </p:spPr>
        <p:txBody>
          <a:bodyPr lIns="0" tIns="0" rIns="0" bIns="0" rtlCol="0" anchor="t">
            <a:spAutoFit/>
          </a:bodyPr>
          <a:lstStyle/>
          <a:p>
            <a:pPr marL="798007" lvl="1" indent="-399003" algn="just">
              <a:lnSpc>
                <a:spcPts val="4435"/>
              </a:lnSpc>
              <a:buFont typeface="Arial"/>
              <a:buChar char="•"/>
            </a:pPr>
            <a:r>
              <a:rPr lang="en-US" sz="3696">
                <a:solidFill>
                  <a:srgbClr val="000000"/>
                </a:solidFill>
                <a:latin typeface="Times New Roman Bold"/>
              </a:rPr>
              <a:t>Process: </a:t>
            </a:r>
          </a:p>
          <a:p>
            <a:pPr algn="just">
              <a:lnSpc>
                <a:spcPts val="4435"/>
              </a:lnSpc>
            </a:pPr>
            <a:r>
              <a:rPr lang="en-US" sz="3696">
                <a:solidFill>
                  <a:srgbClr val="000000"/>
                </a:solidFill>
                <a:latin typeface="Times New Roman"/>
              </a:rPr>
              <a:t>The hotel's </a:t>
            </a:r>
            <a:r>
              <a:rPr lang="en-US" sz="3696">
                <a:solidFill>
                  <a:srgbClr val="000000"/>
                </a:solidFill>
                <a:latin typeface="Times New Roman Bold"/>
              </a:rPr>
              <a:t>electrical system</a:t>
            </a:r>
            <a:r>
              <a:rPr lang="en-US" sz="3696">
                <a:solidFill>
                  <a:srgbClr val="000000"/>
                </a:solidFill>
                <a:latin typeface="Times New Roman"/>
              </a:rPr>
              <a:t> is not properly maintained, </a:t>
            </a:r>
            <a:r>
              <a:rPr lang="en-US" sz="3696">
                <a:solidFill>
                  <a:srgbClr val="000000"/>
                </a:solidFill>
                <a:latin typeface="Times New Roman Bold"/>
              </a:rPr>
              <a:t>leading to</a:t>
            </a:r>
            <a:r>
              <a:rPr lang="en-US" sz="3696">
                <a:solidFill>
                  <a:srgbClr val="000000"/>
                </a:solidFill>
                <a:latin typeface="Times New Roman"/>
              </a:rPr>
              <a:t> equipment damage and energy waste. </a:t>
            </a:r>
          </a:p>
          <a:p>
            <a:pPr algn="just">
              <a:lnSpc>
                <a:spcPts val="4435"/>
              </a:lnSpc>
            </a:pPr>
            <a:endParaRPr lang="en-US" sz="3696">
              <a:solidFill>
                <a:srgbClr val="000000"/>
              </a:solidFill>
              <a:latin typeface="Times New Roman"/>
            </a:endParaRPr>
          </a:p>
          <a:p>
            <a:pPr algn="just">
              <a:lnSpc>
                <a:spcPts val="4435"/>
              </a:lnSpc>
            </a:pPr>
            <a:r>
              <a:rPr lang="en-US" sz="3696">
                <a:solidFill>
                  <a:srgbClr val="000000"/>
                </a:solidFill>
                <a:latin typeface="Times New Roman"/>
              </a:rPr>
              <a:t>Guest energy</a:t>
            </a:r>
            <a:r>
              <a:rPr lang="en-US" sz="3696">
                <a:solidFill>
                  <a:srgbClr val="000000"/>
                </a:solidFill>
                <a:latin typeface="Times New Roman Bold"/>
              </a:rPr>
              <a:t> usage</a:t>
            </a:r>
            <a:r>
              <a:rPr lang="en-US" sz="3696">
                <a:solidFill>
                  <a:srgbClr val="000000"/>
                </a:solidFill>
                <a:latin typeface="Times New Roman"/>
              </a:rPr>
              <a:t> patterns are </a:t>
            </a:r>
            <a:r>
              <a:rPr lang="en-US" sz="3696">
                <a:solidFill>
                  <a:srgbClr val="000000"/>
                </a:solidFill>
                <a:latin typeface="Times New Roman Bold"/>
              </a:rPr>
              <a:t>not optimized</a:t>
            </a:r>
            <a:r>
              <a:rPr lang="en-US" sz="3696">
                <a:solidFill>
                  <a:srgbClr val="000000"/>
                </a:solidFill>
                <a:latin typeface="Times New Roman"/>
              </a:rPr>
              <a:t>, </a:t>
            </a:r>
            <a:r>
              <a:rPr lang="en-US" sz="3696">
                <a:solidFill>
                  <a:srgbClr val="000000"/>
                </a:solidFill>
                <a:latin typeface="Times New Roman Bold"/>
              </a:rPr>
              <a:t>leading to</a:t>
            </a:r>
            <a:r>
              <a:rPr lang="en-US" sz="3696">
                <a:solidFill>
                  <a:srgbClr val="000000"/>
                </a:solidFill>
                <a:latin typeface="Times New Roman"/>
              </a:rPr>
              <a:t> energy waste and high energy bills.</a:t>
            </a:r>
          </a:p>
          <a:p>
            <a:pPr algn="just">
              <a:lnSpc>
                <a:spcPts val="4435"/>
              </a:lnSpc>
            </a:pPr>
            <a:endParaRPr lang="en-US" sz="3696">
              <a:solidFill>
                <a:srgbClr val="000000"/>
              </a:solidFill>
              <a:latin typeface="Times New Roman"/>
            </a:endParaRPr>
          </a:p>
        </p:txBody>
      </p:sp>
      <p:sp>
        <p:nvSpPr>
          <p:cNvPr id="7" name="TextBox 7"/>
          <p:cNvSpPr txBox="1"/>
          <p:nvPr/>
        </p:nvSpPr>
        <p:spPr>
          <a:xfrm rot="-1930259">
            <a:off x="7306283" y="2273897"/>
            <a:ext cx="6710598" cy="1162050"/>
          </a:xfrm>
          <a:prstGeom prst="rect">
            <a:avLst/>
          </a:prstGeom>
        </p:spPr>
        <p:txBody>
          <a:bodyPr lIns="0" tIns="0" rIns="0" bIns="0" rtlCol="0" anchor="t">
            <a:spAutoFit/>
          </a:bodyPr>
          <a:lstStyle/>
          <a:p>
            <a:pPr algn="l">
              <a:lnSpc>
                <a:spcPts val="8159"/>
              </a:lnSpc>
            </a:pPr>
            <a:r>
              <a:rPr lang="en-US" sz="6799">
                <a:solidFill>
                  <a:srgbClr val="FF5660"/>
                </a:solidFill>
                <a:latin typeface="Times New Roman Bold Italics"/>
              </a:rPr>
              <a:t>INDUCEMENT</a:t>
            </a:r>
          </a:p>
        </p:txBody>
      </p:sp>
      <p:sp>
        <p:nvSpPr>
          <p:cNvPr id="8" name="TextBox 8"/>
          <p:cNvSpPr txBox="1"/>
          <p:nvPr/>
        </p:nvSpPr>
        <p:spPr>
          <a:xfrm>
            <a:off x="12041507" y="6126824"/>
            <a:ext cx="5888909" cy="5133975"/>
          </a:xfrm>
          <a:prstGeom prst="rect">
            <a:avLst/>
          </a:prstGeom>
        </p:spPr>
        <p:txBody>
          <a:bodyPr lIns="0" tIns="0" rIns="0" bIns="0" rtlCol="0" anchor="t">
            <a:spAutoFit/>
          </a:bodyPr>
          <a:lstStyle/>
          <a:p>
            <a:pPr marL="798829" lvl="1" indent="-399415" algn="just">
              <a:lnSpc>
                <a:spcPts val="4439"/>
              </a:lnSpc>
              <a:buFont typeface="Arial"/>
              <a:buChar char="•"/>
            </a:pPr>
            <a:r>
              <a:rPr lang="en-US" sz="3699">
                <a:solidFill>
                  <a:srgbClr val="000000"/>
                </a:solidFill>
                <a:latin typeface="Times New Roman Bold"/>
              </a:rPr>
              <a:t>Software: </a:t>
            </a:r>
          </a:p>
          <a:p>
            <a:pPr algn="just">
              <a:lnSpc>
                <a:spcPts val="4439"/>
              </a:lnSpc>
            </a:pPr>
            <a:r>
              <a:rPr lang="en-US" sz="3699">
                <a:solidFill>
                  <a:srgbClr val="000000"/>
                </a:solidFill>
                <a:latin typeface="Times New Roman"/>
              </a:rPr>
              <a:t>The hotel's </a:t>
            </a:r>
            <a:r>
              <a:rPr lang="en-US" sz="3699">
                <a:solidFill>
                  <a:srgbClr val="000000"/>
                </a:solidFill>
                <a:latin typeface="Times New Roman Bold"/>
              </a:rPr>
              <a:t>energy system</a:t>
            </a:r>
            <a:r>
              <a:rPr lang="en-US" sz="3699">
                <a:solidFill>
                  <a:srgbClr val="000000"/>
                </a:solidFill>
                <a:latin typeface="Times New Roman"/>
              </a:rPr>
              <a:t> is based </a:t>
            </a:r>
          </a:p>
          <a:p>
            <a:pPr algn="just">
              <a:lnSpc>
                <a:spcPts val="4439"/>
              </a:lnSpc>
            </a:pPr>
            <a:r>
              <a:rPr lang="en-US" sz="3699">
                <a:solidFill>
                  <a:srgbClr val="000000"/>
                </a:solidFill>
                <a:latin typeface="Times New Roman"/>
              </a:rPr>
              <a:t>on </a:t>
            </a:r>
            <a:r>
              <a:rPr lang="en-US" sz="3699">
                <a:solidFill>
                  <a:srgbClr val="000000"/>
                </a:solidFill>
                <a:latin typeface="Times New Roman Bold"/>
              </a:rPr>
              <a:t>outdated equipment</a:t>
            </a:r>
            <a:r>
              <a:rPr lang="en-US" sz="3699">
                <a:solidFill>
                  <a:srgbClr val="000000"/>
                </a:solidFill>
                <a:latin typeface="Times New Roman"/>
              </a:rPr>
              <a:t> and</a:t>
            </a:r>
            <a:r>
              <a:rPr lang="en-US" sz="3699">
                <a:solidFill>
                  <a:srgbClr val="000000"/>
                </a:solidFill>
                <a:latin typeface="Times New Roman Bold"/>
              </a:rPr>
              <a:t> technology, operates inefficiently</a:t>
            </a:r>
            <a:r>
              <a:rPr lang="en-US" sz="3699">
                <a:solidFill>
                  <a:srgbClr val="000000"/>
                </a:solidFill>
                <a:latin typeface="Times New Roman"/>
              </a:rPr>
              <a:t>, and is prone to incidents.</a:t>
            </a:r>
          </a:p>
          <a:p>
            <a:pPr algn="just">
              <a:lnSpc>
                <a:spcPts val="4439"/>
              </a:lnSpc>
            </a:pPr>
            <a:endParaRPr lang="en-US" sz="3699">
              <a:solidFill>
                <a:srgbClr val="000000"/>
              </a:solidFill>
              <a:latin typeface="Times New Roman"/>
            </a:endParaRPr>
          </a:p>
          <a:p>
            <a:pPr algn="just">
              <a:lnSpc>
                <a:spcPts val="4439"/>
              </a:lnSpc>
            </a:pPr>
            <a:endParaRPr lang="en-US" sz="3699">
              <a:solidFill>
                <a:srgbClr val="000000"/>
              </a:solidFill>
              <a:latin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169500" y="1625556"/>
            <a:ext cx="7089800" cy="7089800"/>
            <a:chOff x="0" y="0"/>
            <a:chExt cx="6350000" cy="6350000"/>
          </a:xfrm>
        </p:grpSpPr>
        <p:sp>
          <p:nvSpPr>
            <p:cNvPr id="3" name="Freeform 3"/>
            <p:cNvSpPr/>
            <p:nvPr/>
          </p:nvSpPr>
          <p:spPr>
            <a:xfrm>
              <a:off x="37846" y="116586"/>
              <a:ext cx="6274308" cy="6116828"/>
            </a:xfrm>
            <a:custGeom>
              <a:avLst/>
              <a:gdLst/>
              <a:ahLst/>
              <a:cxnLst/>
              <a:rect l="l" t="t" r="r" b="b"/>
              <a:pathLst>
                <a:path w="6274308" h="6116828">
                  <a:moveTo>
                    <a:pt x="3137154" y="0"/>
                  </a:moveTo>
                  <a:lnTo>
                    <a:pt x="621411" y="1211453"/>
                  </a:lnTo>
                  <a:lnTo>
                    <a:pt x="0" y="3933825"/>
                  </a:lnTo>
                  <a:lnTo>
                    <a:pt x="1741043" y="6116828"/>
                  </a:lnTo>
                  <a:lnTo>
                    <a:pt x="4533265" y="6116828"/>
                  </a:lnTo>
                  <a:lnTo>
                    <a:pt x="6274308" y="3933825"/>
                  </a:lnTo>
                  <a:lnTo>
                    <a:pt x="5652897" y="1211453"/>
                  </a:lnTo>
                  <a:close/>
                </a:path>
              </a:pathLst>
            </a:custGeom>
            <a:blipFill>
              <a:blip r:embed="rId2"/>
              <a:stretch>
                <a:fillRect t="-1766" b="-1766"/>
              </a:stretch>
            </a:blipFill>
          </p:spPr>
          <p:txBody>
            <a:bodyPr/>
            <a:lstStyle/>
            <a:p>
              <a:endParaRPr lang="en-US"/>
            </a:p>
          </p:txBody>
        </p:sp>
      </p:grpSp>
      <p:grpSp>
        <p:nvGrpSpPr>
          <p:cNvPr id="4" name="Group 4"/>
          <p:cNvGrpSpPr/>
          <p:nvPr/>
        </p:nvGrpSpPr>
        <p:grpSpPr>
          <a:xfrm rot="-10800000">
            <a:off x="-297514" y="0"/>
            <a:ext cx="18585514" cy="1856795"/>
            <a:chOff x="0" y="0"/>
            <a:chExt cx="63458378" cy="6339840"/>
          </a:xfrm>
        </p:grpSpPr>
        <p:sp>
          <p:nvSpPr>
            <p:cNvPr id="5" name="Freeform 5"/>
            <p:cNvSpPr/>
            <p:nvPr/>
          </p:nvSpPr>
          <p:spPr>
            <a:xfrm>
              <a:off x="0" y="0"/>
              <a:ext cx="63458378" cy="6339840"/>
            </a:xfrm>
            <a:custGeom>
              <a:avLst/>
              <a:gdLst/>
              <a:ahLst/>
              <a:cxnLst/>
              <a:rect l="l" t="t" r="r" b="b"/>
              <a:pathLst>
                <a:path w="63458378" h="6339840">
                  <a:moveTo>
                    <a:pt x="63458378" y="6339840"/>
                  </a:moveTo>
                  <a:lnTo>
                    <a:pt x="0" y="6339840"/>
                  </a:lnTo>
                  <a:lnTo>
                    <a:pt x="0" y="0"/>
                  </a:lnTo>
                  <a:lnTo>
                    <a:pt x="63458378" y="6339840"/>
                  </a:lnTo>
                  <a:close/>
                </a:path>
              </a:pathLst>
            </a:custGeom>
            <a:solidFill>
              <a:srgbClr val="FFC7C7"/>
            </a:solidFill>
          </p:spPr>
          <p:txBody>
            <a:bodyPr/>
            <a:lstStyle/>
            <a:p>
              <a:endParaRPr lang="en-US"/>
            </a:p>
          </p:txBody>
        </p:sp>
      </p:grpSp>
      <p:grpSp>
        <p:nvGrpSpPr>
          <p:cNvPr id="6" name="Group 6"/>
          <p:cNvGrpSpPr/>
          <p:nvPr/>
        </p:nvGrpSpPr>
        <p:grpSpPr>
          <a:xfrm>
            <a:off x="0" y="8430205"/>
            <a:ext cx="18288000" cy="1856795"/>
            <a:chOff x="0" y="0"/>
            <a:chExt cx="62442547" cy="6339840"/>
          </a:xfrm>
        </p:grpSpPr>
        <p:sp>
          <p:nvSpPr>
            <p:cNvPr id="7" name="Freeform 7"/>
            <p:cNvSpPr/>
            <p:nvPr/>
          </p:nvSpPr>
          <p:spPr>
            <a:xfrm>
              <a:off x="0" y="0"/>
              <a:ext cx="62442545" cy="6339840"/>
            </a:xfrm>
            <a:custGeom>
              <a:avLst/>
              <a:gdLst/>
              <a:ahLst/>
              <a:cxnLst/>
              <a:rect l="l" t="t" r="r" b="b"/>
              <a:pathLst>
                <a:path w="62442545" h="6339840">
                  <a:moveTo>
                    <a:pt x="62442545" y="6339840"/>
                  </a:moveTo>
                  <a:lnTo>
                    <a:pt x="0" y="6339840"/>
                  </a:lnTo>
                  <a:lnTo>
                    <a:pt x="0" y="0"/>
                  </a:lnTo>
                  <a:lnTo>
                    <a:pt x="62442545" y="6339840"/>
                  </a:lnTo>
                  <a:close/>
                </a:path>
              </a:pathLst>
            </a:custGeom>
            <a:solidFill>
              <a:srgbClr val="FFC7C7"/>
            </a:solidFill>
          </p:spPr>
          <p:txBody>
            <a:bodyPr/>
            <a:lstStyle/>
            <a:p>
              <a:endParaRPr lang="en-US"/>
            </a:p>
          </p:txBody>
        </p:sp>
      </p:grpSp>
      <p:sp>
        <p:nvSpPr>
          <p:cNvPr id="8" name="Freeform 8"/>
          <p:cNvSpPr/>
          <p:nvPr/>
        </p:nvSpPr>
        <p:spPr>
          <a:xfrm>
            <a:off x="259027" y="463058"/>
            <a:ext cx="2543878" cy="1394317"/>
          </a:xfrm>
          <a:custGeom>
            <a:avLst/>
            <a:gdLst/>
            <a:ahLst/>
            <a:cxnLst/>
            <a:rect l="l" t="t" r="r" b="b"/>
            <a:pathLst>
              <a:path w="2543878" h="1394317">
                <a:moveTo>
                  <a:pt x="0" y="0"/>
                </a:moveTo>
                <a:lnTo>
                  <a:pt x="2543878" y="0"/>
                </a:lnTo>
                <a:lnTo>
                  <a:pt x="2543878" y="1394317"/>
                </a:lnTo>
                <a:lnTo>
                  <a:pt x="0" y="1394317"/>
                </a:lnTo>
                <a:lnTo>
                  <a:pt x="0" y="0"/>
                </a:lnTo>
                <a:close/>
              </a:path>
            </a:pathLst>
          </a:custGeom>
          <a:blipFill>
            <a:blip r:embed="rId3"/>
            <a:stretch>
              <a:fillRect t="-993" r="-757" b="-993"/>
            </a:stretch>
          </a:blipFill>
        </p:spPr>
        <p:txBody>
          <a:bodyPr/>
          <a:lstStyle/>
          <a:p>
            <a:endParaRPr lang="en-US"/>
          </a:p>
        </p:txBody>
      </p:sp>
      <p:sp>
        <p:nvSpPr>
          <p:cNvPr id="9" name="TextBox 9"/>
          <p:cNvSpPr txBox="1"/>
          <p:nvPr/>
        </p:nvSpPr>
        <p:spPr>
          <a:xfrm>
            <a:off x="759240" y="3762375"/>
            <a:ext cx="8384760" cy="2600325"/>
          </a:xfrm>
          <a:prstGeom prst="rect">
            <a:avLst/>
          </a:prstGeom>
        </p:spPr>
        <p:txBody>
          <a:bodyPr lIns="0" tIns="0" rIns="0" bIns="0" rtlCol="0" anchor="t">
            <a:spAutoFit/>
          </a:bodyPr>
          <a:lstStyle/>
          <a:p>
            <a:pPr algn="l">
              <a:lnSpc>
                <a:spcPts val="9600"/>
              </a:lnSpc>
            </a:pPr>
            <a:r>
              <a:rPr lang="en-US" sz="8000">
                <a:solidFill>
                  <a:srgbClr val="000000"/>
                </a:solidFill>
                <a:latin typeface="Times New Roman Bold"/>
              </a:rPr>
              <a:t>PROPSAL OF </a:t>
            </a:r>
          </a:p>
          <a:p>
            <a:pPr algn="l">
              <a:lnSpc>
                <a:spcPts val="9600"/>
              </a:lnSpc>
            </a:pPr>
            <a:r>
              <a:rPr lang="en-US" sz="8000">
                <a:solidFill>
                  <a:srgbClr val="000000"/>
                </a:solidFill>
                <a:latin typeface="Times New Roman Bold"/>
              </a:rPr>
              <a:t>A NEW SYSTEM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62187" y="0"/>
            <a:ext cx="19526906" cy="19526906"/>
          </a:xfrm>
          <a:custGeom>
            <a:avLst/>
            <a:gdLst/>
            <a:ahLst/>
            <a:cxnLst/>
            <a:rect l="l" t="t" r="r" b="b"/>
            <a:pathLst>
              <a:path w="19526906" h="19526906">
                <a:moveTo>
                  <a:pt x="0" y="0"/>
                </a:moveTo>
                <a:lnTo>
                  <a:pt x="19526907" y="0"/>
                </a:lnTo>
                <a:lnTo>
                  <a:pt x="19526907" y="19526906"/>
                </a:lnTo>
                <a:lnTo>
                  <a:pt x="0" y="195269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588243" y="2123887"/>
            <a:ext cx="15426046" cy="7639566"/>
          </a:xfrm>
          <a:custGeom>
            <a:avLst/>
            <a:gdLst/>
            <a:ahLst/>
            <a:cxnLst/>
            <a:rect l="l" t="t" r="r" b="b"/>
            <a:pathLst>
              <a:path w="15426046" h="7639566">
                <a:moveTo>
                  <a:pt x="0" y="0"/>
                </a:moveTo>
                <a:lnTo>
                  <a:pt x="15426047" y="0"/>
                </a:lnTo>
                <a:lnTo>
                  <a:pt x="15426047" y="7639566"/>
                </a:lnTo>
                <a:lnTo>
                  <a:pt x="0" y="7639566"/>
                </a:lnTo>
                <a:lnTo>
                  <a:pt x="0" y="0"/>
                </a:lnTo>
                <a:close/>
              </a:path>
            </a:pathLst>
          </a:custGeom>
          <a:blipFill>
            <a:blip r:embed="rId4"/>
            <a:stretch>
              <a:fillRect/>
            </a:stretch>
          </a:blipFill>
        </p:spPr>
        <p:txBody>
          <a:bodyPr/>
          <a:lstStyle/>
          <a:p>
            <a:endParaRPr lang="en-US"/>
          </a:p>
        </p:txBody>
      </p:sp>
      <p:sp>
        <p:nvSpPr>
          <p:cNvPr id="4" name="Freeform 4"/>
          <p:cNvSpPr/>
          <p:nvPr/>
        </p:nvSpPr>
        <p:spPr>
          <a:xfrm>
            <a:off x="0" y="-1"/>
            <a:ext cx="2209800" cy="1133287"/>
          </a:xfrm>
          <a:custGeom>
            <a:avLst/>
            <a:gdLst/>
            <a:ahLst/>
            <a:cxnLst/>
            <a:rect l="l" t="t" r="r" b="b"/>
            <a:pathLst>
              <a:path w="1876823" h="1028700">
                <a:moveTo>
                  <a:pt x="0" y="0"/>
                </a:moveTo>
                <a:lnTo>
                  <a:pt x="1876823" y="0"/>
                </a:lnTo>
                <a:lnTo>
                  <a:pt x="1876823" y="1028700"/>
                </a:lnTo>
                <a:lnTo>
                  <a:pt x="0" y="1028700"/>
                </a:lnTo>
                <a:lnTo>
                  <a:pt x="0" y="0"/>
                </a:lnTo>
                <a:close/>
              </a:path>
            </a:pathLst>
          </a:custGeom>
          <a:blipFill>
            <a:blip r:embed="rId5"/>
            <a:stretch>
              <a:fillRect t="-993" r="-757" b="-993"/>
            </a:stretch>
          </a:blipFill>
        </p:spPr>
        <p:txBody>
          <a:bodyPr/>
          <a:lstStyle/>
          <a:p>
            <a:endParaRPr lang="en-US"/>
          </a:p>
        </p:txBody>
      </p:sp>
      <p:sp>
        <p:nvSpPr>
          <p:cNvPr id="5" name="TextBox 5"/>
          <p:cNvSpPr txBox="1"/>
          <p:nvPr/>
        </p:nvSpPr>
        <p:spPr>
          <a:xfrm>
            <a:off x="1103989" y="1133287"/>
            <a:ext cx="16520841" cy="990600"/>
          </a:xfrm>
          <a:prstGeom prst="rect">
            <a:avLst/>
          </a:prstGeom>
        </p:spPr>
        <p:txBody>
          <a:bodyPr lIns="0" tIns="0" rIns="0" bIns="0" rtlCol="0" anchor="t">
            <a:spAutoFit/>
          </a:bodyPr>
          <a:lstStyle/>
          <a:p>
            <a:pPr algn="ctr">
              <a:lnSpc>
                <a:spcPts val="6930"/>
              </a:lnSpc>
            </a:pPr>
            <a:r>
              <a:rPr lang="en-US" sz="5775">
                <a:solidFill>
                  <a:srgbClr val="010101"/>
                </a:solidFill>
                <a:latin typeface="Times New Roman Bold"/>
              </a:rPr>
              <a:t>USE CASE DIAGRAMS: FIRE ALARM SYSTEM</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4610582" y="0"/>
            <a:ext cx="3677418" cy="10287000"/>
          </a:xfrm>
          <a:prstGeom prst="rect">
            <a:avLst/>
          </a:prstGeom>
          <a:solidFill>
            <a:srgbClr val="FFC7C7"/>
          </a:solidFill>
        </p:spPr>
        <p:txBody>
          <a:bodyPr/>
          <a:lstStyle/>
          <a:p>
            <a:endParaRPr lang="en-US"/>
          </a:p>
        </p:txBody>
      </p:sp>
      <p:sp>
        <p:nvSpPr>
          <p:cNvPr id="3" name="Freeform 3"/>
          <p:cNvSpPr/>
          <p:nvPr/>
        </p:nvSpPr>
        <p:spPr>
          <a:xfrm>
            <a:off x="3461474" y="514350"/>
            <a:ext cx="10568083" cy="9301602"/>
          </a:xfrm>
          <a:custGeom>
            <a:avLst/>
            <a:gdLst/>
            <a:ahLst/>
            <a:cxnLst/>
            <a:rect l="l" t="t" r="r" b="b"/>
            <a:pathLst>
              <a:path w="10568083" h="9301602">
                <a:moveTo>
                  <a:pt x="0" y="0"/>
                </a:moveTo>
                <a:lnTo>
                  <a:pt x="10568083" y="0"/>
                </a:lnTo>
                <a:lnTo>
                  <a:pt x="10568083" y="9301602"/>
                </a:lnTo>
                <a:lnTo>
                  <a:pt x="0" y="9301602"/>
                </a:lnTo>
                <a:lnTo>
                  <a:pt x="0" y="0"/>
                </a:lnTo>
                <a:close/>
              </a:path>
            </a:pathLst>
          </a:custGeom>
          <a:blipFill>
            <a:blip r:embed="rId2"/>
            <a:stretch>
              <a:fillRect l="-8641" t="-1371" r="-6350"/>
            </a:stretch>
          </a:blipFill>
        </p:spPr>
        <p:txBody>
          <a:bodyPr/>
          <a:lstStyle/>
          <a:p>
            <a:endParaRPr lang="en-US"/>
          </a:p>
        </p:txBody>
      </p:sp>
      <p:sp>
        <p:nvSpPr>
          <p:cNvPr id="4" name="Freeform 4"/>
          <p:cNvSpPr/>
          <p:nvPr/>
        </p:nvSpPr>
        <p:spPr>
          <a:xfrm>
            <a:off x="333035" y="331541"/>
            <a:ext cx="2543878" cy="1394317"/>
          </a:xfrm>
          <a:custGeom>
            <a:avLst/>
            <a:gdLst/>
            <a:ahLst/>
            <a:cxnLst/>
            <a:rect l="l" t="t" r="r" b="b"/>
            <a:pathLst>
              <a:path w="2543878" h="1394317">
                <a:moveTo>
                  <a:pt x="0" y="0"/>
                </a:moveTo>
                <a:lnTo>
                  <a:pt x="2543878" y="0"/>
                </a:lnTo>
                <a:lnTo>
                  <a:pt x="2543878" y="1394318"/>
                </a:lnTo>
                <a:lnTo>
                  <a:pt x="0" y="1394318"/>
                </a:lnTo>
                <a:lnTo>
                  <a:pt x="0" y="0"/>
                </a:lnTo>
                <a:close/>
              </a:path>
            </a:pathLst>
          </a:custGeom>
          <a:blipFill>
            <a:blip r:embed="rId3"/>
            <a:stretch>
              <a:fillRect t="-993" r="-757" b="-993"/>
            </a:stretch>
          </a:blipFill>
        </p:spPr>
        <p:txBody>
          <a:bodyPr/>
          <a:lstStyle/>
          <a:p>
            <a:endParaRPr lang="en-US"/>
          </a:p>
        </p:txBody>
      </p:sp>
      <p:sp>
        <p:nvSpPr>
          <p:cNvPr id="5" name="Freeform 5"/>
          <p:cNvSpPr/>
          <p:nvPr/>
        </p:nvSpPr>
        <p:spPr>
          <a:xfrm rot="-7980681">
            <a:off x="-1122195" y="8893106"/>
            <a:ext cx="3682181" cy="1845693"/>
          </a:xfrm>
          <a:custGeom>
            <a:avLst/>
            <a:gdLst/>
            <a:ahLst/>
            <a:cxnLst/>
            <a:rect l="l" t="t" r="r" b="b"/>
            <a:pathLst>
              <a:path w="3682181" h="1845693">
                <a:moveTo>
                  <a:pt x="0" y="0"/>
                </a:moveTo>
                <a:lnTo>
                  <a:pt x="3682181" y="0"/>
                </a:lnTo>
                <a:lnTo>
                  <a:pt x="3682181" y="1845693"/>
                </a:lnTo>
                <a:lnTo>
                  <a:pt x="0" y="18456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TextBox 6"/>
          <p:cNvSpPr txBox="1"/>
          <p:nvPr/>
        </p:nvSpPr>
        <p:spPr>
          <a:xfrm rot="5400000">
            <a:off x="11534170" y="4182463"/>
            <a:ext cx="10208329" cy="2248394"/>
          </a:xfrm>
          <a:prstGeom prst="rect">
            <a:avLst/>
          </a:prstGeom>
        </p:spPr>
        <p:txBody>
          <a:bodyPr lIns="0" tIns="0" rIns="0" bIns="0" rtlCol="0" anchor="t">
            <a:spAutoFit/>
          </a:bodyPr>
          <a:lstStyle/>
          <a:p>
            <a:pPr algn="ctr">
              <a:lnSpc>
                <a:spcPts val="8380"/>
              </a:lnSpc>
            </a:pPr>
            <a:r>
              <a:rPr lang="en-US" sz="6983">
                <a:solidFill>
                  <a:srgbClr val="000000"/>
                </a:solidFill>
                <a:latin typeface="Times New Roman Bold"/>
              </a:rPr>
              <a:t> USE CASE DIAGRAMS HOTEL WEBSITE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371544" y="331541"/>
            <a:ext cx="11667332" cy="9155614"/>
          </a:xfrm>
          <a:custGeom>
            <a:avLst/>
            <a:gdLst/>
            <a:ahLst/>
            <a:cxnLst/>
            <a:rect l="l" t="t" r="r" b="b"/>
            <a:pathLst>
              <a:path w="11667332" h="9155614">
                <a:moveTo>
                  <a:pt x="0" y="0"/>
                </a:moveTo>
                <a:lnTo>
                  <a:pt x="11667332" y="0"/>
                </a:lnTo>
                <a:lnTo>
                  <a:pt x="11667332" y="9155615"/>
                </a:lnTo>
                <a:lnTo>
                  <a:pt x="0" y="9155615"/>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0" y="-22860"/>
            <a:ext cx="8915400" cy="10943375"/>
            <a:chOff x="0" y="0"/>
            <a:chExt cx="2506095" cy="2882206"/>
          </a:xfrm>
        </p:grpSpPr>
        <p:sp>
          <p:nvSpPr>
            <p:cNvPr id="4" name="Freeform 4"/>
            <p:cNvSpPr/>
            <p:nvPr/>
          </p:nvSpPr>
          <p:spPr>
            <a:xfrm>
              <a:off x="0" y="0"/>
              <a:ext cx="2506095" cy="2882206"/>
            </a:xfrm>
            <a:custGeom>
              <a:avLst/>
              <a:gdLst/>
              <a:ahLst/>
              <a:cxnLst/>
              <a:rect l="l" t="t" r="r" b="b"/>
              <a:pathLst>
                <a:path w="2506095" h="2882206">
                  <a:moveTo>
                    <a:pt x="0" y="0"/>
                  </a:moveTo>
                  <a:lnTo>
                    <a:pt x="2506095" y="0"/>
                  </a:lnTo>
                  <a:lnTo>
                    <a:pt x="2506095" y="2882206"/>
                  </a:lnTo>
                  <a:lnTo>
                    <a:pt x="0" y="2882206"/>
                  </a:lnTo>
                  <a:close/>
                </a:path>
              </a:pathLst>
            </a:custGeom>
            <a:solidFill>
              <a:srgbClr val="FFC7C7"/>
            </a:solidFill>
          </p:spPr>
          <p:txBody>
            <a:bodyPr/>
            <a:lstStyle/>
            <a:p>
              <a:endParaRPr lang="en-US"/>
            </a:p>
          </p:txBody>
        </p:sp>
        <p:sp>
          <p:nvSpPr>
            <p:cNvPr id="5" name="TextBox 5"/>
            <p:cNvSpPr txBox="1"/>
            <p:nvPr/>
          </p:nvSpPr>
          <p:spPr>
            <a:xfrm>
              <a:off x="0" y="-47625"/>
              <a:ext cx="2506095" cy="2929831"/>
            </a:xfrm>
            <a:prstGeom prst="rect">
              <a:avLst/>
            </a:prstGeom>
          </p:spPr>
          <p:txBody>
            <a:bodyPr lIns="50800" tIns="50800" rIns="50800" bIns="50800" rtlCol="0" anchor="ctr"/>
            <a:lstStyle/>
            <a:p>
              <a:pPr algn="ctr">
                <a:lnSpc>
                  <a:spcPts val="3359"/>
                </a:lnSpc>
              </a:pPr>
              <a:endParaRPr/>
            </a:p>
          </p:txBody>
        </p:sp>
      </p:grpSp>
      <p:sp>
        <p:nvSpPr>
          <p:cNvPr id="6" name="TextBox 6"/>
          <p:cNvSpPr txBox="1"/>
          <p:nvPr/>
        </p:nvSpPr>
        <p:spPr>
          <a:xfrm>
            <a:off x="87781" y="4395363"/>
            <a:ext cx="9056219" cy="2028825"/>
          </a:xfrm>
          <a:prstGeom prst="rect">
            <a:avLst/>
          </a:prstGeom>
        </p:spPr>
        <p:txBody>
          <a:bodyPr lIns="0" tIns="0" rIns="0" bIns="0" rtlCol="0" anchor="t">
            <a:spAutoFit/>
          </a:bodyPr>
          <a:lstStyle/>
          <a:p>
            <a:pPr algn="ctr">
              <a:lnSpc>
                <a:spcPts val="7542"/>
              </a:lnSpc>
            </a:pPr>
            <a:r>
              <a:rPr lang="en-US" sz="6285">
                <a:solidFill>
                  <a:srgbClr val="000000"/>
                </a:solidFill>
                <a:latin typeface="Times New Roman Bold"/>
              </a:rPr>
              <a:t>USECASE DIAGRAM ENERGY SYSTEM</a:t>
            </a:r>
          </a:p>
        </p:txBody>
      </p:sp>
      <p:sp>
        <p:nvSpPr>
          <p:cNvPr id="7" name="Freeform 7"/>
          <p:cNvSpPr/>
          <p:nvPr/>
        </p:nvSpPr>
        <p:spPr>
          <a:xfrm>
            <a:off x="228600" y="188297"/>
            <a:ext cx="2402323" cy="1316730"/>
          </a:xfrm>
          <a:custGeom>
            <a:avLst/>
            <a:gdLst/>
            <a:ahLst/>
            <a:cxnLst/>
            <a:rect l="l" t="t" r="r" b="b"/>
            <a:pathLst>
              <a:path w="2402323" h="1316730">
                <a:moveTo>
                  <a:pt x="0" y="0"/>
                </a:moveTo>
                <a:lnTo>
                  <a:pt x="2402323" y="0"/>
                </a:lnTo>
                <a:lnTo>
                  <a:pt x="2402323" y="1316730"/>
                </a:lnTo>
                <a:lnTo>
                  <a:pt x="0" y="1316730"/>
                </a:lnTo>
                <a:lnTo>
                  <a:pt x="0" y="0"/>
                </a:lnTo>
                <a:close/>
              </a:path>
            </a:pathLst>
          </a:custGeom>
          <a:blipFill>
            <a:blip r:embed="rId3"/>
            <a:stretch>
              <a:fillRect t="-993" r="-757" b="-993"/>
            </a:stretch>
          </a:blipFill>
        </p:spPr>
        <p:txBody>
          <a:bodyPr/>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911474" y="389040"/>
            <a:ext cx="13895476" cy="9508919"/>
          </a:xfrm>
          <a:custGeom>
            <a:avLst/>
            <a:gdLst/>
            <a:ahLst/>
            <a:cxnLst/>
            <a:rect l="l" t="t" r="r" b="b"/>
            <a:pathLst>
              <a:path w="13895476" h="9508919">
                <a:moveTo>
                  <a:pt x="0" y="0"/>
                </a:moveTo>
                <a:lnTo>
                  <a:pt x="13895476" y="0"/>
                </a:lnTo>
                <a:lnTo>
                  <a:pt x="13895476" y="9508920"/>
                </a:lnTo>
                <a:lnTo>
                  <a:pt x="0" y="9508920"/>
                </a:lnTo>
                <a:lnTo>
                  <a:pt x="0" y="0"/>
                </a:lnTo>
                <a:close/>
              </a:path>
            </a:pathLst>
          </a:custGeom>
          <a:blipFill>
            <a:blip r:embed="rId2"/>
            <a:stretch>
              <a:fillRect t="-303" r="-1875" b="-303"/>
            </a:stretch>
          </a:blipFill>
        </p:spPr>
        <p:txBody>
          <a:bodyPr/>
          <a:lstStyle/>
          <a:p>
            <a:endParaRPr lang="en-US"/>
          </a:p>
        </p:txBody>
      </p:sp>
      <p:sp>
        <p:nvSpPr>
          <p:cNvPr id="4" name="TextBox 4"/>
          <p:cNvSpPr txBox="1"/>
          <p:nvPr/>
        </p:nvSpPr>
        <p:spPr>
          <a:xfrm>
            <a:off x="513863" y="7910912"/>
            <a:ext cx="4060032" cy="2024144"/>
          </a:xfrm>
          <a:prstGeom prst="rect">
            <a:avLst/>
          </a:prstGeom>
        </p:spPr>
        <p:txBody>
          <a:bodyPr lIns="0" tIns="0" rIns="0" bIns="0" rtlCol="0" anchor="t">
            <a:spAutoFit/>
          </a:bodyPr>
          <a:lstStyle/>
          <a:p>
            <a:pPr algn="l">
              <a:lnSpc>
                <a:spcPts val="16685"/>
              </a:lnSpc>
            </a:pPr>
            <a:endParaRPr lang="en-US" sz="13904">
              <a:solidFill>
                <a:srgbClr val="000000"/>
              </a:solidFill>
              <a:latin typeface="Times New Roman"/>
            </a:endParaRPr>
          </a:p>
        </p:txBody>
      </p:sp>
      <p:grpSp>
        <p:nvGrpSpPr>
          <p:cNvPr id="6" name="Group 7">
            <a:extLst>
              <a:ext uri="{FF2B5EF4-FFF2-40B4-BE49-F238E27FC236}">
                <a16:creationId xmlns:a16="http://schemas.microsoft.com/office/drawing/2014/main" id="{00345E9C-09E5-7A50-2310-E607C613AE18}"/>
              </a:ext>
            </a:extLst>
          </p:cNvPr>
          <p:cNvGrpSpPr/>
          <p:nvPr/>
        </p:nvGrpSpPr>
        <p:grpSpPr>
          <a:xfrm>
            <a:off x="0" y="-147349"/>
            <a:ext cx="5257800" cy="10434349"/>
            <a:chOff x="0" y="0"/>
            <a:chExt cx="6350000" cy="6339840"/>
          </a:xfrm>
        </p:grpSpPr>
        <p:sp>
          <p:nvSpPr>
            <p:cNvPr id="7" name="Freeform 8">
              <a:extLst>
                <a:ext uri="{FF2B5EF4-FFF2-40B4-BE49-F238E27FC236}">
                  <a16:creationId xmlns:a16="http://schemas.microsoft.com/office/drawing/2014/main" id="{2D2E932C-6A42-F963-606A-B96CED264536}"/>
                </a:ext>
              </a:extLst>
            </p:cNvPr>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FFC7C7"/>
            </a:solidFill>
          </p:spPr>
          <p:txBody>
            <a:bodyPr/>
            <a:lstStyle/>
            <a:p>
              <a:endParaRPr lang="en-US"/>
            </a:p>
          </p:txBody>
        </p:sp>
      </p:grpSp>
      <p:sp>
        <p:nvSpPr>
          <p:cNvPr id="9" name="TextBox 8">
            <a:extLst>
              <a:ext uri="{FF2B5EF4-FFF2-40B4-BE49-F238E27FC236}">
                <a16:creationId xmlns:a16="http://schemas.microsoft.com/office/drawing/2014/main" id="{92C896E9-8616-C048-B397-03D6AA7092AD}"/>
              </a:ext>
            </a:extLst>
          </p:cNvPr>
          <p:cNvSpPr txBox="1"/>
          <p:nvPr/>
        </p:nvSpPr>
        <p:spPr>
          <a:xfrm>
            <a:off x="481050" y="7929426"/>
            <a:ext cx="9144000" cy="1987082"/>
          </a:xfrm>
          <a:prstGeom prst="rect">
            <a:avLst/>
          </a:prstGeom>
          <a:noFill/>
        </p:spPr>
        <p:txBody>
          <a:bodyPr wrap="square">
            <a:spAutoFit/>
          </a:bodyPr>
          <a:lstStyle/>
          <a:p>
            <a:pPr algn="l">
              <a:lnSpc>
                <a:spcPts val="16685"/>
              </a:lnSpc>
            </a:pPr>
            <a:r>
              <a:rPr lang="en-US" sz="9600" b="1">
                <a:solidFill>
                  <a:srgbClr val="000000"/>
                </a:solidFill>
                <a:effectLst>
                  <a:outerShdw blurRad="38100" dist="38100" dir="2700000" algn="tl">
                    <a:srgbClr val="000000">
                      <a:alpha val="43137"/>
                    </a:srgbClr>
                  </a:outerShdw>
                </a:effectLst>
                <a:latin typeface="Times New Roman"/>
              </a:rPr>
              <a:t>ERD</a:t>
            </a:r>
          </a:p>
        </p:txBody>
      </p:sp>
      <p:sp>
        <p:nvSpPr>
          <p:cNvPr id="10" name="Freeform 5"/>
          <p:cNvSpPr/>
          <p:nvPr/>
        </p:nvSpPr>
        <p:spPr>
          <a:xfrm>
            <a:off x="100262" y="0"/>
            <a:ext cx="2543878" cy="1394317"/>
          </a:xfrm>
          <a:custGeom>
            <a:avLst/>
            <a:gdLst/>
            <a:ahLst/>
            <a:cxnLst/>
            <a:rect l="l" t="t" r="r" b="b"/>
            <a:pathLst>
              <a:path w="2543878" h="1394317">
                <a:moveTo>
                  <a:pt x="0" y="0"/>
                </a:moveTo>
                <a:lnTo>
                  <a:pt x="2543878" y="0"/>
                </a:lnTo>
                <a:lnTo>
                  <a:pt x="2543878" y="1394318"/>
                </a:lnTo>
                <a:lnTo>
                  <a:pt x="0" y="1394318"/>
                </a:lnTo>
                <a:lnTo>
                  <a:pt x="0" y="0"/>
                </a:lnTo>
                <a:close/>
              </a:path>
            </a:pathLst>
          </a:custGeom>
          <a:blipFill>
            <a:blip r:embed="rId3"/>
            <a:stretch>
              <a:fillRect t="-993" r="-757" b="-993"/>
            </a:stretch>
          </a:blipFill>
        </p:spPr>
        <p:txBody>
          <a:bodyPr/>
          <a:lstStyle/>
          <a:p>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610438" y="5172849"/>
            <a:ext cx="4356861" cy="3372378"/>
            <a:chOff x="0" y="-66675"/>
            <a:chExt cx="5809148" cy="4496504"/>
          </a:xfrm>
        </p:grpSpPr>
        <p:sp>
          <p:nvSpPr>
            <p:cNvPr id="3" name="TextBox 3"/>
            <p:cNvSpPr txBox="1"/>
            <p:nvPr/>
          </p:nvSpPr>
          <p:spPr>
            <a:xfrm>
              <a:off x="0" y="-66675"/>
              <a:ext cx="5809148" cy="727075"/>
            </a:xfrm>
            <a:prstGeom prst="rect">
              <a:avLst/>
            </a:prstGeom>
          </p:spPr>
          <p:txBody>
            <a:bodyPr lIns="0" tIns="0" rIns="0" bIns="0" rtlCol="0" anchor="t">
              <a:spAutoFit/>
            </a:bodyPr>
            <a:lstStyle/>
            <a:p>
              <a:pPr algn="ctr">
                <a:lnSpc>
                  <a:spcPts val="3960"/>
                </a:lnSpc>
              </a:pPr>
              <a:r>
                <a:rPr lang="en-US" sz="3300">
                  <a:solidFill>
                    <a:srgbClr val="010101"/>
                  </a:solidFill>
                  <a:latin typeface="Times New Roman Semi-Bold"/>
                </a:rPr>
                <a:t>Energy System</a:t>
              </a:r>
            </a:p>
          </p:txBody>
        </p:sp>
        <p:sp>
          <p:nvSpPr>
            <p:cNvPr id="4" name="TextBox 4"/>
            <p:cNvSpPr txBox="1"/>
            <p:nvPr/>
          </p:nvSpPr>
          <p:spPr>
            <a:xfrm>
              <a:off x="0" y="888603"/>
              <a:ext cx="5809148" cy="3541226"/>
            </a:xfrm>
            <a:prstGeom prst="rect">
              <a:avLst/>
            </a:prstGeom>
          </p:spPr>
          <p:txBody>
            <a:bodyPr lIns="0" tIns="0" rIns="0" bIns="0" rtlCol="0" anchor="t">
              <a:spAutoFit/>
            </a:bodyPr>
            <a:lstStyle/>
            <a:p>
              <a:pPr algn="just">
                <a:lnSpc>
                  <a:spcPts val="3499"/>
                </a:lnSpc>
              </a:pPr>
              <a:r>
                <a:rPr lang="en-US" sz="2499">
                  <a:solidFill>
                    <a:srgbClr val="242424"/>
                  </a:solidFill>
                  <a:latin typeface="Times New Roman"/>
                </a:rPr>
                <a:t>IoT technology can help save energy by monitoring and adjusting consumption, optimizing device operation, and enabling automatic recovery grids in case of power leakage.</a:t>
              </a:r>
            </a:p>
          </p:txBody>
        </p:sp>
      </p:grpSp>
      <p:grpSp>
        <p:nvGrpSpPr>
          <p:cNvPr id="5" name="Group 5"/>
          <p:cNvGrpSpPr/>
          <p:nvPr/>
        </p:nvGrpSpPr>
        <p:grpSpPr>
          <a:xfrm rot="5400000">
            <a:off x="-1488" y="1488"/>
            <a:ext cx="1859770" cy="1856795"/>
            <a:chOff x="0" y="0"/>
            <a:chExt cx="6350000" cy="6339840"/>
          </a:xfrm>
        </p:grpSpPr>
        <p:sp>
          <p:nvSpPr>
            <p:cNvPr id="6" name="Freeform 6"/>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FFC7C7"/>
            </a:solidFill>
          </p:spPr>
          <p:txBody>
            <a:bodyPr/>
            <a:lstStyle/>
            <a:p>
              <a:endParaRPr lang="en-US"/>
            </a:p>
          </p:txBody>
        </p:sp>
      </p:grpSp>
      <p:grpSp>
        <p:nvGrpSpPr>
          <p:cNvPr id="7" name="Group 7"/>
          <p:cNvGrpSpPr/>
          <p:nvPr/>
        </p:nvGrpSpPr>
        <p:grpSpPr>
          <a:xfrm rot="-5400000">
            <a:off x="16429717" y="8428717"/>
            <a:ext cx="1859770" cy="1856795"/>
            <a:chOff x="0" y="0"/>
            <a:chExt cx="6350000" cy="6339840"/>
          </a:xfrm>
        </p:grpSpPr>
        <p:sp>
          <p:nvSpPr>
            <p:cNvPr id="8" name="Freeform 8"/>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FFC7C7"/>
            </a:solidFill>
          </p:spPr>
          <p:txBody>
            <a:bodyPr/>
            <a:lstStyle/>
            <a:p>
              <a:endParaRPr lang="en-US"/>
            </a:p>
          </p:txBody>
        </p:sp>
      </p:grpSp>
      <p:sp>
        <p:nvSpPr>
          <p:cNvPr id="9" name="Freeform 9"/>
          <p:cNvSpPr/>
          <p:nvPr/>
        </p:nvSpPr>
        <p:spPr>
          <a:xfrm>
            <a:off x="2280669" y="2626997"/>
            <a:ext cx="1967623" cy="2057400"/>
          </a:xfrm>
          <a:custGeom>
            <a:avLst/>
            <a:gdLst/>
            <a:ahLst/>
            <a:cxnLst/>
            <a:rect l="l" t="t" r="r" b="b"/>
            <a:pathLst>
              <a:path w="1967623" h="2057400">
                <a:moveTo>
                  <a:pt x="0" y="0"/>
                </a:moveTo>
                <a:lnTo>
                  <a:pt x="1967622" y="0"/>
                </a:lnTo>
                <a:lnTo>
                  <a:pt x="1967622"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a:off x="7910177" y="2626997"/>
            <a:ext cx="2467646" cy="2057400"/>
          </a:xfrm>
          <a:custGeom>
            <a:avLst/>
            <a:gdLst/>
            <a:ahLst/>
            <a:cxnLst/>
            <a:rect l="l" t="t" r="r" b="b"/>
            <a:pathLst>
              <a:path w="2467646" h="2057400">
                <a:moveTo>
                  <a:pt x="0" y="0"/>
                </a:moveTo>
                <a:lnTo>
                  <a:pt x="2467646" y="0"/>
                </a:lnTo>
                <a:lnTo>
                  <a:pt x="2467646"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11"/>
          <p:cNvSpPr/>
          <p:nvPr/>
        </p:nvSpPr>
        <p:spPr>
          <a:xfrm>
            <a:off x="13738081" y="2626997"/>
            <a:ext cx="2101576" cy="2101576"/>
          </a:xfrm>
          <a:custGeom>
            <a:avLst/>
            <a:gdLst/>
            <a:ahLst/>
            <a:cxnLst/>
            <a:rect l="l" t="t" r="r" b="b"/>
            <a:pathLst>
              <a:path w="2101576" h="2101576">
                <a:moveTo>
                  <a:pt x="0" y="0"/>
                </a:moveTo>
                <a:lnTo>
                  <a:pt x="2101576" y="0"/>
                </a:lnTo>
                <a:lnTo>
                  <a:pt x="2101576" y="2101576"/>
                </a:lnTo>
                <a:lnTo>
                  <a:pt x="0" y="210157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12" name="Group 12"/>
          <p:cNvGrpSpPr/>
          <p:nvPr/>
        </p:nvGrpSpPr>
        <p:grpSpPr>
          <a:xfrm>
            <a:off x="1322833" y="5093494"/>
            <a:ext cx="4849367" cy="3903650"/>
            <a:chOff x="0" y="-66675"/>
            <a:chExt cx="5809148" cy="5204866"/>
          </a:xfrm>
        </p:grpSpPr>
        <p:sp>
          <p:nvSpPr>
            <p:cNvPr id="13" name="TextBox 13"/>
            <p:cNvSpPr txBox="1"/>
            <p:nvPr/>
          </p:nvSpPr>
          <p:spPr>
            <a:xfrm>
              <a:off x="0" y="-66675"/>
              <a:ext cx="5809148" cy="727075"/>
            </a:xfrm>
            <a:prstGeom prst="rect">
              <a:avLst/>
            </a:prstGeom>
          </p:spPr>
          <p:txBody>
            <a:bodyPr lIns="0" tIns="0" rIns="0" bIns="0" rtlCol="0" anchor="t">
              <a:spAutoFit/>
            </a:bodyPr>
            <a:lstStyle/>
            <a:p>
              <a:pPr algn="ctr">
                <a:lnSpc>
                  <a:spcPts val="3960"/>
                </a:lnSpc>
              </a:pPr>
              <a:r>
                <a:rPr lang="en-US" sz="3300">
                  <a:solidFill>
                    <a:srgbClr val="010101"/>
                  </a:solidFill>
                  <a:latin typeface="Times New Roman Bold"/>
                </a:rPr>
                <a:t>Fire alarm system</a:t>
              </a:r>
            </a:p>
          </p:txBody>
        </p:sp>
        <p:sp>
          <p:nvSpPr>
            <p:cNvPr id="14" name="TextBox 14"/>
            <p:cNvSpPr txBox="1"/>
            <p:nvPr/>
          </p:nvSpPr>
          <p:spPr>
            <a:xfrm>
              <a:off x="0" y="879077"/>
              <a:ext cx="5809148" cy="4259114"/>
            </a:xfrm>
            <a:prstGeom prst="rect">
              <a:avLst/>
            </a:prstGeom>
          </p:spPr>
          <p:txBody>
            <a:bodyPr lIns="0" tIns="0" rIns="0" bIns="0" rtlCol="0" anchor="t">
              <a:spAutoFit/>
            </a:bodyPr>
            <a:lstStyle/>
            <a:p>
              <a:pPr algn="just">
                <a:lnSpc>
                  <a:spcPts val="3639"/>
                </a:lnSpc>
              </a:pPr>
              <a:r>
                <a:rPr lang="en-US" sz="2599">
                  <a:solidFill>
                    <a:srgbClr val="010101"/>
                  </a:solidFill>
                  <a:latin typeface="Times New Roman"/>
                </a:rPr>
                <a:t>Integrating fire alarm systems with IoT allows for remote monitoring, centralized management, and improved data access to ensure building safety, allowing for better decision-making and proactive response fire deputy.</a:t>
              </a:r>
              <a:endParaRPr lang="en-US" sz="2599">
                <a:solidFill>
                  <a:srgbClr val="010101"/>
                </a:solidFill>
                <a:latin typeface="Times New Roman"/>
                <a:hlinkClick r:id="rId8" tooltip="https://docs.google.com/spreadsheets/d/1DUF2isFWsqVSYhbaACYtbgcLi_YjDqpE3GLQIVgkKQg/edit#gid=69851113"/>
              </a:endParaRPr>
            </a:p>
          </p:txBody>
        </p:sp>
      </p:grpSp>
      <p:grpSp>
        <p:nvGrpSpPr>
          <p:cNvPr id="15" name="Group 15"/>
          <p:cNvGrpSpPr/>
          <p:nvPr/>
        </p:nvGrpSpPr>
        <p:grpSpPr>
          <a:xfrm>
            <a:off x="6967702" y="5172849"/>
            <a:ext cx="4356861" cy="3889325"/>
            <a:chOff x="0" y="-66675"/>
            <a:chExt cx="5809148" cy="5185767"/>
          </a:xfrm>
        </p:grpSpPr>
        <p:sp>
          <p:nvSpPr>
            <p:cNvPr id="16" name="TextBox 16"/>
            <p:cNvSpPr txBox="1"/>
            <p:nvPr/>
          </p:nvSpPr>
          <p:spPr>
            <a:xfrm>
              <a:off x="0" y="-66675"/>
              <a:ext cx="5809148" cy="727075"/>
            </a:xfrm>
            <a:prstGeom prst="rect">
              <a:avLst/>
            </a:prstGeom>
          </p:spPr>
          <p:txBody>
            <a:bodyPr lIns="0" tIns="0" rIns="0" bIns="0" rtlCol="0" anchor="t">
              <a:spAutoFit/>
            </a:bodyPr>
            <a:lstStyle/>
            <a:p>
              <a:pPr algn="ctr">
                <a:lnSpc>
                  <a:spcPts val="3960"/>
                </a:lnSpc>
              </a:pPr>
              <a:r>
                <a:rPr lang="en-US" sz="3300">
                  <a:solidFill>
                    <a:srgbClr val="010101"/>
                  </a:solidFill>
                  <a:latin typeface="Times New Roman Bold"/>
                </a:rPr>
                <a:t>Hotel website</a:t>
              </a:r>
            </a:p>
          </p:txBody>
        </p:sp>
        <p:sp>
          <p:nvSpPr>
            <p:cNvPr id="17" name="TextBox 17"/>
            <p:cNvSpPr txBox="1"/>
            <p:nvPr/>
          </p:nvSpPr>
          <p:spPr>
            <a:xfrm>
              <a:off x="0" y="869552"/>
              <a:ext cx="5809148" cy="4249540"/>
            </a:xfrm>
            <a:prstGeom prst="rect">
              <a:avLst/>
            </a:prstGeom>
          </p:spPr>
          <p:txBody>
            <a:bodyPr lIns="0" tIns="0" rIns="0" bIns="0" rtlCol="0" anchor="t">
              <a:spAutoFit/>
            </a:bodyPr>
            <a:lstStyle/>
            <a:p>
              <a:pPr algn="just">
                <a:lnSpc>
                  <a:spcPts val="4199"/>
                </a:lnSpc>
              </a:pPr>
              <a:r>
                <a:rPr lang="en-US" sz="2999">
                  <a:solidFill>
                    <a:srgbClr val="242424"/>
                  </a:solidFill>
                  <a:latin typeface="Times New Roman"/>
                </a:rPr>
                <a:t>IoT can be used to develop websites that connect to smart devices, automating data collection to improve customer service and marketing.</a:t>
              </a:r>
              <a:endParaRPr lang="en-US" sz="2999">
                <a:solidFill>
                  <a:srgbClr val="242424"/>
                </a:solidFill>
                <a:latin typeface="Times New Roman"/>
                <a:hlinkClick r:id="rId8" tooltip="https://docs.google.com/spreadsheets/d/1DUF2isFWsqVSYhbaACYtbgcLi_YjDqpE3GLQIVgkKQg/edit#gid=69851113"/>
              </a:endParaRPr>
            </a:p>
          </p:txBody>
        </p:sp>
      </p:grpSp>
      <p:sp>
        <p:nvSpPr>
          <p:cNvPr id="18" name="TextBox 18"/>
          <p:cNvSpPr txBox="1"/>
          <p:nvPr/>
        </p:nvSpPr>
        <p:spPr>
          <a:xfrm>
            <a:off x="2280669" y="904875"/>
            <a:ext cx="13726662" cy="1038225"/>
          </a:xfrm>
          <a:prstGeom prst="rect">
            <a:avLst/>
          </a:prstGeom>
        </p:spPr>
        <p:txBody>
          <a:bodyPr lIns="0" tIns="0" rIns="0" bIns="0" rtlCol="0" anchor="t">
            <a:spAutoFit/>
          </a:bodyPr>
          <a:lstStyle/>
          <a:p>
            <a:pPr algn="ctr">
              <a:lnSpc>
                <a:spcPts val="7200"/>
              </a:lnSpc>
            </a:pPr>
            <a:r>
              <a:rPr lang="en-US" sz="6000">
                <a:solidFill>
                  <a:srgbClr val="010101"/>
                </a:solidFill>
                <a:latin typeface="Times New Roman Bold"/>
              </a:rPr>
              <a:t>IMPROVE TECHNIQUES</a:t>
            </a:r>
          </a:p>
        </p:txBody>
      </p:sp>
      <p:sp>
        <p:nvSpPr>
          <p:cNvPr id="19" name="Freeform 19"/>
          <p:cNvSpPr/>
          <p:nvPr/>
        </p:nvSpPr>
        <p:spPr>
          <a:xfrm>
            <a:off x="50894" y="165660"/>
            <a:ext cx="2543878" cy="1394317"/>
          </a:xfrm>
          <a:custGeom>
            <a:avLst/>
            <a:gdLst/>
            <a:ahLst/>
            <a:cxnLst/>
            <a:rect l="l" t="t" r="r" b="b"/>
            <a:pathLst>
              <a:path w="2543878" h="1394317">
                <a:moveTo>
                  <a:pt x="0" y="0"/>
                </a:moveTo>
                <a:lnTo>
                  <a:pt x="2543878" y="0"/>
                </a:lnTo>
                <a:lnTo>
                  <a:pt x="2543878" y="1394318"/>
                </a:lnTo>
                <a:lnTo>
                  <a:pt x="0" y="1394318"/>
                </a:lnTo>
                <a:lnTo>
                  <a:pt x="0" y="0"/>
                </a:lnTo>
                <a:close/>
              </a:path>
            </a:pathLst>
          </a:custGeom>
          <a:blipFill>
            <a:blip r:embed="rId9"/>
            <a:stretch>
              <a:fillRect t="-993" r="-757" b="-993"/>
            </a:stretch>
          </a:blipFill>
        </p:spPr>
        <p:txBody>
          <a:bodyP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6428230" y="0"/>
            <a:ext cx="1859770" cy="1856795"/>
            <a:chOff x="0" y="0"/>
            <a:chExt cx="6350000" cy="6339840"/>
          </a:xfrm>
        </p:grpSpPr>
        <p:sp>
          <p:nvSpPr>
            <p:cNvPr id="3" name="Freeform 3"/>
            <p:cNvSpPr/>
            <p:nvPr/>
          </p:nvSpPr>
          <p:spPr>
            <a:xfrm>
              <a:off x="0" y="0"/>
              <a:ext cx="6350000" cy="6339840"/>
            </a:xfrm>
            <a:custGeom>
              <a:avLst/>
              <a:gdLst/>
              <a:ahLst/>
              <a:cxnLst/>
              <a:rect l="l" t="t" r="r" b="b"/>
              <a:pathLst>
                <a:path w="6350000" h="6339840">
                  <a:moveTo>
                    <a:pt x="6350000" y="6339840"/>
                  </a:moveTo>
                  <a:lnTo>
                    <a:pt x="0" y="6339840"/>
                  </a:lnTo>
                  <a:lnTo>
                    <a:pt x="0" y="0"/>
                  </a:lnTo>
                  <a:lnTo>
                    <a:pt x="6350000" y="6339840"/>
                  </a:lnTo>
                  <a:close/>
                </a:path>
              </a:pathLst>
            </a:custGeom>
            <a:solidFill>
              <a:srgbClr val="FFDFE1"/>
            </a:solidFill>
          </p:spPr>
          <p:txBody>
            <a:bodyPr/>
            <a:lstStyle/>
            <a:p>
              <a:endParaRPr lang="en-US">
                <a:latin typeface="Times New Roman" panose="02020603050405020304" pitchFamily="18" charset="0"/>
                <a:cs typeface="Times New Roman" panose="02020603050405020304" pitchFamily="18" charset="0"/>
              </a:endParaRPr>
            </a:p>
          </p:txBody>
        </p:sp>
      </p:grpSp>
      <p:sp>
        <p:nvSpPr>
          <p:cNvPr id="4" name="TextBox 4"/>
          <p:cNvSpPr txBox="1"/>
          <p:nvPr/>
        </p:nvSpPr>
        <p:spPr>
          <a:xfrm>
            <a:off x="2216860" y="1379888"/>
            <a:ext cx="15842540" cy="1231106"/>
          </a:xfrm>
          <a:prstGeom prst="rect">
            <a:avLst/>
          </a:prstGeom>
        </p:spPr>
        <p:txBody>
          <a:bodyPr wrap="square" lIns="0" tIns="0" rIns="0" bIns="0" rtlCol="0" anchor="t">
            <a:spAutoFit/>
          </a:bodyPr>
          <a:lstStyle/>
          <a:p>
            <a:pPr marL="0" lvl="0" indent="0" algn="l">
              <a:lnSpc>
                <a:spcPts val="9600"/>
              </a:lnSpc>
              <a:spcBef>
                <a:spcPct val="0"/>
              </a:spcBef>
            </a:pPr>
            <a:r>
              <a:rPr lang="en-US" sz="8000" b="1">
                <a:solidFill>
                  <a:srgbClr val="000000"/>
                </a:solidFill>
                <a:latin typeface="Times New Roman" panose="02020603050405020304" pitchFamily="18" charset="0"/>
                <a:cs typeface="Times New Roman" panose="02020603050405020304" pitchFamily="18" charset="0"/>
              </a:rPr>
              <a:t>Identify ethical and privacy issues</a:t>
            </a:r>
          </a:p>
        </p:txBody>
      </p:sp>
      <p:grpSp>
        <p:nvGrpSpPr>
          <p:cNvPr id="5" name="Group 5"/>
          <p:cNvGrpSpPr/>
          <p:nvPr/>
        </p:nvGrpSpPr>
        <p:grpSpPr>
          <a:xfrm>
            <a:off x="419600" y="3208403"/>
            <a:ext cx="17030199" cy="4988249"/>
            <a:chOff x="0" y="0"/>
            <a:chExt cx="22706933" cy="6650997"/>
          </a:xfrm>
        </p:grpSpPr>
        <p:sp>
          <p:nvSpPr>
            <p:cNvPr id="6" name="Freeform 6"/>
            <p:cNvSpPr/>
            <p:nvPr/>
          </p:nvSpPr>
          <p:spPr>
            <a:xfrm>
              <a:off x="913153" y="0"/>
              <a:ext cx="3883889" cy="3861232"/>
            </a:xfrm>
            <a:custGeom>
              <a:avLst/>
              <a:gdLst/>
              <a:ahLst/>
              <a:cxnLst/>
              <a:rect l="l" t="t" r="r" b="b"/>
              <a:pathLst>
                <a:path w="3883889" h="3861232">
                  <a:moveTo>
                    <a:pt x="0" y="0"/>
                  </a:moveTo>
                  <a:lnTo>
                    <a:pt x="3883889" y="0"/>
                  </a:lnTo>
                  <a:lnTo>
                    <a:pt x="3883889" y="3861232"/>
                  </a:lnTo>
                  <a:lnTo>
                    <a:pt x="0" y="3861232"/>
                  </a:lnTo>
                  <a:lnTo>
                    <a:pt x="0" y="0"/>
                  </a:lnTo>
                  <a:close/>
                </a:path>
              </a:pathLst>
            </a:custGeom>
            <a:blipFill>
              <a:blip r:embed="rId2"/>
              <a:stretch>
                <a:fillRect t="-293" b="-293"/>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7" name="Freeform 7"/>
            <p:cNvSpPr/>
            <p:nvPr/>
          </p:nvSpPr>
          <p:spPr>
            <a:xfrm>
              <a:off x="7402064" y="98130"/>
              <a:ext cx="3840903" cy="3664972"/>
            </a:xfrm>
            <a:custGeom>
              <a:avLst/>
              <a:gdLst/>
              <a:ahLst/>
              <a:cxnLst/>
              <a:rect l="l" t="t" r="r" b="b"/>
              <a:pathLst>
                <a:path w="3840903" h="3664972">
                  <a:moveTo>
                    <a:pt x="0" y="0"/>
                  </a:moveTo>
                  <a:lnTo>
                    <a:pt x="3840903" y="0"/>
                  </a:lnTo>
                  <a:lnTo>
                    <a:pt x="3840903" y="3664972"/>
                  </a:lnTo>
                  <a:lnTo>
                    <a:pt x="0" y="3664972"/>
                  </a:lnTo>
                  <a:lnTo>
                    <a:pt x="0" y="0"/>
                  </a:lnTo>
                  <a:close/>
                </a:path>
              </a:pathLst>
            </a:custGeom>
            <a:blipFill>
              <a:blip r:embed="rId3"/>
              <a:stretch>
                <a:fillRect l="-34644" r="-30526"/>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8" name="Freeform 8"/>
            <p:cNvSpPr/>
            <p:nvPr/>
          </p:nvSpPr>
          <p:spPr>
            <a:xfrm>
              <a:off x="12478491" y="150575"/>
              <a:ext cx="5346475" cy="3560082"/>
            </a:xfrm>
            <a:custGeom>
              <a:avLst/>
              <a:gdLst/>
              <a:ahLst/>
              <a:cxnLst/>
              <a:rect l="l" t="t" r="r" b="b"/>
              <a:pathLst>
                <a:path w="5346475" h="3560082">
                  <a:moveTo>
                    <a:pt x="0" y="0"/>
                  </a:moveTo>
                  <a:lnTo>
                    <a:pt x="5346476" y="0"/>
                  </a:lnTo>
                  <a:lnTo>
                    <a:pt x="5346476" y="3560082"/>
                  </a:lnTo>
                  <a:lnTo>
                    <a:pt x="0" y="3560082"/>
                  </a:lnTo>
                  <a:lnTo>
                    <a:pt x="0" y="0"/>
                  </a:lnTo>
                  <a:close/>
                </a:path>
              </a:pathLst>
            </a:custGeom>
            <a:blipFill>
              <a:blip r:embed="rId4"/>
              <a:stretch>
                <a:fillRect t="-293" b="-293"/>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9" name="Freeform 9"/>
            <p:cNvSpPr/>
            <p:nvPr/>
          </p:nvSpPr>
          <p:spPr>
            <a:xfrm>
              <a:off x="18671140" y="187582"/>
              <a:ext cx="3695206" cy="3673649"/>
            </a:xfrm>
            <a:custGeom>
              <a:avLst/>
              <a:gdLst/>
              <a:ahLst/>
              <a:cxnLst/>
              <a:rect l="l" t="t" r="r" b="b"/>
              <a:pathLst>
                <a:path w="3695206" h="3673649">
                  <a:moveTo>
                    <a:pt x="0" y="0"/>
                  </a:moveTo>
                  <a:lnTo>
                    <a:pt x="3695206" y="0"/>
                  </a:lnTo>
                  <a:lnTo>
                    <a:pt x="3695206" y="3673650"/>
                  </a:lnTo>
                  <a:lnTo>
                    <a:pt x="0" y="3673650"/>
                  </a:lnTo>
                  <a:lnTo>
                    <a:pt x="0" y="0"/>
                  </a:lnTo>
                  <a:close/>
                </a:path>
              </a:pathLst>
            </a:custGeom>
            <a:blipFill>
              <a:blip r:embed="rId5"/>
              <a:stretch>
                <a:fillRect t="-293" b="-293"/>
              </a:stretch>
            </a:blipFill>
            <a:ln cap="sq">
              <a:noFill/>
              <a:prstDash val="solid"/>
              <a:miter/>
            </a:ln>
          </p:spPr>
          <p:txBody>
            <a:bodyPr/>
            <a:lstStyle/>
            <a:p>
              <a:endParaRPr lang="en-US">
                <a:latin typeface="Times New Roman" panose="02020603050405020304" pitchFamily="18" charset="0"/>
                <a:cs typeface="Times New Roman" panose="02020603050405020304" pitchFamily="18" charset="0"/>
              </a:endParaRPr>
            </a:p>
          </p:txBody>
        </p:sp>
        <p:sp>
          <p:nvSpPr>
            <p:cNvPr id="10" name="TextBox 10"/>
            <p:cNvSpPr txBox="1"/>
            <p:nvPr/>
          </p:nvSpPr>
          <p:spPr>
            <a:xfrm>
              <a:off x="0" y="4503986"/>
              <a:ext cx="5710195" cy="674459"/>
            </a:xfrm>
            <a:prstGeom prst="rect">
              <a:avLst/>
            </a:prstGeom>
          </p:spPr>
          <p:txBody>
            <a:bodyPr lIns="0" tIns="0" rIns="0" bIns="0" rtlCol="0" anchor="t">
              <a:spAutoFit/>
            </a:bodyPr>
            <a:lstStyle/>
            <a:p>
              <a:pPr marL="0" lvl="0" indent="0" algn="just">
                <a:lnSpc>
                  <a:spcPts val="4297"/>
                </a:lnSpc>
                <a:spcBef>
                  <a:spcPct val="0"/>
                </a:spcBef>
              </a:pPr>
              <a:endParaRPr lang="en-US" sz="3069">
                <a:latin typeface="Times New Roman" panose="02020603050405020304" pitchFamily="18" charset="0"/>
                <a:cs typeface="Times New Roman" panose="02020603050405020304" pitchFamily="18" charset="0"/>
                <a:hlinkClick r:id="rId6" tooltip="https://docs.google.com/spreadsheets/d/1DUF2isFWsqVSYhbaACYtbgcLi_YjDqpE3GLQIVgkKQg/edit#gid=69851113">
                  <a:extLst>
                    <a:ext uri="{A12FA001-AC4F-418D-AE19-62706E023703}">
                      <ahyp:hlinkClr xmlns:ahyp="http://schemas.microsoft.com/office/drawing/2018/hyperlinkcolor" val="tx"/>
                    </a:ext>
                  </a:extLst>
                </a:hlinkClick>
              </a:endParaRPr>
            </a:p>
          </p:txBody>
        </p:sp>
        <p:sp>
          <p:nvSpPr>
            <p:cNvPr id="11" name="TextBox 11"/>
            <p:cNvSpPr txBox="1"/>
            <p:nvPr/>
          </p:nvSpPr>
          <p:spPr>
            <a:xfrm>
              <a:off x="7402064" y="4506051"/>
              <a:ext cx="3840903" cy="2144946"/>
            </a:xfrm>
            <a:prstGeom prst="rect">
              <a:avLst/>
            </a:prstGeom>
          </p:spPr>
          <p:txBody>
            <a:bodyPr lIns="0" tIns="0" rIns="0" bIns="0" rtlCol="0" anchor="t">
              <a:spAutoFit/>
            </a:bodyPr>
            <a:lstStyle/>
            <a:p>
              <a:pPr marL="0" lvl="0" indent="0" algn="just">
                <a:lnSpc>
                  <a:spcPts val="4298"/>
                </a:lnSpc>
                <a:spcBef>
                  <a:spcPct val="0"/>
                </a:spcBef>
              </a:pPr>
              <a:r>
                <a:rPr lang="en-US" sz="3070">
                  <a:solidFill>
                    <a:srgbClr val="242424"/>
                  </a:solidFill>
                  <a:latin typeface="Times New Roman" panose="02020603050405020304" pitchFamily="18" charset="0"/>
                  <a:cs typeface="Times New Roman" panose="02020603050405020304" pitchFamily="18" charset="0"/>
                </a:rPr>
                <a:t>Be transparent about security and privacy policies</a:t>
              </a:r>
              <a:endParaRPr lang="en-US" sz="3070">
                <a:solidFill>
                  <a:srgbClr val="242424"/>
                </a:solidFill>
                <a:latin typeface="Times New Roman" panose="02020603050405020304" pitchFamily="18" charset="0"/>
                <a:cs typeface="Times New Roman" panose="02020603050405020304" pitchFamily="18" charset="0"/>
                <a:hlinkClick r:id="rId6" tooltip="https://docs.google.com/spreadsheets/d/1DUF2isFWsqVSYhbaACYtbgcLi_YjDqpE3GLQIVgkKQg/edit#gid=69851113"/>
              </a:endParaRPr>
            </a:p>
          </p:txBody>
        </p:sp>
        <p:sp>
          <p:nvSpPr>
            <p:cNvPr id="12" name="TextBox 12"/>
            <p:cNvSpPr txBox="1"/>
            <p:nvPr/>
          </p:nvSpPr>
          <p:spPr>
            <a:xfrm>
              <a:off x="12799038" y="4503985"/>
              <a:ext cx="4705382" cy="1400979"/>
            </a:xfrm>
            <a:prstGeom prst="rect">
              <a:avLst/>
            </a:prstGeom>
          </p:spPr>
          <p:txBody>
            <a:bodyPr lIns="0" tIns="0" rIns="0" bIns="0" rtlCol="0" anchor="t">
              <a:spAutoFit/>
            </a:bodyPr>
            <a:lstStyle/>
            <a:p>
              <a:pPr marL="0" lvl="0" indent="0" algn="just">
                <a:lnSpc>
                  <a:spcPts val="4297"/>
                </a:lnSpc>
                <a:spcBef>
                  <a:spcPct val="0"/>
                </a:spcBef>
              </a:pPr>
              <a:r>
                <a:rPr lang="en-US" sz="3069">
                  <a:solidFill>
                    <a:srgbClr val="242424"/>
                  </a:solidFill>
                  <a:latin typeface="Times New Roman" panose="02020603050405020304" pitchFamily="18" charset="0"/>
                  <a:cs typeface="Times New Roman" panose="02020603050405020304" pitchFamily="18" charset="0"/>
                </a:rPr>
                <a:t>Ensure data safety and security</a:t>
              </a:r>
              <a:endParaRPr lang="en-US" sz="3069">
                <a:solidFill>
                  <a:srgbClr val="242424"/>
                </a:solidFill>
                <a:latin typeface="Times New Roman" panose="02020603050405020304" pitchFamily="18" charset="0"/>
                <a:cs typeface="Times New Roman" panose="02020603050405020304" pitchFamily="18" charset="0"/>
                <a:hlinkClick r:id="rId6" tooltip="https://docs.google.com/spreadsheets/d/1DUF2isFWsqVSYhbaACYtbgcLi_YjDqpE3GLQIVgkKQg/edit#gid=69851113"/>
              </a:endParaRPr>
            </a:p>
          </p:txBody>
        </p:sp>
        <p:sp>
          <p:nvSpPr>
            <p:cNvPr id="13" name="TextBox 13"/>
            <p:cNvSpPr txBox="1"/>
            <p:nvPr/>
          </p:nvSpPr>
          <p:spPr>
            <a:xfrm>
              <a:off x="18452798" y="4506051"/>
              <a:ext cx="4254135" cy="2144946"/>
            </a:xfrm>
            <a:prstGeom prst="rect">
              <a:avLst/>
            </a:prstGeom>
          </p:spPr>
          <p:txBody>
            <a:bodyPr wrap="square" lIns="0" tIns="0" rIns="0" bIns="0" rtlCol="0" anchor="t">
              <a:spAutoFit/>
            </a:bodyPr>
            <a:lstStyle/>
            <a:p>
              <a:pPr marL="0" lvl="0" indent="0" algn="just">
                <a:lnSpc>
                  <a:spcPts val="4297"/>
                </a:lnSpc>
                <a:spcBef>
                  <a:spcPct val="0"/>
                </a:spcBef>
              </a:pPr>
              <a:r>
                <a:rPr lang="en-US" sz="3069">
                  <a:solidFill>
                    <a:srgbClr val="242424"/>
                  </a:solidFill>
                  <a:latin typeface="Times New Roman" panose="02020603050405020304" pitchFamily="18" charset="0"/>
                  <a:cs typeface="Times New Roman" panose="02020603050405020304" pitchFamily="18" charset="0"/>
                </a:rPr>
                <a:t>Update and accurate data to ensure efficient operations</a:t>
              </a:r>
              <a:endParaRPr lang="en-US" sz="3069">
                <a:solidFill>
                  <a:srgbClr val="242424"/>
                </a:solidFill>
                <a:latin typeface="Times New Roman" panose="02020603050405020304" pitchFamily="18" charset="0"/>
                <a:cs typeface="Times New Roman" panose="02020603050405020304" pitchFamily="18" charset="0"/>
                <a:hlinkClick r:id="rId6" tooltip="https://docs.google.com/spreadsheets/d/1DUF2isFWsqVSYhbaACYtbgcLi_YjDqpE3GLQIVgkKQg/edit#gid=69851113"/>
              </a:endParaRPr>
            </a:p>
          </p:txBody>
        </p:sp>
      </p:grpSp>
      <p:sp>
        <p:nvSpPr>
          <p:cNvPr id="14" name="Freeform 14"/>
          <p:cNvSpPr/>
          <p:nvPr/>
        </p:nvSpPr>
        <p:spPr>
          <a:xfrm>
            <a:off x="82353" y="247087"/>
            <a:ext cx="2216860" cy="1104900"/>
          </a:xfrm>
          <a:custGeom>
            <a:avLst/>
            <a:gdLst/>
            <a:ahLst/>
            <a:cxnLst/>
            <a:rect l="l" t="t" r="r" b="b"/>
            <a:pathLst>
              <a:path w="2543878" h="1394317">
                <a:moveTo>
                  <a:pt x="0" y="0"/>
                </a:moveTo>
                <a:lnTo>
                  <a:pt x="2543878" y="0"/>
                </a:lnTo>
                <a:lnTo>
                  <a:pt x="2543878" y="1394317"/>
                </a:lnTo>
                <a:lnTo>
                  <a:pt x="0" y="1394317"/>
                </a:lnTo>
                <a:lnTo>
                  <a:pt x="0" y="0"/>
                </a:lnTo>
                <a:close/>
              </a:path>
            </a:pathLst>
          </a:custGeom>
          <a:blipFill>
            <a:blip r:embed="rId7"/>
            <a:stretch>
              <a:fillRect t="-993" r="-757" b="-993"/>
            </a:stretch>
          </a:blipFill>
        </p:spPr>
        <p:txBody>
          <a:bodyPr/>
          <a:lstStyle/>
          <a:p>
            <a:endParaRPr lang="en-US">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7D220F9B-EB29-7FF4-A0C9-7876308433E6}"/>
              </a:ext>
            </a:extLst>
          </p:cNvPr>
          <p:cNvSpPr txBox="1"/>
          <p:nvPr/>
        </p:nvSpPr>
        <p:spPr>
          <a:xfrm>
            <a:off x="1190783" y="6578773"/>
            <a:ext cx="4038600" cy="2369880"/>
          </a:xfrm>
          <a:prstGeom prst="rect">
            <a:avLst/>
          </a:prstGeom>
          <a:noFill/>
        </p:spPr>
        <p:txBody>
          <a:bodyPr wrap="square">
            <a:spAutoFit/>
          </a:bodyPr>
          <a:lstStyle/>
          <a:p>
            <a:r>
              <a:rPr lang="en-US" sz="3700">
                <a:latin typeface="Times New Roman" panose="02020603050405020304" pitchFamily="18" charset="0"/>
                <a:cs typeface="Times New Roman" panose="02020603050405020304" pitchFamily="18" charset="0"/>
              </a:rPr>
              <a:t>Ensures protection of personal information and user consent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7200" y="289393"/>
            <a:ext cx="2337559" cy="1281232"/>
          </a:xfrm>
          <a:custGeom>
            <a:avLst/>
            <a:gdLst/>
            <a:ahLst/>
            <a:cxnLst/>
            <a:rect l="l" t="t" r="r" b="b"/>
            <a:pathLst>
              <a:path w="2337559" h="1281232">
                <a:moveTo>
                  <a:pt x="0" y="0"/>
                </a:moveTo>
                <a:lnTo>
                  <a:pt x="2337559" y="0"/>
                </a:lnTo>
                <a:lnTo>
                  <a:pt x="2337559" y="1281232"/>
                </a:lnTo>
                <a:lnTo>
                  <a:pt x="0" y="1281232"/>
                </a:lnTo>
                <a:lnTo>
                  <a:pt x="0" y="0"/>
                </a:lnTo>
                <a:close/>
              </a:path>
            </a:pathLst>
          </a:custGeom>
          <a:blipFill>
            <a:blip r:embed="rId2"/>
            <a:stretch>
              <a:fillRect t="-993" r="-757" b="-993"/>
            </a:stretch>
          </a:blipFill>
        </p:spPr>
        <p:txBody>
          <a:bodyPr/>
          <a:lstStyle/>
          <a:p>
            <a:endParaRPr lang="en-US"/>
          </a:p>
        </p:txBody>
      </p:sp>
      <p:sp>
        <p:nvSpPr>
          <p:cNvPr id="3" name="Freeform 3"/>
          <p:cNvSpPr/>
          <p:nvPr/>
        </p:nvSpPr>
        <p:spPr>
          <a:xfrm>
            <a:off x="3695497" y="5042698"/>
            <a:ext cx="1580714" cy="1694723"/>
          </a:xfrm>
          <a:custGeom>
            <a:avLst/>
            <a:gdLst/>
            <a:ahLst/>
            <a:cxnLst/>
            <a:rect l="l" t="t" r="r" b="b"/>
            <a:pathLst>
              <a:path w="1580714" h="1694723">
                <a:moveTo>
                  <a:pt x="0" y="0"/>
                </a:moveTo>
                <a:lnTo>
                  <a:pt x="1580714" y="0"/>
                </a:lnTo>
                <a:lnTo>
                  <a:pt x="1580714" y="1694723"/>
                </a:lnTo>
                <a:lnTo>
                  <a:pt x="0" y="169472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TextBox 4"/>
          <p:cNvSpPr txBox="1"/>
          <p:nvPr/>
        </p:nvSpPr>
        <p:spPr>
          <a:xfrm>
            <a:off x="2297937" y="6661980"/>
            <a:ext cx="4309398" cy="2134895"/>
          </a:xfrm>
          <a:prstGeom prst="rect">
            <a:avLst/>
          </a:prstGeom>
        </p:spPr>
        <p:txBody>
          <a:bodyPr lIns="0" tIns="0" rIns="0" bIns="0" rtlCol="0" anchor="t">
            <a:spAutoFit/>
          </a:bodyPr>
          <a:lstStyle/>
          <a:p>
            <a:pPr algn="ctr">
              <a:lnSpc>
                <a:spcPts val="15678"/>
              </a:lnSpc>
              <a:spcBef>
                <a:spcPct val="0"/>
              </a:spcBef>
            </a:pPr>
            <a:r>
              <a:rPr lang="en-US" sz="11199">
                <a:solidFill>
                  <a:srgbClr val="000000"/>
                </a:solidFill>
                <a:latin typeface="Times New Roman Bold"/>
              </a:rPr>
              <a:t>Pros</a:t>
            </a:r>
          </a:p>
        </p:txBody>
      </p:sp>
      <p:sp>
        <p:nvSpPr>
          <p:cNvPr id="5" name="Freeform 5"/>
          <p:cNvSpPr/>
          <p:nvPr/>
        </p:nvSpPr>
        <p:spPr>
          <a:xfrm rot="-10800000">
            <a:off x="12068085" y="5319735"/>
            <a:ext cx="1481679" cy="1588544"/>
          </a:xfrm>
          <a:custGeom>
            <a:avLst/>
            <a:gdLst/>
            <a:ahLst/>
            <a:cxnLst/>
            <a:rect l="l" t="t" r="r" b="b"/>
            <a:pathLst>
              <a:path w="1481679" h="1588544">
                <a:moveTo>
                  <a:pt x="0" y="0"/>
                </a:moveTo>
                <a:lnTo>
                  <a:pt x="1481679" y="0"/>
                </a:lnTo>
                <a:lnTo>
                  <a:pt x="1481679" y="1588545"/>
                </a:lnTo>
                <a:lnTo>
                  <a:pt x="0" y="158854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TextBox 6"/>
          <p:cNvSpPr txBox="1"/>
          <p:nvPr/>
        </p:nvSpPr>
        <p:spPr>
          <a:xfrm>
            <a:off x="11459057" y="6662005"/>
            <a:ext cx="2992636" cy="2134871"/>
          </a:xfrm>
          <a:prstGeom prst="rect">
            <a:avLst/>
          </a:prstGeom>
        </p:spPr>
        <p:txBody>
          <a:bodyPr lIns="0" tIns="0" rIns="0" bIns="0" rtlCol="0" anchor="t">
            <a:spAutoFit/>
          </a:bodyPr>
          <a:lstStyle/>
          <a:p>
            <a:pPr algn="ctr">
              <a:lnSpc>
                <a:spcPts val="15679"/>
              </a:lnSpc>
              <a:spcBef>
                <a:spcPct val="0"/>
              </a:spcBef>
            </a:pPr>
            <a:r>
              <a:rPr lang="en-US" sz="11199">
                <a:solidFill>
                  <a:srgbClr val="000000"/>
                </a:solidFill>
                <a:latin typeface="Times New Roman Bold"/>
              </a:rPr>
              <a:t>Cons</a:t>
            </a:r>
          </a:p>
        </p:txBody>
      </p:sp>
      <p:sp>
        <p:nvSpPr>
          <p:cNvPr id="7" name="Freeform 7"/>
          <p:cNvSpPr/>
          <p:nvPr/>
        </p:nvSpPr>
        <p:spPr>
          <a:xfrm>
            <a:off x="2621527" y="1057236"/>
            <a:ext cx="13232917" cy="3633037"/>
          </a:xfrm>
          <a:custGeom>
            <a:avLst/>
            <a:gdLst/>
            <a:ahLst/>
            <a:cxnLst/>
            <a:rect l="l" t="t" r="r" b="b"/>
            <a:pathLst>
              <a:path w="13232917" h="3633037">
                <a:moveTo>
                  <a:pt x="0" y="0"/>
                </a:moveTo>
                <a:lnTo>
                  <a:pt x="13232917" y="0"/>
                </a:lnTo>
                <a:lnTo>
                  <a:pt x="13232917" y="3633037"/>
                </a:lnTo>
                <a:lnTo>
                  <a:pt x="0" y="36330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 name="TextBox 8"/>
          <p:cNvSpPr txBox="1"/>
          <p:nvPr/>
        </p:nvSpPr>
        <p:spPr>
          <a:xfrm>
            <a:off x="2366396" y="2268745"/>
            <a:ext cx="13743180" cy="1086194"/>
          </a:xfrm>
          <a:prstGeom prst="rect">
            <a:avLst/>
          </a:prstGeom>
        </p:spPr>
        <p:txBody>
          <a:bodyPr lIns="0" tIns="0" rIns="0" bIns="0" rtlCol="0" anchor="t">
            <a:spAutoFit/>
          </a:bodyPr>
          <a:lstStyle/>
          <a:p>
            <a:pPr algn="l">
              <a:lnSpc>
                <a:spcPts val="7601"/>
              </a:lnSpc>
            </a:pPr>
            <a:r>
              <a:rPr lang="en-US" sz="6334">
                <a:solidFill>
                  <a:srgbClr val="000000"/>
                </a:solidFill>
                <a:latin typeface="Times New Roman Bold"/>
              </a:rPr>
              <a:t>EVALUATION AND CONCLUSION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4375878" y="-720614"/>
            <a:ext cx="13912122" cy="16320507"/>
            <a:chOff x="0" y="0"/>
            <a:chExt cx="6320290" cy="7414421"/>
          </a:xfrm>
        </p:grpSpPr>
        <p:sp>
          <p:nvSpPr>
            <p:cNvPr id="3" name="Freeform 3"/>
            <p:cNvSpPr/>
            <p:nvPr/>
          </p:nvSpPr>
          <p:spPr>
            <a:xfrm>
              <a:off x="0" y="0"/>
              <a:ext cx="6320290" cy="7414421"/>
            </a:xfrm>
            <a:custGeom>
              <a:avLst/>
              <a:gdLst/>
              <a:ahLst/>
              <a:cxnLst/>
              <a:rect l="l" t="t" r="r" b="b"/>
              <a:pathLst>
                <a:path w="6320290" h="7414421">
                  <a:moveTo>
                    <a:pt x="6320290" y="7414421"/>
                  </a:moveTo>
                  <a:lnTo>
                    <a:pt x="0" y="7414421"/>
                  </a:lnTo>
                  <a:lnTo>
                    <a:pt x="0" y="0"/>
                  </a:lnTo>
                  <a:lnTo>
                    <a:pt x="6320290" y="7414421"/>
                  </a:lnTo>
                  <a:close/>
                </a:path>
              </a:pathLst>
            </a:custGeom>
            <a:solidFill>
              <a:srgbClr val="FFDFE1"/>
            </a:solidFill>
          </p:spPr>
          <p:txBody>
            <a:bodyPr/>
            <a:lstStyle/>
            <a:p>
              <a:endParaRPr lang="en-US"/>
            </a:p>
          </p:txBody>
        </p:sp>
      </p:grpSp>
      <p:sp>
        <p:nvSpPr>
          <p:cNvPr id="4" name="TextBox 4"/>
          <p:cNvSpPr txBox="1"/>
          <p:nvPr/>
        </p:nvSpPr>
        <p:spPr>
          <a:xfrm>
            <a:off x="66481" y="1124274"/>
            <a:ext cx="4309398" cy="2134895"/>
          </a:xfrm>
          <a:prstGeom prst="rect">
            <a:avLst/>
          </a:prstGeom>
        </p:spPr>
        <p:txBody>
          <a:bodyPr lIns="0" tIns="0" rIns="0" bIns="0" rtlCol="0" anchor="t">
            <a:spAutoFit/>
          </a:bodyPr>
          <a:lstStyle/>
          <a:p>
            <a:pPr algn="ctr">
              <a:lnSpc>
                <a:spcPts val="15678"/>
              </a:lnSpc>
              <a:spcBef>
                <a:spcPct val="0"/>
              </a:spcBef>
            </a:pPr>
            <a:r>
              <a:rPr lang="en-US" sz="11199">
                <a:solidFill>
                  <a:srgbClr val="000000"/>
                </a:solidFill>
                <a:latin typeface="Times New Roman Bold"/>
              </a:rPr>
              <a:t>Pros:</a:t>
            </a:r>
          </a:p>
        </p:txBody>
      </p:sp>
      <p:sp>
        <p:nvSpPr>
          <p:cNvPr id="5" name="TextBox 5"/>
          <p:cNvSpPr txBox="1"/>
          <p:nvPr/>
        </p:nvSpPr>
        <p:spPr>
          <a:xfrm>
            <a:off x="630908" y="3294380"/>
            <a:ext cx="7356979" cy="5963920"/>
          </a:xfrm>
          <a:prstGeom prst="rect">
            <a:avLst/>
          </a:prstGeom>
        </p:spPr>
        <p:txBody>
          <a:bodyPr lIns="0" tIns="0" rIns="0" bIns="0" rtlCol="0" anchor="t">
            <a:spAutoFit/>
          </a:bodyPr>
          <a:lstStyle/>
          <a:p>
            <a:pPr algn="l">
              <a:lnSpc>
                <a:spcPts val="5179"/>
              </a:lnSpc>
              <a:spcBef>
                <a:spcPct val="0"/>
              </a:spcBef>
            </a:pPr>
            <a:r>
              <a:rPr lang="en-US" sz="3699">
                <a:solidFill>
                  <a:srgbClr val="000000"/>
                </a:solidFill>
                <a:latin typeface="Times New Roman"/>
              </a:rPr>
              <a:t>Automation of operations like lighting:</a:t>
            </a:r>
          </a:p>
          <a:p>
            <a:pPr marL="798829" lvl="1" indent="-399415" algn="l">
              <a:lnSpc>
                <a:spcPts val="5179"/>
              </a:lnSpc>
              <a:buFont typeface="Arial"/>
              <a:buChar char="•"/>
            </a:pPr>
            <a:r>
              <a:rPr lang="en-US" sz="3699">
                <a:solidFill>
                  <a:srgbClr val="000000"/>
                </a:solidFill>
                <a:latin typeface="Times New Roman"/>
              </a:rPr>
              <a:t>Temperature control.</a:t>
            </a:r>
          </a:p>
          <a:p>
            <a:pPr marL="798829" lvl="1" indent="-399415" algn="l">
              <a:lnSpc>
                <a:spcPts val="5179"/>
              </a:lnSpc>
              <a:buFont typeface="Arial"/>
              <a:buChar char="•"/>
            </a:pPr>
            <a:r>
              <a:rPr lang="en-US" sz="3699">
                <a:solidFill>
                  <a:srgbClr val="000000"/>
                </a:solidFill>
                <a:latin typeface="Times New Roman"/>
              </a:rPr>
              <a:t>Room service.</a:t>
            </a:r>
          </a:p>
          <a:p>
            <a:pPr marL="798829" lvl="1" indent="-399415" algn="l">
              <a:lnSpc>
                <a:spcPts val="5179"/>
              </a:lnSpc>
              <a:buFont typeface="Arial"/>
              <a:buChar char="•"/>
            </a:pPr>
            <a:r>
              <a:rPr lang="en-US" sz="3699">
                <a:solidFill>
                  <a:srgbClr val="000000"/>
                </a:solidFill>
                <a:latin typeface="Times New Roman"/>
              </a:rPr>
              <a:t>Efficient data management.</a:t>
            </a:r>
          </a:p>
          <a:p>
            <a:pPr marL="798829" lvl="1" indent="-399415" algn="l">
              <a:lnSpc>
                <a:spcPts val="5179"/>
              </a:lnSpc>
              <a:buFont typeface="Arial"/>
              <a:buChar char="•"/>
            </a:pPr>
            <a:r>
              <a:rPr lang="en-US" sz="3699">
                <a:solidFill>
                  <a:srgbClr val="000000"/>
                </a:solidFill>
                <a:latin typeface="Times New Roman"/>
              </a:rPr>
              <a:t>Energy savings.</a:t>
            </a:r>
          </a:p>
          <a:p>
            <a:pPr marL="798829" lvl="1" indent="-399415" algn="l">
              <a:lnSpc>
                <a:spcPts val="5179"/>
              </a:lnSpc>
              <a:buFont typeface="Arial"/>
              <a:buChar char="•"/>
            </a:pPr>
            <a:r>
              <a:rPr lang="en-US" sz="3699">
                <a:solidFill>
                  <a:srgbClr val="000000"/>
                </a:solidFill>
                <a:latin typeface="Times New Roman"/>
              </a:rPr>
              <a:t>Personalized guest services.</a:t>
            </a:r>
          </a:p>
          <a:p>
            <a:pPr marL="798829" lvl="1" indent="-399415" algn="l">
              <a:lnSpc>
                <a:spcPts val="5179"/>
              </a:lnSpc>
              <a:buFont typeface="Arial"/>
              <a:buChar char="•"/>
            </a:pPr>
            <a:r>
              <a:rPr lang="en-US" sz="3699">
                <a:solidFill>
                  <a:srgbClr val="000000"/>
                </a:solidFill>
                <a:latin typeface="Times New Roman"/>
              </a:rPr>
              <a:t>Enhanced security with sensors.</a:t>
            </a:r>
          </a:p>
          <a:p>
            <a:pPr marL="798829" lvl="1" indent="-399415" algn="l">
              <a:lnSpc>
                <a:spcPts val="5179"/>
              </a:lnSpc>
              <a:buFont typeface="Arial"/>
              <a:buChar char="•"/>
            </a:pPr>
            <a:r>
              <a:rPr lang="en-US" sz="3699">
                <a:solidFill>
                  <a:srgbClr val="000000"/>
                </a:solidFill>
                <a:latin typeface="Times New Roman"/>
              </a:rPr>
              <a:t>Surveillance cameras.</a:t>
            </a:r>
          </a:p>
        </p:txBody>
      </p:sp>
      <p:sp>
        <p:nvSpPr>
          <p:cNvPr id="6" name="TextBox 6"/>
          <p:cNvSpPr txBox="1"/>
          <p:nvPr/>
        </p:nvSpPr>
        <p:spPr>
          <a:xfrm>
            <a:off x="10642066" y="885825"/>
            <a:ext cx="7398303" cy="5963920"/>
          </a:xfrm>
          <a:prstGeom prst="rect">
            <a:avLst/>
          </a:prstGeom>
        </p:spPr>
        <p:txBody>
          <a:bodyPr lIns="0" tIns="0" rIns="0" bIns="0" rtlCol="0" anchor="t">
            <a:spAutoFit/>
          </a:bodyPr>
          <a:lstStyle/>
          <a:p>
            <a:pPr marL="798829" lvl="1" indent="-399415" algn="just">
              <a:lnSpc>
                <a:spcPts val="5179"/>
              </a:lnSpc>
              <a:buFont typeface="Arial"/>
              <a:buChar char="•"/>
            </a:pPr>
            <a:r>
              <a:rPr lang="en-US" sz="3699">
                <a:solidFill>
                  <a:srgbClr val="000000"/>
                </a:solidFill>
                <a:latin typeface="Times New Roman"/>
              </a:rPr>
              <a:t>Investment is needed for equipment, installation, and staff training. </a:t>
            </a:r>
          </a:p>
          <a:p>
            <a:pPr algn="just">
              <a:lnSpc>
                <a:spcPts val="5179"/>
              </a:lnSpc>
            </a:pPr>
            <a:endParaRPr lang="en-US" sz="3699">
              <a:solidFill>
                <a:srgbClr val="000000"/>
              </a:solidFill>
              <a:latin typeface="Times New Roman"/>
            </a:endParaRPr>
          </a:p>
          <a:p>
            <a:pPr marL="798829" lvl="1" indent="-399415" algn="just">
              <a:lnSpc>
                <a:spcPts val="5179"/>
              </a:lnSpc>
              <a:buFont typeface="Arial"/>
              <a:buChar char="•"/>
            </a:pPr>
            <a:r>
              <a:rPr lang="en-US" sz="3699">
                <a:solidFill>
                  <a:srgbClr val="000000"/>
                </a:solidFill>
                <a:latin typeface="Times New Roman"/>
              </a:rPr>
              <a:t>Security poses a major challenge</a:t>
            </a:r>
          </a:p>
          <a:p>
            <a:pPr algn="just">
              <a:lnSpc>
                <a:spcPts val="5179"/>
              </a:lnSpc>
            </a:pPr>
            <a:endParaRPr lang="en-US" sz="3699">
              <a:solidFill>
                <a:srgbClr val="000000"/>
              </a:solidFill>
              <a:latin typeface="Times New Roman"/>
            </a:endParaRPr>
          </a:p>
          <a:p>
            <a:pPr marL="798829" lvl="1" indent="-399415" algn="just">
              <a:lnSpc>
                <a:spcPts val="5179"/>
              </a:lnSpc>
              <a:buFont typeface="Arial"/>
              <a:buChar char="•"/>
            </a:pPr>
            <a:r>
              <a:rPr lang="en-US" sz="3699">
                <a:solidFill>
                  <a:srgbClr val="000000"/>
                </a:solidFill>
                <a:latin typeface="Times New Roman"/>
              </a:rPr>
              <a:t>Risking operational disruptions , affecting the customer experience and hotel operations.</a:t>
            </a:r>
          </a:p>
        </p:txBody>
      </p:sp>
      <p:sp>
        <p:nvSpPr>
          <p:cNvPr id="7" name="TextBox 7"/>
          <p:cNvSpPr txBox="1"/>
          <p:nvPr/>
        </p:nvSpPr>
        <p:spPr>
          <a:xfrm>
            <a:off x="13560112" y="7395959"/>
            <a:ext cx="4309398" cy="2134895"/>
          </a:xfrm>
          <a:prstGeom prst="rect">
            <a:avLst/>
          </a:prstGeom>
        </p:spPr>
        <p:txBody>
          <a:bodyPr lIns="0" tIns="0" rIns="0" bIns="0" rtlCol="0" anchor="t">
            <a:spAutoFit/>
          </a:bodyPr>
          <a:lstStyle/>
          <a:p>
            <a:pPr algn="ctr">
              <a:lnSpc>
                <a:spcPts val="15678"/>
              </a:lnSpc>
              <a:spcBef>
                <a:spcPct val="0"/>
              </a:spcBef>
            </a:pPr>
            <a:r>
              <a:rPr lang="en-US" sz="11199">
                <a:solidFill>
                  <a:srgbClr val="000000"/>
                </a:solidFill>
                <a:latin typeface="Times New Roman Bold"/>
              </a:rPr>
              <a:t>Cons:</a:t>
            </a:r>
          </a:p>
        </p:txBody>
      </p:sp>
      <p:sp>
        <p:nvSpPr>
          <p:cNvPr id="8" name="Freeform 8"/>
          <p:cNvSpPr/>
          <p:nvPr/>
        </p:nvSpPr>
        <p:spPr>
          <a:xfrm>
            <a:off x="165833" y="245209"/>
            <a:ext cx="2196367" cy="1088291"/>
          </a:xfrm>
          <a:custGeom>
            <a:avLst/>
            <a:gdLst/>
            <a:ahLst/>
            <a:cxnLst/>
            <a:rect l="l" t="t" r="r" b="b"/>
            <a:pathLst>
              <a:path w="2337559" h="1281232">
                <a:moveTo>
                  <a:pt x="0" y="0"/>
                </a:moveTo>
                <a:lnTo>
                  <a:pt x="2337559" y="0"/>
                </a:lnTo>
                <a:lnTo>
                  <a:pt x="2337559" y="1281232"/>
                </a:lnTo>
                <a:lnTo>
                  <a:pt x="0" y="1281232"/>
                </a:lnTo>
                <a:lnTo>
                  <a:pt x="0" y="0"/>
                </a:lnTo>
                <a:close/>
              </a:path>
            </a:pathLst>
          </a:custGeom>
          <a:blipFill>
            <a:blip r:embed="rId2"/>
            <a:stretch>
              <a:fillRect t="-993" r="-757" b="-993"/>
            </a:stretch>
          </a:blipFill>
        </p:spPr>
        <p:txBody>
          <a:bodyPr/>
          <a:lstStyle/>
          <a:p>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5143500"/>
            <a:ext cx="9144000" cy="5673928"/>
            <a:chOff x="0" y="0"/>
            <a:chExt cx="2408296" cy="1494368"/>
          </a:xfrm>
        </p:grpSpPr>
        <p:sp>
          <p:nvSpPr>
            <p:cNvPr id="3" name="Freeform 3"/>
            <p:cNvSpPr/>
            <p:nvPr/>
          </p:nvSpPr>
          <p:spPr>
            <a:xfrm>
              <a:off x="0" y="0"/>
              <a:ext cx="2408296" cy="1494368"/>
            </a:xfrm>
            <a:custGeom>
              <a:avLst/>
              <a:gdLst/>
              <a:ahLst/>
              <a:cxnLst/>
              <a:rect l="l" t="t" r="r" b="b"/>
              <a:pathLst>
                <a:path w="2408296" h="1494368">
                  <a:moveTo>
                    <a:pt x="0" y="0"/>
                  </a:moveTo>
                  <a:lnTo>
                    <a:pt x="2408296" y="0"/>
                  </a:lnTo>
                  <a:lnTo>
                    <a:pt x="2408296" y="1494368"/>
                  </a:lnTo>
                  <a:lnTo>
                    <a:pt x="0" y="1494368"/>
                  </a:lnTo>
                  <a:close/>
                </a:path>
              </a:pathLst>
            </a:custGeom>
            <a:solidFill>
              <a:srgbClr val="FFDFE1"/>
            </a:solidFill>
          </p:spPr>
          <p:txBody>
            <a:bodyPr/>
            <a:lstStyle/>
            <a:p>
              <a:endParaRPr lang="en-US"/>
            </a:p>
          </p:txBody>
        </p:sp>
        <p:sp>
          <p:nvSpPr>
            <p:cNvPr id="4" name="TextBox 4"/>
            <p:cNvSpPr txBox="1"/>
            <p:nvPr/>
          </p:nvSpPr>
          <p:spPr>
            <a:xfrm>
              <a:off x="0" y="-47625"/>
              <a:ext cx="2408296" cy="1541993"/>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9144000" y="0"/>
            <a:ext cx="9144000" cy="5143500"/>
            <a:chOff x="0" y="0"/>
            <a:chExt cx="2408296" cy="1354667"/>
          </a:xfrm>
        </p:grpSpPr>
        <p:sp>
          <p:nvSpPr>
            <p:cNvPr id="6" name="Freeform 6"/>
            <p:cNvSpPr/>
            <p:nvPr/>
          </p:nvSpPr>
          <p:spPr>
            <a:xfrm>
              <a:off x="0" y="0"/>
              <a:ext cx="2408296" cy="1354667"/>
            </a:xfrm>
            <a:custGeom>
              <a:avLst/>
              <a:gdLst/>
              <a:ahLst/>
              <a:cxnLst/>
              <a:rect l="l" t="t" r="r" b="b"/>
              <a:pathLst>
                <a:path w="2408296" h="1354667">
                  <a:moveTo>
                    <a:pt x="0" y="0"/>
                  </a:moveTo>
                  <a:lnTo>
                    <a:pt x="2408296" y="0"/>
                  </a:lnTo>
                  <a:lnTo>
                    <a:pt x="2408296" y="1354667"/>
                  </a:lnTo>
                  <a:lnTo>
                    <a:pt x="0" y="1354667"/>
                  </a:lnTo>
                  <a:close/>
                </a:path>
              </a:pathLst>
            </a:custGeom>
            <a:solidFill>
              <a:srgbClr val="FFDFE1"/>
            </a:solidFill>
          </p:spPr>
          <p:txBody>
            <a:bodyPr/>
            <a:lstStyle/>
            <a:p>
              <a:endParaRPr lang="en-US"/>
            </a:p>
          </p:txBody>
        </p:sp>
        <p:sp>
          <p:nvSpPr>
            <p:cNvPr id="7" name="TextBox 7"/>
            <p:cNvSpPr txBox="1"/>
            <p:nvPr/>
          </p:nvSpPr>
          <p:spPr>
            <a:xfrm>
              <a:off x="0" y="-47625"/>
              <a:ext cx="2408296" cy="1402292"/>
            </a:xfrm>
            <a:prstGeom prst="rect">
              <a:avLst/>
            </a:prstGeom>
          </p:spPr>
          <p:txBody>
            <a:bodyPr lIns="50800" tIns="50800" rIns="50800" bIns="50800" rtlCol="0" anchor="ctr"/>
            <a:lstStyle/>
            <a:p>
              <a:pPr algn="ctr">
                <a:lnSpc>
                  <a:spcPts val="3359"/>
                </a:lnSpc>
              </a:pPr>
              <a:endParaRPr/>
            </a:p>
          </p:txBody>
        </p:sp>
      </p:grpSp>
      <p:sp>
        <p:nvSpPr>
          <p:cNvPr id="8" name="TextBox 8"/>
          <p:cNvSpPr txBox="1"/>
          <p:nvPr/>
        </p:nvSpPr>
        <p:spPr>
          <a:xfrm>
            <a:off x="455071" y="2087148"/>
            <a:ext cx="8233859" cy="2324100"/>
          </a:xfrm>
          <a:prstGeom prst="rect">
            <a:avLst/>
          </a:prstGeom>
        </p:spPr>
        <p:txBody>
          <a:bodyPr lIns="0" tIns="0" rIns="0" bIns="0" rtlCol="0" anchor="t">
            <a:spAutoFit/>
          </a:bodyPr>
          <a:lstStyle/>
          <a:p>
            <a:pPr algn="l">
              <a:lnSpc>
                <a:spcPts val="4559"/>
              </a:lnSpc>
            </a:pPr>
            <a:r>
              <a:rPr lang="en-US" sz="3799">
                <a:solidFill>
                  <a:srgbClr val="000000"/>
                </a:solidFill>
                <a:latin typeface="Times New Roman Bold"/>
              </a:rPr>
              <a:t>Significant Advancement:</a:t>
            </a:r>
            <a:r>
              <a:rPr lang="en-US" sz="3799">
                <a:solidFill>
                  <a:srgbClr val="000000"/>
                </a:solidFill>
                <a:latin typeface="Times New Roman"/>
              </a:rPr>
              <a:t> IoT optimizes operations and enhances customer experience.</a:t>
            </a:r>
          </a:p>
          <a:p>
            <a:pPr algn="just">
              <a:lnSpc>
                <a:spcPts val="4217"/>
              </a:lnSpc>
            </a:pPr>
            <a:endParaRPr lang="en-US" sz="3799">
              <a:solidFill>
                <a:srgbClr val="000000"/>
              </a:solidFill>
              <a:latin typeface="Times New Roman"/>
            </a:endParaRPr>
          </a:p>
        </p:txBody>
      </p:sp>
      <p:sp>
        <p:nvSpPr>
          <p:cNvPr id="9" name="TextBox 9"/>
          <p:cNvSpPr txBox="1"/>
          <p:nvPr/>
        </p:nvSpPr>
        <p:spPr>
          <a:xfrm>
            <a:off x="9297365" y="2087148"/>
            <a:ext cx="8837271" cy="1819275"/>
          </a:xfrm>
          <a:prstGeom prst="rect">
            <a:avLst/>
          </a:prstGeom>
        </p:spPr>
        <p:txBody>
          <a:bodyPr lIns="0" tIns="0" rIns="0" bIns="0" rtlCol="0" anchor="t">
            <a:spAutoFit/>
          </a:bodyPr>
          <a:lstStyle/>
          <a:p>
            <a:pPr algn="l">
              <a:lnSpc>
                <a:spcPts val="4630"/>
              </a:lnSpc>
            </a:pPr>
            <a:r>
              <a:rPr lang="en-US" sz="3858">
                <a:solidFill>
                  <a:srgbClr val="000000"/>
                </a:solidFill>
                <a:latin typeface="Times New Roman Bold"/>
              </a:rPr>
              <a:t>Careful Implementation Required: </a:t>
            </a:r>
            <a:r>
              <a:rPr lang="en-US" sz="3858">
                <a:solidFill>
                  <a:srgbClr val="000000"/>
                </a:solidFill>
                <a:latin typeface="Times New Roman"/>
              </a:rPr>
              <a:t>System deployment and management need careful attention for success.</a:t>
            </a:r>
          </a:p>
        </p:txBody>
      </p:sp>
      <p:sp>
        <p:nvSpPr>
          <p:cNvPr id="10" name="TextBox 10"/>
          <p:cNvSpPr txBox="1"/>
          <p:nvPr/>
        </p:nvSpPr>
        <p:spPr>
          <a:xfrm>
            <a:off x="319429" y="6975577"/>
            <a:ext cx="9131300" cy="2020570"/>
          </a:xfrm>
          <a:prstGeom prst="rect">
            <a:avLst/>
          </a:prstGeom>
        </p:spPr>
        <p:txBody>
          <a:bodyPr lIns="0" tIns="0" rIns="0" bIns="0" rtlCol="0" anchor="t">
            <a:spAutoFit/>
          </a:bodyPr>
          <a:lstStyle/>
          <a:p>
            <a:pPr algn="l">
              <a:lnSpc>
                <a:spcPts val="5179"/>
              </a:lnSpc>
              <a:spcBef>
                <a:spcPct val="0"/>
              </a:spcBef>
            </a:pPr>
            <a:r>
              <a:rPr lang="en-US" sz="3699">
                <a:solidFill>
                  <a:srgbClr val="000000"/>
                </a:solidFill>
                <a:latin typeface="Times New Roman Bold"/>
              </a:rPr>
              <a:t>Technology &amp; Customer Demands:</a:t>
            </a:r>
            <a:r>
              <a:rPr lang="en-US" sz="3699">
                <a:solidFill>
                  <a:srgbClr val="000000"/>
                </a:solidFill>
                <a:latin typeface="Times New Roman"/>
              </a:rPr>
              <a:t> IoT is essential for competitiveness due to tech advancements and customer expectations.</a:t>
            </a:r>
          </a:p>
        </p:txBody>
      </p:sp>
      <p:sp>
        <p:nvSpPr>
          <p:cNvPr id="11" name="TextBox 11"/>
          <p:cNvSpPr txBox="1"/>
          <p:nvPr/>
        </p:nvSpPr>
        <p:spPr>
          <a:xfrm>
            <a:off x="9962742" y="6580505"/>
            <a:ext cx="7813246" cy="2677795"/>
          </a:xfrm>
          <a:prstGeom prst="rect">
            <a:avLst/>
          </a:prstGeom>
        </p:spPr>
        <p:txBody>
          <a:bodyPr lIns="0" tIns="0" rIns="0" bIns="0" rtlCol="0" anchor="t">
            <a:spAutoFit/>
          </a:bodyPr>
          <a:lstStyle/>
          <a:p>
            <a:pPr algn="l">
              <a:lnSpc>
                <a:spcPts val="5179"/>
              </a:lnSpc>
              <a:spcBef>
                <a:spcPct val="0"/>
              </a:spcBef>
            </a:pPr>
            <a:r>
              <a:rPr lang="en-US" sz="3699">
                <a:solidFill>
                  <a:srgbClr val="000000"/>
                </a:solidFill>
                <a:latin typeface="Times New Roman Bold"/>
              </a:rPr>
              <a:t>Investment Necessary:</a:t>
            </a:r>
            <a:r>
              <a:rPr lang="en-US" sz="3699">
                <a:solidFill>
                  <a:srgbClr val="000000"/>
                </a:solidFill>
                <a:latin typeface="Times New Roman"/>
              </a:rPr>
              <a:t> Hotels need to invest in finances, knowledge, and resources for effective system management and protection.</a:t>
            </a:r>
          </a:p>
        </p:txBody>
      </p:sp>
      <p:sp>
        <p:nvSpPr>
          <p:cNvPr id="12" name="TextBox 12"/>
          <p:cNvSpPr txBox="1"/>
          <p:nvPr/>
        </p:nvSpPr>
        <p:spPr>
          <a:xfrm>
            <a:off x="6722436" y="4686300"/>
            <a:ext cx="5456585" cy="819150"/>
          </a:xfrm>
          <a:prstGeom prst="rect">
            <a:avLst/>
          </a:prstGeom>
        </p:spPr>
        <p:txBody>
          <a:bodyPr lIns="0" tIns="0" rIns="0" bIns="0" rtlCol="0" anchor="t">
            <a:spAutoFit/>
          </a:bodyPr>
          <a:lstStyle/>
          <a:p>
            <a:pPr algn="l">
              <a:lnSpc>
                <a:spcPts val="5759"/>
              </a:lnSpc>
            </a:pPr>
            <a:r>
              <a:rPr lang="en-US" sz="4799">
                <a:solidFill>
                  <a:srgbClr val="FF5660"/>
                </a:solidFill>
                <a:latin typeface="Times New Roman Bold"/>
              </a:rPr>
              <a:t>IoT in Hotel Systems</a:t>
            </a:r>
          </a:p>
        </p:txBody>
      </p:sp>
      <p:sp>
        <p:nvSpPr>
          <p:cNvPr id="13" name="Freeform 13"/>
          <p:cNvSpPr/>
          <p:nvPr/>
        </p:nvSpPr>
        <p:spPr>
          <a:xfrm>
            <a:off x="319429" y="276103"/>
            <a:ext cx="2105100" cy="1153820"/>
          </a:xfrm>
          <a:custGeom>
            <a:avLst/>
            <a:gdLst/>
            <a:ahLst/>
            <a:cxnLst/>
            <a:rect l="l" t="t" r="r" b="b"/>
            <a:pathLst>
              <a:path w="2105100" h="1153820">
                <a:moveTo>
                  <a:pt x="0" y="0"/>
                </a:moveTo>
                <a:lnTo>
                  <a:pt x="2105100" y="0"/>
                </a:lnTo>
                <a:lnTo>
                  <a:pt x="2105100" y="1153820"/>
                </a:lnTo>
                <a:lnTo>
                  <a:pt x="0" y="1153820"/>
                </a:lnTo>
                <a:lnTo>
                  <a:pt x="0" y="0"/>
                </a:lnTo>
                <a:close/>
              </a:path>
            </a:pathLst>
          </a:custGeom>
          <a:blipFill>
            <a:blip r:embed="rId2"/>
            <a:stretch>
              <a:fillRect t="-993" r="-757" b="-993"/>
            </a:stretch>
          </a:blipFill>
        </p:spPr>
        <p:txBody>
          <a:bodyPr/>
          <a:lstStyle/>
          <a:p>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C7C7"/>
        </a:solidFill>
        <a:effectLst/>
      </p:bgPr>
    </p:bg>
    <p:spTree>
      <p:nvGrpSpPr>
        <p:cNvPr id="1" name=""/>
        <p:cNvGrpSpPr/>
        <p:nvPr/>
      </p:nvGrpSpPr>
      <p:grpSpPr>
        <a:xfrm>
          <a:off x="0" y="0"/>
          <a:ext cx="0" cy="0"/>
          <a:chOff x="0" y="0"/>
          <a:chExt cx="0" cy="0"/>
        </a:xfrm>
      </p:grpSpPr>
      <p:sp>
        <p:nvSpPr>
          <p:cNvPr id="2" name="TextBox 2"/>
          <p:cNvSpPr txBox="1"/>
          <p:nvPr/>
        </p:nvSpPr>
        <p:spPr>
          <a:xfrm>
            <a:off x="873315" y="3877133"/>
            <a:ext cx="16541370" cy="3248025"/>
          </a:xfrm>
          <a:prstGeom prst="rect">
            <a:avLst/>
          </a:prstGeom>
        </p:spPr>
        <p:txBody>
          <a:bodyPr lIns="0" tIns="0" rIns="0" bIns="0" rtlCol="0" anchor="t">
            <a:spAutoFit/>
          </a:bodyPr>
          <a:lstStyle/>
          <a:p>
            <a:pPr algn="ctr">
              <a:lnSpc>
                <a:spcPts val="22799"/>
              </a:lnSpc>
            </a:pPr>
            <a:r>
              <a:rPr lang="en-US" sz="18999">
                <a:solidFill>
                  <a:srgbClr val="000000"/>
                </a:solidFill>
                <a:latin typeface="Times New Roman"/>
              </a:rPr>
              <a:t>THANK YOU</a:t>
            </a:r>
          </a:p>
        </p:txBody>
      </p:sp>
      <p:pic>
        <p:nvPicPr>
          <p:cNvPr id="3" name="Picture 3"/>
          <p:cNvPicPr>
            <a:picLocks noChangeAspect="1"/>
          </p:cNvPicPr>
          <p:nvPr/>
        </p:nvPicPr>
        <p:blipFill>
          <a:blip r:embed="rId2">
            <a:alphaModFix amt="43000"/>
          </a:blip>
          <a:srcRect l="62989" t="67035"/>
          <a:stretch>
            <a:fillRect/>
          </a:stretch>
        </p:blipFill>
        <p:spPr>
          <a:xfrm rot="5400000">
            <a:off x="-1127768" y="6994003"/>
            <a:ext cx="4312936" cy="3841377"/>
          </a:xfrm>
          <a:prstGeom prst="rect">
            <a:avLst/>
          </a:prstGeom>
        </p:spPr>
      </p:pic>
      <p:pic>
        <p:nvPicPr>
          <p:cNvPr id="4" name="Picture 4"/>
          <p:cNvPicPr>
            <a:picLocks noChangeAspect="1"/>
          </p:cNvPicPr>
          <p:nvPr/>
        </p:nvPicPr>
        <p:blipFill>
          <a:blip r:embed="rId3">
            <a:alphaModFix amt="42000"/>
          </a:blip>
          <a:srcRect/>
          <a:stretch>
            <a:fillRect/>
          </a:stretch>
        </p:blipFill>
        <p:spPr>
          <a:xfrm>
            <a:off x="11640279" y="-4239083"/>
            <a:ext cx="8152651" cy="847816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1902</Words>
  <Application>Microsoft Office PowerPoint</Application>
  <PresentationFormat>Custom</PresentationFormat>
  <Paragraphs>343</Paragraphs>
  <Slides>45</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45</vt:i4>
      </vt:variant>
    </vt:vector>
  </HeadingPairs>
  <TitlesOfParts>
    <vt:vector size="58" baseType="lpstr">
      <vt:lpstr>Times New Roman</vt:lpstr>
      <vt:lpstr>Times New Roman Bold</vt:lpstr>
      <vt:lpstr>DM Sans</vt:lpstr>
      <vt:lpstr>Muli Bold</vt:lpstr>
      <vt:lpstr>Arial</vt:lpstr>
      <vt:lpstr>Calibri</vt:lpstr>
      <vt:lpstr>Muli</vt:lpstr>
      <vt:lpstr>Times New Roman Bold Italics</vt:lpstr>
      <vt:lpstr>Muli Semi-Bold</vt:lpstr>
      <vt:lpstr>Times New Roman </vt:lpstr>
      <vt:lpstr>Times New Roman Semi-Bold</vt:lpstr>
      <vt:lpstr>Times New Roman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Tím Khối Đường chéo Đề xuất Bán hàng Bản thuyết trình Bán hàng</dc:title>
  <cp:lastModifiedBy>Pham Tran Tien Phat</cp:lastModifiedBy>
  <cp:revision>3</cp:revision>
  <dcterms:created xsi:type="dcterms:W3CDTF">2006-08-16T00:00:00Z</dcterms:created>
  <dcterms:modified xsi:type="dcterms:W3CDTF">2024-05-12T09:00:27Z</dcterms:modified>
  <dc:identifier>DAGE1iecEM0</dc:identifier>
</cp:coreProperties>
</file>