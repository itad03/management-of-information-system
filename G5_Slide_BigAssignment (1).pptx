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Muli" panose="020B0604020202020204" charset="0"/>
      <p:regular r:id="rId8"/>
    </p:embeddedFont>
    <p:embeddedFont>
      <p:font typeface="Muli Bold" panose="020B0604020202020204" charset="0"/>
      <p:regular r:id="rId9"/>
    </p:embeddedFont>
    <p:embeddedFont>
      <p:font typeface="Muli Light" panose="020B0604020202020204" charset="0"/>
      <p:regular r:id="rId10"/>
    </p:embeddedFont>
    <p:embeddedFont>
      <p:font typeface="Muli Ultra-Bold" panose="020B0604020202020204" charset="0"/>
      <p:regular r:id="rId11"/>
    </p:embeddedFont>
    <p:embeddedFont>
      <p:font typeface="Muli Ultra-Bold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28615" y="6254771"/>
            <a:ext cx="4669293" cy="3729921"/>
            <a:chOff x="0" y="0"/>
            <a:chExt cx="6225724" cy="4973228"/>
          </a:xfrm>
        </p:grpSpPr>
        <p:sp>
          <p:nvSpPr>
            <p:cNvPr id="3" name="TextBox 3"/>
            <p:cNvSpPr txBox="1"/>
            <p:nvPr/>
          </p:nvSpPr>
          <p:spPr>
            <a:xfrm>
              <a:off x="0" y="-57150"/>
              <a:ext cx="6225724" cy="32021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863"/>
                </a:lnSpc>
              </a:pPr>
              <a:r>
                <a:rPr lang="en-US" sz="2760" spc="154">
                  <a:solidFill>
                    <a:srgbClr val="000000"/>
                  </a:solidFill>
                  <a:latin typeface="Muli Light"/>
                </a:rPr>
                <a:t>The current biggest competitor is </a:t>
              </a:r>
              <a:r>
                <a:rPr lang="en-US" sz="2760" spc="154">
                  <a:solidFill>
                    <a:srgbClr val="000000"/>
                  </a:solidFill>
                  <a:latin typeface="Muli Bold"/>
                </a:rPr>
                <a:t>Shopee. </a:t>
              </a:r>
            </a:p>
            <a:p>
              <a:pPr algn="just">
                <a:lnSpc>
                  <a:spcPts val="3863"/>
                </a:lnSpc>
              </a:pPr>
              <a:endParaRPr lang="en-US" sz="2760" spc="154">
                <a:solidFill>
                  <a:srgbClr val="000000"/>
                </a:solidFill>
                <a:latin typeface="Muli Bold"/>
              </a:endParaRPr>
            </a:p>
            <a:p>
              <a:pPr algn="just">
                <a:lnSpc>
                  <a:spcPts val="3863"/>
                </a:lnSpc>
              </a:pPr>
              <a:r>
                <a:rPr lang="en-US" sz="2760" spc="154">
                  <a:solidFill>
                    <a:srgbClr val="000000"/>
                  </a:solidFill>
                  <a:latin typeface="Muli Bold"/>
                </a:rPr>
                <a:t>TikTok Shop</a:t>
              </a:r>
              <a:r>
                <a:rPr lang="en-US" sz="2760" spc="154">
                  <a:solidFill>
                    <a:srgbClr val="000000"/>
                  </a:solidFill>
                  <a:latin typeface="Muli Light"/>
                </a:rPr>
                <a:t> also have a tend to ovecome. 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2184627" y="3145028"/>
              <a:ext cx="1856470" cy="1828200"/>
            </a:xfrm>
            <a:custGeom>
              <a:avLst/>
              <a:gdLst/>
              <a:ahLst/>
              <a:cxnLst/>
              <a:rect l="l" t="t" r="r" b="b"/>
              <a:pathLst>
                <a:path w="1856470" h="1828200">
                  <a:moveTo>
                    <a:pt x="0" y="0"/>
                  </a:moveTo>
                  <a:lnTo>
                    <a:pt x="1856470" y="0"/>
                  </a:lnTo>
                  <a:lnTo>
                    <a:pt x="1856470" y="1828200"/>
                  </a:lnTo>
                  <a:lnTo>
                    <a:pt x="0" y="182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134" b="-31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4294930" y="3145028"/>
              <a:ext cx="1631753" cy="1786596"/>
            </a:xfrm>
            <a:custGeom>
              <a:avLst/>
              <a:gdLst/>
              <a:ahLst/>
              <a:cxnLst/>
              <a:rect l="l" t="t" r="r" b="b"/>
              <a:pathLst>
                <a:path w="1631753" h="1786596">
                  <a:moveTo>
                    <a:pt x="0" y="0"/>
                  </a:moveTo>
                  <a:lnTo>
                    <a:pt x="1631753" y="0"/>
                  </a:lnTo>
                  <a:lnTo>
                    <a:pt x="1631753" y="1786596"/>
                  </a:lnTo>
                  <a:lnTo>
                    <a:pt x="0" y="1786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051" b="-405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7283549" y="5413587"/>
            <a:ext cx="5749035" cy="4873413"/>
          </a:xfrm>
          <a:custGeom>
            <a:avLst/>
            <a:gdLst/>
            <a:ahLst/>
            <a:cxnLst/>
            <a:rect l="l" t="t" r="r" b="b"/>
            <a:pathLst>
              <a:path w="5749035" h="4873413">
                <a:moveTo>
                  <a:pt x="0" y="0"/>
                </a:moveTo>
                <a:lnTo>
                  <a:pt x="5749036" y="0"/>
                </a:lnTo>
                <a:lnTo>
                  <a:pt x="5749036" y="4873413"/>
                </a:lnTo>
                <a:lnTo>
                  <a:pt x="0" y="48734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503082" y="4573905"/>
            <a:ext cx="6112173" cy="5337175"/>
            <a:chOff x="0" y="0"/>
            <a:chExt cx="8149564" cy="71162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49564" cy="6245860"/>
            </a:xfrm>
            <a:custGeom>
              <a:avLst/>
              <a:gdLst/>
              <a:ahLst/>
              <a:cxnLst/>
              <a:rect l="l" t="t" r="r" b="b"/>
              <a:pathLst>
                <a:path w="8149564" h="6245860">
                  <a:moveTo>
                    <a:pt x="0" y="0"/>
                  </a:moveTo>
                  <a:lnTo>
                    <a:pt x="8149564" y="0"/>
                  </a:lnTo>
                  <a:lnTo>
                    <a:pt x="8149564" y="6245860"/>
                  </a:lnTo>
                  <a:lnTo>
                    <a:pt x="0" y="62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6223" y="6503035"/>
              <a:ext cx="6267460" cy="6131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 spc="14">
                  <a:solidFill>
                    <a:srgbClr val="000000"/>
                  </a:solidFill>
                  <a:latin typeface="Muli"/>
                </a:rPr>
                <a:t>The First Quarter of 2024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968656" y="4307917"/>
            <a:ext cx="10127856" cy="958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64"/>
              </a:lnSpc>
            </a:pPr>
            <a:r>
              <a:rPr lang="en-US" sz="2760" spc="13">
                <a:solidFill>
                  <a:srgbClr val="000000"/>
                </a:solidFill>
                <a:latin typeface="Muli Bold"/>
              </a:rPr>
              <a:t>Lazada </a:t>
            </a:r>
            <a:r>
              <a:rPr lang="en-US" sz="2760" spc="13">
                <a:solidFill>
                  <a:srgbClr val="000000"/>
                </a:solidFill>
                <a:latin typeface="Muli Light"/>
              </a:rPr>
              <a:t>is one of the giants in e-commerce of Southeast Asia.</a:t>
            </a:r>
          </a:p>
          <a:p>
            <a:pPr algn="just">
              <a:lnSpc>
                <a:spcPts val="3864"/>
              </a:lnSpc>
            </a:pPr>
            <a:r>
              <a:rPr lang="en-US" sz="2760" spc="13">
                <a:solidFill>
                  <a:srgbClr val="000000"/>
                </a:solidFill>
                <a:latin typeface="Muli Bold"/>
              </a:rPr>
              <a:t>B2B2C</a:t>
            </a:r>
            <a:r>
              <a:rPr lang="en-US" sz="2760" spc="13">
                <a:solidFill>
                  <a:srgbClr val="000000"/>
                </a:solidFill>
                <a:latin typeface="Muli Light"/>
              </a:rPr>
              <a:t> is Lazada's current business model.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785330" y="145320"/>
            <a:ext cx="6988298" cy="4067346"/>
          </a:xfrm>
          <a:custGeom>
            <a:avLst/>
            <a:gdLst/>
            <a:ahLst/>
            <a:cxnLst/>
            <a:rect l="l" t="t" r="r" b="b"/>
            <a:pathLst>
              <a:path w="6988298" h="4067346">
                <a:moveTo>
                  <a:pt x="0" y="0"/>
                </a:moveTo>
                <a:lnTo>
                  <a:pt x="6988298" y="0"/>
                </a:lnTo>
                <a:lnTo>
                  <a:pt x="6988298" y="4067347"/>
                </a:lnTo>
                <a:lnTo>
                  <a:pt x="0" y="40673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503082" y="3254071"/>
            <a:ext cx="7005900" cy="958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63"/>
              </a:lnSpc>
            </a:pPr>
            <a:r>
              <a:rPr lang="en-US" sz="2760" spc="13">
                <a:solidFill>
                  <a:srgbClr val="000000"/>
                </a:solidFill>
                <a:latin typeface="Muli Bold"/>
              </a:rPr>
              <a:t>Vietnam</a:t>
            </a:r>
            <a:r>
              <a:rPr lang="en-US" sz="2760" spc="13">
                <a:solidFill>
                  <a:srgbClr val="000000"/>
                </a:solidFill>
                <a:latin typeface="Muli Light"/>
              </a:rPr>
              <a:t> is the </a:t>
            </a:r>
            <a:r>
              <a:rPr lang="en-US" sz="2760" spc="13">
                <a:solidFill>
                  <a:srgbClr val="000000"/>
                </a:solidFill>
                <a:latin typeface="Muli Bold"/>
              </a:rPr>
              <a:t>second largest market</a:t>
            </a:r>
            <a:r>
              <a:rPr lang="en-US" sz="2760" spc="13">
                <a:solidFill>
                  <a:srgbClr val="000000"/>
                </a:solidFill>
                <a:latin typeface="Muli Light"/>
              </a:rPr>
              <a:t> in Southeast Asia (second only to Indonesia)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3082" y="482947"/>
            <a:ext cx="5245262" cy="2351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240"/>
              </a:lnSpc>
            </a:pPr>
            <a:r>
              <a:rPr lang="en-US" sz="8400">
                <a:solidFill>
                  <a:srgbClr val="1836B2"/>
                </a:solidFill>
                <a:latin typeface="Muli Bold"/>
              </a:rPr>
              <a:t>Industry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1" grpId="0" animBg="1"/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1206" y="5143500"/>
            <a:ext cx="8963091" cy="4747527"/>
          </a:xfrm>
          <a:custGeom>
            <a:avLst/>
            <a:gdLst/>
            <a:ahLst/>
            <a:cxnLst/>
            <a:rect l="l" t="t" r="r" b="b"/>
            <a:pathLst>
              <a:path w="8963091" h="4747527">
                <a:moveTo>
                  <a:pt x="0" y="0"/>
                </a:moveTo>
                <a:lnTo>
                  <a:pt x="8963091" y="0"/>
                </a:lnTo>
                <a:lnTo>
                  <a:pt x="8963091" y="4747527"/>
                </a:lnTo>
                <a:lnTo>
                  <a:pt x="0" y="4747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835996" y="7717875"/>
            <a:ext cx="8123496" cy="2173152"/>
            <a:chOff x="0" y="0"/>
            <a:chExt cx="10831328" cy="2897537"/>
          </a:xfrm>
        </p:grpSpPr>
        <p:sp>
          <p:nvSpPr>
            <p:cNvPr id="4" name="TextBox 4"/>
            <p:cNvSpPr txBox="1"/>
            <p:nvPr/>
          </p:nvSpPr>
          <p:spPr>
            <a:xfrm>
              <a:off x="0" y="1109165"/>
              <a:ext cx="9596207" cy="1788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41" lvl="1" indent="-280670" algn="just">
                <a:lnSpc>
                  <a:spcPts val="3640"/>
                </a:lnSpc>
                <a:buFont typeface="Arial"/>
                <a:buChar char="•"/>
              </a:pPr>
              <a:r>
                <a:rPr lang="en-US" sz="2600" spc="13">
                  <a:solidFill>
                    <a:srgbClr val="000000"/>
                  </a:solidFill>
                  <a:latin typeface="Muli Light"/>
                </a:rPr>
                <a:t>Cooperates with many reputable sellers.</a:t>
              </a:r>
            </a:p>
            <a:p>
              <a:pPr marL="561341" lvl="1" indent="-280670" algn="just">
                <a:lnSpc>
                  <a:spcPts val="3640"/>
                </a:lnSpc>
                <a:buFont typeface="Arial"/>
                <a:buChar char="•"/>
              </a:pPr>
              <a:r>
                <a:rPr lang="en-US" sz="2600" spc="13">
                  <a:solidFill>
                    <a:srgbClr val="000000"/>
                  </a:solidFill>
                  <a:latin typeface="Muli"/>
                </a:rPr>
                <a:t>S</a:t>
              </a:r>
              <a:r>
                <a:rPr lang="en-US" sz="2600" spc="13">
                  <a:solidFill>
                    <a:srgbClr val="000000"/>
                  </a:solidFill>
                  <a:latin typeface="Muli Light"/>
                </a:rPr>
                <a:t>trictly controls product quality.</a:t>
              </a:r>
            </a:p>
            <a:p>
              <a:pPr algn="just">
                <a:lnSpc>
                  <a:spcPts val="3640"/>
                </a:lnSpc>
              </a:pPr>
              <a:endParaRPr lang="en-US" sz="2600" spc="13">
                <a:solidFill>
                  <a:srgbClr val="000000"/>
                </a:solidFill>
                <a:latin typeface="Muli Light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065" y="0"/>
              <a:ext cx="10763263" cy="711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3500" spc="105">
                  <a:solidFill>
                    <a:srgbClr val="1836B2"/>
                  </a:solidFill>
                  <a:latin typeface="Muli Ultra-Bold"/>
                </a:rPr>
                <a:t> Provides a variety of products: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713181" y="5507808"/>
            <a:ext cx="8195262" cy="2440908"/>
            <a:chOff x="0" y="0"/>
            <a:chExt cx="10927016" cy="3254544"/>
          </a:xfrm>
        </p:grpSpPr>
        <p:sp>
          <p:nvSpPr>
            <p:cNvPr id="7" name="TextBox 7"/>
            <p:cNvSpPr txBox="1"/>
            <p:nvPr/>
          </p:nvSpPr>
          <p:spPr>
            <a:xfrm>
              <a:off x="163753" y="904384"/>
              <a:ext cx="10763263" cy="2350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41" lvl="1" indent="-280670" algn="just">
                <a:lnSpc>
                  <a:spcPts val="3640"/>
                </a:lnSpc>
                <a:buFont typeface="Arial"/>
                <a:buChar char="•"/>
              </a:pPr>
              <a:r>
                <a:rPr lang="en-US" sz="2600" spc="13">
                  <a:solidFill>
                    <a:srgbClr val="000000"/>
                  </a:solidFill>
                  <a:latin typeface="Muli Light"/>
                </a:rPr>
                <a:t>Easy-to-use web interface and application.</a:t>
              </a:r>
            </a:p>
            <a:p>
              <a:pPr marL="561341" lvl="1" indent="-280670" algn="just">
                <a:lnSpc>
                  <a:spcPts val="3640"/>
                </a:lnSpc>
                <a:buFont typeface="Arial"/>
                <a:buChar char="•"/>
              </a:pPr>
              <a:r>
                <a:rPr lang="en-US" sz="2600" spc="13">
                  <a:solidFill>
                    <a:srgbClr val="000000"/>
                  </a:solidFill>
                  <a:latin typeface="Muli"/>
                </a:rPr>
                <a:t>P</a:t>
              </a:r>
              <a:r>
                <a:rPr lang="en-US" sz="2600" spc="13">
                  <a:solidFill>
                    <a:srgbClr val="000000"/>
                  </a:solidFill>
                  <a:latin typeface="Muli Light"/>
                </a:rPr>
                <a:t>rofessional customer service and 24/7 support.</a:t>
              </a:r>
            </a:p>
            <a:p>
              <a:pPr marL="561341" lvl="1" indent="-280670" algn="just">
                <a:lnSpc>
                  <a:spcPts val="3640"/>
                </a:lnSpc>
                <a:buFont typeface="Arial"/>
                <a:buChar char="•"/>
              </a:pPr>
              <a:r>
                <a:rPr lang="en-US" sz="2600" spc="13">
                  <a:solidFill>
                    <a:srgbClr val="000000"/>
                  </a:solidFill>
                  <a:latin typeface="Muli Light"/>
                </a:rPr>
                <a:t>Safe and convenient payment system.</a:t>
              </a:r>
            </a:p>
            <a:p>
              <a:pPr marL="0" lvl="0" indent="0" algn="just">
                <a:lnSpc>
                  <a:spcPts val="3640"/>
                </a:lnSpc>
                <a:spcBef>
                  <a:spcPct val="0"/>
                </a:spcBef>
              </a:pPr>
              <a:endParaRPr lang="en-US" sz="2600" spc="13">
                <a:solidFill>
                  <a:srgbClr val="000000"/>
                </a:solidFill>
                <a:latin typeface="Muli Light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0763263" cy="711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3500" spc="105">
                  <a:solidFill>
                    <a:srgbClr val="1836B2"/>
                  </a:solidFill>
                  <a:latin typeface="Muli Ultra-Bold"/>
                </a:rPr>
                <a:t> Good customer experience: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35996" y="1973398"/>
            <a:ext cx="8092737" cy="3170102"/>
            <a:chOff x="0" y="0"/>
            <a:chExt cx="10790316" cy="4226803"/>
          </a:xfrm>
        </p:grpSpPr>
        <p:sp>
          <p:nvSpPr>
            <p:cNvPr id="10" name="Freeform 10"/>
            <p:cNvSpPr/>
            <p:nvPr/>
          </p:nvSpPr>
          <p:spPr>
            <a:xfrm>
              <a:off x="1811657" y="2186817"/>
              <a:ext cx="7139949" cy="2039985"/>
            </a:xfrm>
            <a:custGeom>
              <a:avLst/>
              <a:gdLst/>
              <a:ahLst/>
              <a:cxnLst/>
              <a:rect l="l" t="t" r="r" b="b"/>
              <a:pathLst>
                <a:path w="7139949" h="2039985">
                  <a:moveTo>
                    <a:pt x="0" y="0"/>
                  </a:moveTo>
                  <a:lnTo>
                    <a:pt x="7139949" y="0"/>
                  </a:lnTo>
                  <a:lnTo>
                    <a:pt x="7139949" y="2039986"/>
                  </a:lnTo>
                  <a:lnTo>
                    <a:pt x="0" y="2039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0790316" cy="17525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640"/>
                </a:lnSpc>
              </a:pPr>
              <a:r>
                <a:rPr lang="en-US" sz="2600" spc="13">
                  <a:solidFill>
                    <a:srgbClr val="000000"/>
                  </a:solidFill>
                  <a:latin typeface="Muli"/>
                </a:rPr>
                <a:t>Lazada is applying </a:t>
              </a:r>
              <a:r>
                <a:rPr lang="en-US" sz="2600" spc="13">
                  <a:solidFill>
                    <a:srgbClr val="000000"/>
                  </a:solidFill>
                  <a:latin typeface="Muli Bold"/>
                </a:rPr>
                <a:t>The Differentiation Strategy</a:t>
              </a:r>
            </a:p>
            <a:p>
              <a:pPr marL="561341" lvl="1" indent="-280670" algn="just">
                <a:lnSpc>
                  <a:spcPts val="3640"/>
                </a:lnSpc>
                <a:buFont typeface="Arial"/>
                <a:buChar char="•"/>
              </a:pPr>
              <a:r>
                <a:rPr lang="en-US" sz="2600" spc="13">
                  <a:solidFill>
                    <a:srgbClr val="000000"/>
                  </a:solidFill>
                  <a:latin typeface="Muli"/>
                </a:rPr>
                <a:t>focusing on providing good customer experience.</a:t>
              </a:r>
            </a:p>
            <a:p>
              <a:pPr marL="561341" lvl="1" indent="-280670" algn="just">
                <a:lnSpc>
                  <a:spcPts val="3640"/>
                </a:lnSpc>
                <a:buFont typeface="Arial"/>
                <a:buChar char="•"/>
              </a:pPr>
              <a:r>
                <a:rPr lang="en-US" sz="2600" spc="13">
                  <a:solidFill>
                    <a:srgbClr val="000000"/>
                  </a:solidFill>
                  <a:latin typeface="Muli"/>
                </a:rPr>
                <a:t>diverse and quality products/services.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41503" y="1936020"/>
            <a:ext cx="8602497" cy="2701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spc="-132">
                <a:solidFill>
                  <a:srgbClr val="000000"/>
                </a:solidFill>
                <a:latin typeface="Muli Light"/>
              </a:rPr>
              <a:t>Lazada's vision is to </a:t>
            </a:r>
            <a:r>
              <a:rPr lang="en-US" sz="2600" spc="-132">
                <a:solidFill>
                  <a:srgbClr val="000000"/>
                </a:solidFill>
                <a:latin typeface="Muli Bold"/>
              </a:rPr>
              <a:t>accelerate development for Southeast Asia.</a:t>
            </a:r>
          </a:p>
          <a:p>
            <a:pPr algn="just">
              <a:lnSpc>
                <a:spcPts val="2782"/>
              </a:lnSpc>
            </a:pPr>
            <a:endParaRPr lang="en-US" sz="2600" spc="-132">
              <a:solidFill>
                <a:srgbClr val="000000"/>
              </a:solidFill>
              <a:latin typeface="Muli Bold"/>
            </a:endParaRPr>
          </a:p>
          <a:p>
            <a:pPr algn="just">
              <a:lnSpc>
                <a:spcPts val="3640"/>
              </a:lnSpc>
            </a:pPr>
            <a:r>
              <a:rPr lang="en-US" sz="2600" spc="-132">
                <a:solidFill>
                  <a:srgbClr val="000000"/>
                </a:solidFill>
                <a:latin typeface="Muli Light"/>
              </a:rPr>
              <a:t>With the mission of </a:t>
            </a:r>
            <a:r>
              <a:rPr lang="en-US" sz="2600" spc="-132">
                <a:solidFill>
                  <a:srgbClr val="000000"/>
                </a:solidFill>
                <a:latin typeface="Muli Bold"/>
              </a:rPr>
              <a:t>Bringing the world to Southeast Asia.</a:t>
            </a:r>
          </a:p>
          <a:p>
            <a:pPr algn="just">
              <a:lnSpc>
                <a:spcPts val="2028"/>
              </a:lnSpc>
            </a:pPr>
            <a:r>
              <a:rPr lang="en-US" sz="2600" spc="-132">
                <a:solidFill>
                  <a:srgbClr val="000000"/>
                </a:solidFill>
                <a:latin typeface="Muli Light"/>
              </a:rPr>
              <a:t> </a:t>
            </a:r>
          </a:p>
          <a:p>
            <a:pPr algn="just">
              <a:lnSpc>
                <a:spcPts val="2990"/>
              </a:lnSpc>
            </a:pPr>
            <a:r>
              <a:rPr lang="en-US" sz="2600" spc="-132">
                <a:solidFill>
                  <a:srgbClr val="000000"/>
                </a:solidFill>
                <a:latin typeface="Muli Light"/>
              </a:rPr>
              <a:t>Create an ecosystem to </a:t>
            </a:r>
            <a:r>
              <a:rPr lang="en-US" sz="2600" spc="-132">
                <a:solidFill>
                  <a:srgbClr val="000000"/>
                </a:solidFill>
                <a:latin typeface="Muli Bold"/>
              </a:rPr>
              <a:t>"To make it easy for anyone to do business anywhere"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98398" y="532497"/>
            <a:ext cx="11132246" cy="119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240"/>
              </a:lnSpc>
            </a:pPr>
            <a:r>
              <a:rPr lang="en-US" sz="8400">
                <a:solidFill>
                  <a:srgbClr val="1836B2"/>
                </a:solidFill>
                <a:latin typeface="Muli Bold"/>
              </a:rPr>
              <a:t>Strategy Competitor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3573" y="715096"/>
            <a:ext cx="1098500" cy="627207"/>
          </a:xfrm>
          <a:custGeom>
            <a:avLst/>
            <a:gdLst/>
            <a:ahLst/>
            <a:cxnLst/>
            <a:rect l="l" t="t" r="r" b="b"/>
            <a:pathLst>
              <a:path w="1098500" h="627207">
                <a:moveTo>
                  <a:pt x="0" y="0"/>
                </a:moveTo>
                <a:lnTo>
                  <a:pt x="1098500" y="0"/>
                </a:lnTo>
                <a:lnTo>
                  <a:pt x="1098500" y="627208"/>
                </a:lnTo>
                <a:lnTo>
                  <a:pt x="0" y="627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157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362011" y="4506119"/>
            <a:ext cx="8925989" cy="2463067"/>
            <a:chOff x="0" y="0"/>
            <a:chExt cx="11901318" cy="3284089"/>
          </a:xfrm>
        </p:grpSpPr>
        <p:sp>
          <p:nvSpPr>
            <p:cNvPr id="4" name="Freeform 4"/>
            <p:cNvSpPr/>
            <p:nvPr/>
          </p:nvSpPr>
          <p:spPr>
            <a:xfrm>
              <a:off x="0" y="1028700"/>
              <a:ext cx="11901318" cy="2255389"/>
            </a:xfrm>
            <a:custGeom>
              <a:avLst/>
              <a:gdLst/>
              <a:ahLst/>
              <a:cxnLst/>
              <a:rect l="l" t="t" r="r" b="b"/>
              <a:pathLst>
                <a:path w="11901318" h="2255389">
                  <a:moveTo>
                    <a:pt x="0" y="0"/>
                  </a:moveTo>
                  <a:lnTo>
                    <a:pt x="11901318" y="0"/>
                  </a:lnTo>
                  <a:lnTo>
                    <a:pt x="11901318" y="2255389"/>
                  </a:lnTo>
                  <a:lnTo>
                    <a:pt x="0" y="225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0085769" cy="711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3500" spc="105">
                  <a:solidFill>
                    <a:srgbClr val="1836B2"/>
                  </a:solidFill>
                  <a:latin typeface="Muli Ultra-Bold Italics"/>
                </a:rPr>
                <a:t>Operation Process: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43897" y="7402366"/>
            <a:ext cx="8562218" cy="2550234"/>
            <a:chOff x="0" y="0"/>
            <a:chExt cx="11416291" cy="3400312"/>
          </a:xfrm>
        </p:grpSpPr>
        <p:sp>
          <p:nvSpPr>
            <p:cNvPr id="7" name="Freeform 7"/>
            <p:cNvSpPr/>
            <p:nvPr/>
          </p:nvSpPr>
          <p:spPr>
            <a:xfrm>
              <a:off x="0" y="1028700"/>
              <a:ext cx="11416291" cy="2371612"/>
            </a:xfrm>
            <a:custGeom>
              <a:avLst/>
              <a:gdLst/>
              <a:ahLst/>
              <a:cxnLst/>
              <a:rect l="l" t="t" r="r" b="b"/>
              <a:pathLst>
                <a:path w="11416291" h="2371612">
                  <a:moveTo>
                    <a:pt x="0" y="0"/>
                  </a:moveTo>
                  <a:lnTo>
                    <a:pt x="11416291" y="0"/>
                  </a:lnTo>
                  <a:lnTo>
                    <a:pt x="11416291" y="2371612"/>
                  </a:lnTo>
                  <a:lnTo>
                    <a:pt x="0" y="2371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0085769" cy="711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3500" spc="105">
                  <a:solidFill>
                    <a:srgbClr val="1836B2"/>
                  </a:solidFill>
                  <a:latin typeface="Muli Ultra-Bold Italics"/>
                </a:rPr>
                <a:t>Customer Service Process: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62011" y="1401127"/>
            <a:ext cx="7564327" cy="1904842"/>
            <a:chOff x="0" y="0"/>
            <a:chExt cx="10085769" cy="2539789"/>
          </a:xfrm>
        </p:grpSpPr>
        <p:sp>
          <p:nvSpPr>
            <p:cNvPr id="10" name="TextBox 10"/>
            <p:cNvSpPr txBox="1"/>
            <p:nvPr/>
          </p:nvSpPr>
          <p:spPr>
            <a:xfrm>
              <a:off x="0" y="678604"/>
              <a:ext cx="10085769" cy="1861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779"/>
                </a:lnSpc>
              </a:pPr>
              <a:r>
                <a:rPr lang="en-US" sz="2700" spc="13">
                  <a:solidFill>
                    <a:srgbClr val="000000"/>
                  </a:solidFill>
                  <a:latin typeface="Muli"/>
                </a:rPr>
                <a:t>To serve the above competitive strategy, our team will choose: </a:t>
              </a:r>
              <a:r>
                <a:rPr lang="en-US" sz="2700" spc="13">
                  <a:solidFill>
                    <a:srgbClr val="000000"/>
                  </a:solidFill>
                  <a:latin typeface="Muli Bold"/>
                </a:rPr>
                <a:t>Operation and Customer Service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0085769" cy="711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3500" spc="105">
                  <a:solidFill>
                    <a:srgbClr val="1836B2"/>
                  </a:solidFill>
                  <a:latin typeface="Muli Ultra-Bold"/>
                </a:rPr>
                <a:t>The 2 most important processes: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09167" y="2196932"/>
            <a:ext cx="7475696" cy="780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463" spc="12">
                <a:solidFill>
                  <a:srgbClr val="000000"/>
                </a:solidFill>
                <a:latin typeface="Muli Bold"/>
              </a:rPr>
              <a:t>Inbound logistics:</a:t>
            </a:r>
            <a:r>
              <a:rPr lang="en-US" sz="2463" spc="12">
                <a:solidFill>
                  <a:srgbClr val="000000"/>
                </a:solidFill>
                <a:latin typeface="Muli Light"/>
              </a:rPr>
              <a:t> managing the import of goods from suppliers into Lazada's warehouse.</a:t>
            </a:r>
          </a:p>
          <a:p>
            <a:pPr algn="just">
              <a:lnSpc>
                <a:spcPts val="3448"/>
              </a:lnSpc>
            </a:pPr>
            <a:endParaRPr lang="en-US" sz="2463" spc="12">
              <a:solidFill>
                <a:srgbClr val="000000"/>
              </a:solidFill>
              <a:latin typeface="Muli Light"/>
            </a:endParaRPr>
          </a:p>
          <a:p>
            <a:pPr algn="just">
              <a:lnSpc>
                <a:spcPts val="3448"/>
              </a:lnSpc>
            </a:pPr>
            <a:r>
              <a:rPr lang="en-US" sz="2463" spc="12">
                <a:solidFill>
                  <a:srgbClr val="000000"/>
                </a:solidFill>
                <a:latin typeface="Muli Bold"/>
              </a:rPr>
              <a:t>Operations:</a:t>
            </a:r>
            <a:r>
              <a:rPr lang="en-US" sz="2463" spc="12">
                <a:solidFill>
                  <a:srgbClr val="000000"/>
                </a:solidFill>
                <a:latin typeface="Muli Light"/>
              </a:rPr>
              <a:t>  managing orders warehouses, and product supply for customer satisfaction within Lazada's internal operations.  </a:t>
            </a:r>
          </a:p>
          <a:p>
            <a:pPr algn="just">
              <a:lnSpc>
                <a:spcPts val="3448"/>
              </a:lnSpc>
            </a:pPr>
            <a:endParaRPr lang="en-US" sz="2463" spc="12">
              <a:solidFill>
                <a:srgbClr val="000000"/>
              </a:solidFill>
              <a:latin typeface="Muli Light"/>
            </a:endParaRPr>
          </a:p>
          <a:p>
            <a:pPr algn="just">
              <a:lnSpc>
                <a:spcPts val="3448"/>
              </a:lnSpc>
            </a:pPr>
            <a:r>
              <a:rPr lang="en-US" sz="2463" spc="12">
                <a:solidFill>
                  <a:srgbClr val="000000"/>
                </a:solidFill>
                <a:latin typeface="Muli Bold"/>
              </a:rPr>
              <a:t>Outbound logistics: </a:t>
            </a:r>
            <a:r>
              <a:rPr lang="en-US" sz="2463" spc="12">
                <a:solidFill>
                  <a:srgbClr val="000000"/>
                </a:solidFill>
                <a:latin typeface="Muli Light"/>
              </a:rPr>
              <a:t>Transporting goods from Lazada's warehouse to customers post-order placement.</a:t>
            </a:r>
          </a:p>
          <a:p>
            <a:pPr algn="just">
              <a:lnSpc>
                <a:spcPts val="3448"/>
              </a:lnSpc>
            </a:pPr>
            <a:endParaRPr lang="en-US" sz="2463" spc="12">
              <a:solidFill>
                <a:srgbClr val="000000"/>
              </a:solidFill>
              <a:latin typeface="Muli Light"/>
            </a:endParaRPr>
          </a:p>
          <a:p>
            <a:pPr algn="just">
              <a:lnSpc>
                <a:spcPts val="3448"/>
              </a:lnSpc>
            </a:pPr>
            <a:r>
              <a:rPr lang="en-US" sz="2463" spc="12">
                <a:solidFill>
                  <a:srgbClr val="000000"/>
                </a:solidFill>
                <a:latin typeface="Muli Bold"/>
              </a:rPr>
              <a:t>Sales/marketing:</a:t>
            </a:r>
            <a:r>
              <a:rPr lang="en-US" sz="2463" spc="12">
                <a:solidFill>
                  <a:srgbClr val="000000"/>
                </a:solidFill>
                <a:latin typeface="Muli Light"/>
              </a:rPr>
              <a:t> Advertising and marketing products to attract customers and boost sales.</a:t>
            </a:r>
          </a:p>
          <a:p>
            <a:pPr algn="just">
              <a:lnSpc>
                <a:spcPts val="3448"/>
              </a:lnSpc>
            </a:pPr>
            <a:endParaRPr lang="en-US" sz="2463" spc="12">
              <a:solidFill>
                <a:srgbClr val="000000"/>
              </a:solidFill>
              <a:latin typeface="Muli Light"/>
            </a:endParaRPr>
          </a:p>
          <a:p>
            <a:pPr algn="just">
              <a:lnSpc>
                <a:spcPts val="3448"/>
              </a:lnSpc>
            </a:pPr>
            <a:r>
              <a:rPr lang="en-US" sz="2463" spc="12">
                <a:solidFill>
                  <a:srgbClr val="000000"/>
                </a:solidFill>
                <a:latin typeface="Muli Bold"/>
              </a:rPr>
              <a:t>Service customer: </a:t>
            </a:r>
            <a:r>
              <a:rPr lang="en-US" sz="2463" spc="12">
                <a:solidFill>
                  <a:srgbClr val="000000"/>
                </a:solidFill>
                <a:latin typeface="Muli Light"/>
              </a:rPr>
              <a:t> Providing after-sales customer support services encompassing user manuals, technical support, and returns and complaints processing. 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28192" y="741997"/>
            <a:ext cx="6356670" cy="119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240"/>
              </a:lnSpc>
            </a:pPr>
            <a:r>
              <a:rPr lang="en-US" sz="8400">
                <a:solidFill>
                  <a:srgbClr val="1836B2"/>
                </a:solidFill>
                <a:latin typeface="Muli Bold"/>
              </a:rPr>
              <a:t>Value Chain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91712" y="-3000685"/>
            <a:ext cx="8370405" cy="4779226"/>
          </a:xfrm>
          <a:custGeom>
            <a:avLst/>
            <a:gdLst/>
            <a:ahLst/>
            <a:cxnLst/>
            <a:rect l="l" t="t" r="r" b="b"/>
            <a:pathLst>
              <a:path w="8370405" h="4779226">
                <a:moveTo>
                  <a:pt x="0" y="0"/>
                </a:moveTo>
                <a:lnTo>
                  <a:pt x="8370405" y="0"/>
                </a:lnTo>
                <a:lnTo>
                  <a:pt x="8370405" y="4779226"/>
                </a:lnTo>
                <a:lnTo>
                  <a:pt x="0" y="4779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15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406625" y="2239915"/>
            <a:ext cx="10769559" cy="3791229"/>
          </a:xfrm>
          <a:custGeom>
            <a:avLst/>
            <a:gdLst/>
            <a:ahLst/>
            <a:cxnLst/>
            <a:rect l="l" t="t" r="r" b="b"/>
            <a:pathLst>
              <a:path w="10769559" h="3791229">
                <a:moveTo>
                  <a:pt x="0" y="0"/>
                </a:moveTo>
                <a:lnTo>
                  <a:pt x="10769559" y="0"/>
                </a:lnTo>
                <a:lnTo>
                  <a:pt x="10769559" y="3791229"/>
                </a:lnTo>
                <a:lnTo>
                  <a:pt x="0" y="37912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498" b="-249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362923" y="5143500"/>
            <a:ext cx="9397635" cy="4821238"/>
            <a:chOff x="0" y="0"/>
            <a:chExt cx="12530180" cy="6428317"/>
          </a:xfrm>
        </p:grpSpPr>
        <p:sp>
          <p:nvSpPr>
            <p:cNvPr id="5" name="TextBox 5"/>
            <p:cNvSpPr txBox="1"/>
            <p:nvPr/>
          </p:nvSpPr>
          <p:spPr>
            <a:xfrm>
              <a:off x="85261" y="0"/>
              <a:ext cx="8824408" cy="711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3500" spc="105">
                  <a:solidFill>
                    <a:srgbClr val="1836B2"/>
                  </a:solidFill>
                  <a:latin typeface="Muli Ultra-Bold"/>
                </a:rPr>
                <a:t>The most importance thing: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69925"/>
              <a:ext cx="12530180" cy="57583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49" lvl="1" indent="-269875" algn="just">
                <a:lnSpc>
                  <a:spcPts val="4574"/>
                </a:lnSpc>
                <a:buFont typeface="Arial"/>
                <a:buChar char="•"/>
              </a:pPr>
              <a:r>
                <a:rPr lang="en-US" sz="2499" spc="12">
                  <a:solidFill>
                    <a:srgbClr val="000000"/>
                  </a:solidFill>
                  <a:latin typeface="Muli Light"/>
                </a:rPr>
                <a:t>The </a:t>
              </a:r>
              <a:r>
                <a:rPr lang="en-US" sz="2499" spc="12">
                  <a:solidFill>
                    <a:srgbClr val="000000"/>
                  </a:solidFill>
                  <a:latin typeface="Muli Bold"/>
                </a:rPr>
                <a:t>"Customer Feedback"</a:t>
              </a:r>
              <a:r>
                <a:rPr lang="en-US" sz="2499" spc="12">
                  <a:solidFill>
                    <a:srgbClr val="000000"/>
                  </a:solidFill>
                  <a:latin typeface="Muli Light"/>
                </a:rPr>
                <a:t> </a:t>
              </a:r>
            </a:p>
            <a:p>
              <a:pPr algn="just">
                <a:lnSpc>
                  <a:spcPts val="4574"/>
                </a:lnSpc>
              </a:pPr>
              <a:r>
                <a:rPr lang="en-US" sz="2499" spc="12">
                  <a:solidFill>
                    <a:srgbClr val="000000"/>
                  </a:solidFill>
                  <a:latin typeface="Muli Light"/>
                </a:rPr>
                <a:t>-</a:t>
              </a:r>
              <a:r>
                <a:rPr lang="en-US" sz="2499" spc="12">
                  <a:solidFill>
                    <a:srgbClr val="000000"/>
                  </a:solidFill>
                  <a:latin typeface="Muli Bold"/>
                </a:rPr>
                <a:t>Build close relationships with customers:</a:t>
              </a:r>
              <a:r>
                <a:rPr lang="en-US" sz="2499" spc="12">
                  <a:solidFill>
                    <a:srgbClr val="000000"/>
                  </a:solidFill>
                  <a:latin typeface="Muli Light"/>
                </a:rPr>
                <a:t> to helps create trust and loyalty from customers.</a:t>
              </a:r>
            </a:p>
            <a:p>
              <a:pPr algn="just">
                <a:lnSpc>
                  <a:spcPts val="3499"/>
                </a:lnSpc>
              </a:pPr>
              <a:r>
                <a:rPr lang="en-US" sz="2499" spc="12">
                  <a:solidFill>
                    <a:srgbClr val="000000"/>
                  </a:solidFill>
                  <a:latin typeface="Muli Light"/>
                </a:rPr>
                <a:t>-</a:t>
              </a:r>
              <a:r>
                <a:rPr lang="en-US" sz="2499" spc="12">
                  <a:solidFill>
                    <a:srgbClr val="000000"/>
                  </a:solidFill>
                  <a:latin typeface="Muli Bold"/>
                </a:rPr>
                <a:t>Grasp the needs and desires of customers:</a:t>
              </a:r>
              <a:r>
                <a:rPr lang="en-US" sz="2499" spc="12">
                  <a:solidFill>
                    <a:srgbClr val="000000"/>
                  </a:solidFill>
                  <a:latin typeface="Muli Light"/>
                </a:rPr>
                <a:t> to understand what customers expect and thereby provide suitable products/services.</a:t>
              </a: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12">
                  <a:solidFill>
                    <a:srgbClr val="000000"/>
                  </a:solidFill>
                  <a:latin typeface="Muli Bold"/>
                </a:rPr>
                <a:t>-Optimize product/service delivery process:</a:t>
              </a:r>
              <a:r>
                <a:rPr lang="en-US" sz="2499" spc="12">
                  <a:solidFill>
                    <a:srgbClr val="000000"/>
                  </a:solidFill>
                  <a:latin typeface="Muli Light"/>
                </a:rPr>
                <a:t> to identify the strengths and weaknesses of the service, thereby continuously improving and developing.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26869" y="1663700"/>
            <a:ext cx="10822720" cy="347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spc="12">
                <a:solidFill>
                  <a:srgbClr val="000000"/>
                </a:solidFill>
                <a:latin typeface="Muli Light"/>
              </a:rPr>
              <a:t>The </a:t>
            </a:r>
            <a:r>
              <a:rPr lang="en-US" sz="2499" spc="12">
                <a:solidFill>
                  <a:srgbClr val="000000"/>
                </a:solidFill>
                <a:latin typeface="Muli Bold"/>
              </a:rPr>
              <a:t>business processes</a:t>
            </a:r>
            <a:r>
              <a:rPr lang="en-US" sz="2499" spc="12">
                <a:solidFill>
                  <a:srgbClr val="000000"/>
                </a:solidFill>
                <a:latin typeface="Muli Light"/>
              </a:rPr>
              <a:t> of the Lazada e-commerce platform include:</a:t>
            </a:r>
          </a:p>
          <a:p>
            <a:pPr algn="just">
              <a:lnSpc>
                <a:spcPts val="3499"/>
              </a:lnSpc>
            </a:pPr>
            <a:r>
              <a:rPr lang="en-US" sz="2499" spc="12">
                <a:solidFill>
                  <a:srgbClr val="000000"/>
                </a:solidFill>
                <a:latin typeface="Muli Light"/>
              </a:rPr>
              <a:t>- </a:t>
            </a:r>
            <a:r>
              <a:rPr lang="en-US" sz="2499" spc="12">
                <a:solidFill>
                  <a:srgbClr val="000000"/>
                </a:solidFill>
                <a:latin typeface="Muli Bold"/>
              </a:rPr>
              <a:t>Ordering process.</a:t>
            </a:r>
          </a:p>
          <a:p>
            <a:pPr algn="just">
              <a:lnSpc>
                <a:spcPts val="3499"/>
              </a:lnSpc>
            </a:pPr>
            <a:r>
              <a:rPr lang="en-US" sz="2499" spc="12">
                <a:solidFill>
                  <a:srgbClr val="000000"/>
                </a:solidFill>
                <a:latin typeface="Muli Light"/>
              </a:rPr>
              <a:t>- </a:t>
            </a:r>
            <a:r>
              <a:rPr lang="en-US" sz="2499" spc="12">
                <a:solidFill>
                  <a:srgbClr val="000000"/>
                </a:solidFill>
                <a:latin typeface="Muli Bold"/>
              </a:rPr>
              <a:t>Return process.</a:t>
            </a:r>
          </a:p>
          <a:p>
            <a:pPr algn="just">
              <a:lnSpc>
                <a:spcPts val="3499"/>
              </a:lnSpc>
            </a:pPr>
            <a:r>
              <a:rPr lang="en-US" sz="2499" spc="12">
                <a:solidFill>
                  <a:srgbClr val="000000"/>
                </a:solidFill>
                <a:latin typeface="Muli Light"/>
              </a:rPr>
              <a:t>- </a:t>
            </a:r>
            <a:r>
              <a:rPr lang="en-US" sz="2499" spc="12">
                <a:solidFill>
                  <a:srgbClr val="000000"/>
                </a:solidFill>
                <a:latin typeface="Muli Bold"/>
              </a:rPr>
              <a:t>Employee management process.</a:t>
            </a:r>
          </a:p>
          <a:p>
            <a:pPr>
              <a:lnSpc>
                <a:spcPts val="3499"/>
              </a:lnSpc>
            </a:pPr>
            <a:r>
              <a:rPr lang="en-US" sz="2499" spc="12">
                <a:solidFill>
                  <a:srgbClr val="000000"/>
                </a:solidFill>
                <a:latin typeface="Muli Light"/>
              </a:rPr>
              <a:t>- </a:t>
            </a:r>
            <a:r>
              <a:rPr lang="en-US" sz="2499" spc="12">
                <a:solidFill>
                  <a:srgbClr val="000000"/>
                </a:solidFill>
                <a:latin typeface="Muli Bold"/>
              </a:rPr>
              <a:t>Customer data management process.</a:t>
            </a:r>
          </a:p>
          <a:p>
            <a:pPr algn="just">
              <a:lnSpc>
                <a:spcPts val="3499"/>
              </a:lnSpc>
            </a:pPr>
            <a:r>
              <a:rPr lang="en-US" sz="2499" spc="12">
                <a:solidFill>
                  <a:srgbClr val="000000"/>
                </a:solidFill>
                <a:latin typeface="Muli Light"/>
              </a:rPr>
              <a:t>- </a:t>
            </a:r>
            <a:r>
              <a:rPr lang="en-US" sz="2499" spc="12">
                <a:solidFill>
                  <a:srgbClr val="000000"/>
                </a:solidFill>
                <a:latin typeface="Muli Bold"/>
              </a:rPr>
              <a:t>Customer feedback process.</a:t>
            </a:r>
          </a:p>
          <a:p>
            <a:pPr algn="just">
              <a:lnSpc>
                <a:spcPts val="3499"/>
              </a:lnSpc>
            </a:pPr>
            <a:r>
              <a:rPr lang="en-US" sz="2499" spc="12">
                <a:solidFill>
                  <a:srgbClr val="000000"/>
                </a:solidFill>
                <a:latin typeface="Muli Light"/>
              </a:rPr>
              <a:t>- </a:t>
            </a:r>
            <a:r>
              <a:rPr lang="en-US" sz="2499" spc="12">
                <a:solidFill>
                  <a:srgbClr val="000000"/>
                </a:solidFill>
                <a:latin typeface="Muli Bold"/>
              </a:rPr>
              <a:t>Inventory management process.</a:t>
            </a:r>
          </a:p>
          <a:p>
            <a:pPr algn="just">
              <a:lnSpc>
                <a:spcPts val="3499"/>
              </a:lnSpc>
            </a:pPr>
            <a:endParaRPr lang="en-US" sz="2499" spc="12">
              <a:solidFill>
                <a:srgbClr val="000000"/>
              </a:solidFill>
              <a:latin typeface="Muli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26869" y="143828"/>
            <a:ext cx="9250693" cy="1350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920"/>
              </a:lnSpc>
            </a:pPr>
            <a:r>
              <a:rPr lang="en-US" sz="8400">
                <a:solidFill>
                  <a:srgbClr val="1836B2"/>
                </a:solidFill>
                <a:latin typeface="Muli Bold"/>
              </a:rPr>
              <a:t>Business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379619" y="7677084"/>
            <a:ext cx="8370405" cy="4779226"/>
          </a:xfrm>
          <a:custGeom>
            <a:avLst/>
            <a:gdLst/>
            <a:ahLst/>
            <a:cxnLst/>
            <a:rect l="l" t="t" r="r" b="b"/>
            <a:pathLst>
              <a:path w="8370405" h="4779226">
                <a:moveTo>
                  <a:pt x="8370404" y="0"/>
                </a:moveTo>
                <a:lnTo>
                  <a:pt x="0" y="0"/>
                </a:lnTo>
                <a:lnTo>
                  <a:pt x="0" y="4779226"/>
                </a:lnTo>
                <a:lnTo>
                  <a:pt x="8370404" y="4779226"/>
                </a:lnTo>
                <a:lnTo>
                  <a:pt x="837040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15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H="1">
            <a:off x="5563990" y="6896100"/>
            <a:ext cx="6402407" cy="0"/>
          </a:xfrm>
          <a:prstGeom prst="line">
            <a:avLst/>
          </a:prstGeom>
          <a:ln w="28575" cap="rnd">
            <a:solidFill>
              <a:srgbClr val="1836B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8793768" y="2001022"/>
            <a:ext cx="0" cy="4895078"/>
          </a:xfrm>
          <a:prstGeom prst="line">
            <a:avLst/>
          </a:prstGeom>
          <a:ln w="28575" cap="rnd">
            <a:solidFill>
              <a:srgbClr val="1836B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9144000" y="1028700"/>
            <a:ext cx="9144000" cy="5941537"/>
            <a:chOff x="0" y="0"/>
            <a:chExt cx="12192000" cy="7922049"/>
          </a:xfrm>
        </p:grpSpPr>
        <p:sp>
          <p:nvSpPr>
            <p:cNvPr id="6" name="Freeform 6"/>
            <p:cNvSpPr/>
            <p:nvPr/>
          </p:nvSpPr>
          <p:spPr>
            <a:xfrm>
              <a:off x="3791628" y="0"/>
              <a:ext cx="8400372" cy="7922049"/>
            </a:xfrm>
            <a:custGeom>
              <a:avLst/>
              <a:gdLst/>
              <a:ahLst/>
              <a:cxnLst/>
              <a:rect l="l" t="t" r="r" b="b"/>
              <a:pathLst>
                <a:path w="8400372" h="7922049">
                  <a:moveTo>
                    <a:pt x="0" y="0"/>
                  </a:moveTo>
                  <a:lnTo>
                    <a:pt x="8400372" y="0"/>
                  </a:lnTo>
                  <a:lnTo>
                    <a:pt x="8400372" y="7922049"/>
                  </a:lnTo>
                  <a:lnTo>
                    <a:pt x="0" y="792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50" b="-10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43389"/>
              <a:ext cx="4194756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000"/>
                </a:lnSpc>
                <a:spcBef>
                  <a:spcPct val="0"/>
                </a:spcBef>
              </a:pPr>
              <a:r>
                <a:rPr lang="en-US" sz="5000" spc="-100">
                  <a:solidFill>
                    <a:srgbClr val="A066CB"/>
                  </a:solidFill>
                  <a:latin typeface="Muli Ultra-Bold"/>
                </a:rPr>
                <a:t>Software: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43400" y="7291831"/>
            <a:ext cx="9982200" cy="3260829"/>
            <a:chOff x="0" y="0"/>
            <a:chExt cx="8536542" cy="4347772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0"/>
              <a:ext cx="8536542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000"/>
                </a:lnSpc>
                <a:spcBef>
                  <a:spcPct val="0"/>
                </a:spcBef>
              </a:pPr>
              <a:r>
                <a:rPr lang="en-US" sz="5000" spc="-100">
                  <a:solidFill>
                    <a:srgbClr val="A066CB"/>
                  </a:solidFill>
                  <a:latin typeface="Muli Ultra-Bold"/>
                </a:rPr>
                <a:t>Human: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216587"/>
              <a:ext cx="8536542" cy="3131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780"/>
                </a:lnSpc>
              </a:pPr>
              <a:r>
                <a:rPr lang="en-US" sz="2700" spc="13">
                  <a:solidFill>
                    <a:srgbClr val="000000"/>
                  </a:solidFill>
                  <a:latin typeface="Muli Light"/>
                </a:rPr>
                <a:t>Have</a:t>
              </a:r>
              <a:r>
                <a:rPr lang="en-US" sz="2700" spc="13">
                  <a:solidFill>
                    <a:srgbClr val="000000"/>
                  </a:solidFill>
                  <a:latin typeface="Muli Bold"/>
                </a:rPr>
                <a:t> passion for work</a:t>
              </a:r>
              <a:r>
                <a:rPr lang="en-US" sz="2700" spc="13">
                  <a:solidFill>
                    <a:srgbClr val="000000"/>
                  </a:solidFill>
                  <a:latin typeface="Muli Light"/>
                </a:rPr>
                <a:t> and </a:t>
              </a:r>
              <a:r>
                <a:rPr lang="en-US" sz="2700" spc="13">
                  <a:solidFill>
                    <a:srgbClr val="000000"/>
                  </a:solidFill>
                  <a:latin typeface="Muli Bold"/>
                </a:rPr>
                <a:t>in-depth knowledge</a:t>
              </a:r>
              <a:r>
                <a:rPr lang="en-US" sz="2700" spc="13">
                  <a:solidFill>
                    <a:srgbClr val="000000"/>
                  </a:solidFill>
                  <a:latin typeface="Muli Light"/>
                </a:rPr>
                <a:t>.</a:t>
              </a:r>
            </a:p>
            <a:p>
              <a:pPr algn="just">
                <a:lnSpc>
                  <a:spcPts val="3780"/>
                </a:lnSpc>
              </a:pPr>
              <a:r>
                <a:rPr lang="en-US" sz="2700" spc="13">
                  <a:solidFill>
                    <a:srgbClr val="000000"/>
                  </a:solidFill>
                  <a:latin typeface="Muli Light"/>
                </a:rPr>
                <a:t>Able to</a:t>
              </a:r>
              <a:r>
                <a:rPr lang="en-US" sz="2700" spc="13">
                  <a:solidFill>
                    <a:srgbClr val="000000"/>
                  </a:solidFill>
                  <a:latin typeface="Muli Bold"/>
                </a:rPr>
                <a:t> adapt to changes of the times.</a:t>
              </a:r>
            </a:p>
            <a:p>
              <a:pPr marL="0" lvl="0" indent="0" algn="just">
                <a:lnSpc>
                  <a:spcPts val="3780"/>
                </a:lnSpc>
                <a:spcBef>
                  <a:spcPct val="0"/>
                </a:spcBef>
              </a:pPr>
              <a:r>
                <a:rPr lang="en-US" sz="2700" spc="13">
                  <a:solidFill>
                    <a:srgbClr val="000000"/>
                  </a:solidFill>
                  <a:latin typeface="Muli"/>
                </a:rPr>
                <a:t>  -&gt; </a:t>
              </a:r>
              <a:r>
                <a:rPr lang="en-US" sz="2700" spc="13">
                  <a:solidFill>
                    <a:srgbClr val="000000"/>
                  </a:solidFill>
                  <a:latin typeface="Muli Light"/>
                </a:rPr>
                <a:t>Is an important factor contributing to creating a Lazada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62505" y="2743778"/>
            <a:ext cx="6402407" cy="3254817"/>
            <a:chOff x="0" y="0"/>
            <a:chExt cx="8536542" cy="433975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0"/>
              <a:ext cx="8536542" cy="1107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000"/>
                </a:lnSpc>
                <a:spcBef>
                  <a:spcPct val="0"/>
                </a:spcBef>
              </a:pPr>
              <a:r>
                <a:rPr lang="en-US" sz="5000" spc="-100">
                  <a:solidFill>
                    <a:srgbClr val="A066CB"/>
                  </a:solidFill>
                  <a:latin typeface="Muli Ultra-Bold"/>
                </a:rPr>
                <a:t>Hardware: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539406"/>
              <a:ext cx="7857225" cy="2800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just">
                <a:lnSpc>
                  <a:spcPts val="4200"/>
                </a:lnSpc>
                <a:buFont typeface="Arial"/>
                <a:buChar char="•"/>
              </a:pPr>
              <a:r>
                <a:rPr lang="en-US" sz="3000" spc="15">
                  <a:solidFill>
                    <a:srgbClr val="000000"/>
                  </a:solidFill>
                  <a:latin typeface="Muli Light"/>
                </a:rPr>
                <a:t>End devices</a:t>
              </a:r>
            </a:p>
            <a:p>
              <a:pPr marL="647700" lvl="1" indent="-323850" algn="just">
                <a:lnSpc>
                  <a:spcPts val="4200"/>
                </a:lnSpc>
                <a:buFont typeface="Arial"/>
                <a:buChar char="•"/>
              </a:pPr>
              <a:r>
                <a:rPr lang="en-US" sz="3000" spc="15">
                  <a:solidFill>
                    <a:srgbClr val="000000"/>
                  </a:solidFill>
                  <a:latin typeface="Muli Light"/>
                </a:rPr>
                <a:t>Storage devices </a:t>
              </a:r>
            </a:p>
            <a:p>
              <a:pPr marL="647700" lvl="1" indent="-323850" algn="just">
                <a:lnSpc>
                  <a:spcPts val="4200"/>
                </a:lnSpc>
                <a:buFont typeface="Arial"/>
                <a:buChar char="•"/>
              </a:pPr>
              <a:r>
                <a:rPr lang="en-US" sz="3000" spc="15">
                  <a:solidFill>
                    <a:srgbClr val="000000"/>
                  </a:solidFill>
                  <a:latin typeface="Muli Light"/>
                </a:rPr>
                <a:t>Hardware security</a:t>
              </a:r>
            </a:p>
            <a:p>
              <a:pPr algn="just">
                <a:lnSpc>
                  <a:spcPts val="4200"/>
                </a:lnSpc>
              </a:pPr>
              <a:endParaRPr lang="en-US" sz="3000" spc="15">
                <a:solidFill>
                  <a:srgbClr val="000000"/>
                </a:solidFill>
                <a:latin typeface="Muli Light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84621" y="121670"/>
            <a:ext cx="10758738" cy="381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080"/>
              </a:lnSpc>
            </a:pPr>
            <a:r>
              <a:rPr lang="en-US" sz="8400">
                <a:solidFill>
                  <a:srgbClr val="1836B2"/>
                </a:solidFill>
                <a:latin typeface="Muli Bold"/>
              </a:rPr>
              <a:t>Analyze Information System</a:t>
            </a:r>
          </a:p>
          <a:p>
            <a:pPr>
              <a:lnSpc>
                <a:spcPts val="10080"/>
              </a:lnSpc>
            </a:pPr>
            <a:endParaRPr lang="en-US" sz="8400">
              <a:solidFill>
                <a:srgbClr val="1836B2"/>
              </a:solidFill>
              <a:latin typeface="Muli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3715916" y="4969871"/>
            <a:ext cx="10703767" cy="0"/>
          </a:xfrm>
          <a:prstGeom prst="line">
            <a:avLst/>
          </a:prstGeom>
          <a:ln w="28575" cap="rnd">
            <a:solidFill>
              <a:srgbClr val="86C7E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9538236" y="2043306"/>
            <a:ext cx="8439239" cy="1304117"/>
            <a:chOff x="0" y="-57150"/>
            <a:chExt cx="11252319" cy="1738823"/>
          </a:xfrm>
        </p:grpSpPr>
        <p:sp>
          <p:nvSpPr>
            <p:cNvPr id="7" name="TextBox 7"/>
            <p:cNvSpPr txBox="1"/>
            <p:nvPr/>
          </p:nvSpPr>
          <p:spPr>
            <a:xfrm>
              <a:off x="624753" y="1123572"/>
              <a:ext cx="9778955" cy="558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584"/>
                </a:lnSpc>
                <a:spcBef>
                  <a:spcPct val="0"/>
                </a:spcBef>
              </a:pPr>
              <a:endParaRPr lang="en-US" sz="2360" spc="11">
                <a:solidFill>
                  <a:srgbClr val="000000"/>
                </a:solidFill>
                <a:latin typeface="Muli Light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1252319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Muli Bold"/>
                </a:rPr>
                <a:t>*Suggestion 1: </a:t>
              </a:r>
              <a:r>
                <a:rPr lang="en-US" sz="3000" spc="15">
                  <a:solidFill>
                    <a:srgbClr val="000000"/>
                  </a:solidFill>
                  <a:latin typeface="Muli"/>
                </a:rPr>
                <a:t>Utilizing VR and AR technology 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006801" y="7060002"/>
            <a:ext cx="7759171" cy="2064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48"/>
              </a:lnSpc>
              <a:spcBef>
                <a:spcPct val="0"/>
              </a:spcBef>
            </a:pPr>
            <a:r>
              <a:rPr lang="en-US" sz="2391" spc="11">
                <a:solidFill>
                  <a:srgbClr val="000000"/>
                </a:solidFill>
                <a:latin typeface="Muli Bold"/>
              </a:rPr>
              <a:t>-Impact on users:</a:t>
            </a:r>
            <a:r>
              <a:rPr lang="en-US" sz="2391" spc="11">
                <a:solidFill>
                  <a:srgbClr val="000000"/>
                </a:solidFill>
                <a:latin typeface="Muli Light"/>
              </a:rPr>
              <a:t> the experience will be faster, safer and more convenient payments.</a:t>
            </a:r>
          </a:p>
          <a:p>
            <a:pPr algn="just">
              <a:lnSpc>
                <a:spcPts val="3348"/>
              </a:lnSpc>
              <a:spcBef>
                <a:spcPct val="0"/>
              </a:spcBef>
            </a:pPr>
            <a:endParaRPr lang="en-US" sz="2391" spc="11">
              <a:solidFill>
                <a:srgbClr val="000000"/>
              </a:solidFill>
              <a:latin typeface="Muli Light"/>
            </a:endParaRPr>
          </a:p>
          <a:p>
            <a:pPr algn="just">
              <a:lnSpc>
                <a:spcPts val="3237"/>
              </a:lnSpc>
              <a:spcBef>
                <a:spcPct val="0"/>
              </a:spcBef>
            </a:pPr>
            <a:r>
              <a:rPr lang="en-US" sz="2312" spc="11">
                <a:solidFill>
                  <a:srgbClr val="000000"/>
                </a:solidFill>
                <a:latin typeface="Muli Bold"/>
              </a:rPr>
              <a:t>-Influence on Lazada's strategy:</a:t>
            </a:r>
            <a:r>
              <a:rPr lang="en-US" sz="2312" spc="11">
                <a:solidFill>
                  <a:srgbClr val="000000"/>
                </a:solidFill>
                <a:latin typeface="Muli Light"/>
              </a:rPr>
              <a:t> create trust and attract customers.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54290" y="240030"/>
            <a:ext cx="6847956" cy="1424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760"/>
              </a:lnSpc>
              <a:spcBef>
                <a:spcPct val="0"/>
              </a:spcBef>
            </a:pPr>
            <a:r>
              <a:rPr lang="en-US" sz="8400" spc="-168">
                <a:solidFill>
                  <a:srgbClr val="1836B2"/>
                </a:solidFill>
                <a:latin typeface="Muli Bold"/>
              </a:rPr>
              <a:t>Suggestion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36638" y="3472948"/>
            <a:ext cx="7290499" cy="4689579"/>
            <a:chOff x="0" y="0"/>
            <a:chExt cx="9720665" cy="6252772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0"/>
              <a:ext cx="9720665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000"/>
                </a:lnSpc>
                <a:spcBef>
                  <a:spcPct val="0"/>
                </a:spcBef>
              </a:pPr>
              <a:r>
                <a:rPr lang="en-US" sz="5000" spc="-100">
                  <a:solidFill>
                    <a:srgbClr val="A066CB"/>
                  </a:solidFill>
                  <a:latin typeface="Muli Ultra-Bold"/>
                </a:rPr>
                <a:t>Data (*Most Important):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216587"/>
              <a:ext cx="9720665" cy="5036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780"/>
                </a:lnSpc>
              </a:pPr>
              <a:r>
                <a:rPr lang="en-US" sz="2700" spc="13">
                  <a:solidFill>
                    <a:srgbClr val="000000"/>
                  </a:solidFill>
                  <a:latin typeface="Muli Light"/>
                </a:rPr>
                <a:t>Lazada may collect the following personal data:</a:t>
              </a:r>
              <a:r>
                <a:rPr lang="en-US" sz="2700" spc="13">
                  <a:solidFill>
                    <a:srgbClr val="000000"/>
                  </a:solidFill>
                  <a:latin typeface="Muli Bold"/>
                </a:rPr>
                <a:t> </a:t>
              </a:r>
            </a:p>
            <a:p>
              <a:pPr algn="just">
                <a:lnSpc>
                  <a:spcPts val="3780"/>
                </a:lnSpc>
              </a:pPr>
              <a:r>
                <a:rPr lang="en-US" sz="2700" spc="13">
                  <a:solidFill>
                    <a:srgbClr val="000000"/>
                  </a:solidFill>
                  <a:latin typeface="Muli Bold"/>
                </a:rPr>
                <a:t>-Identity data                - Contact data, </a:t>
              </a:r>
            </a:p>
            <a:p>
              <a:pPr algn="just">
                <a:lnSpc>
                  <a:spcPts val="3780"/>
                </a:lnSpc>
              </a:pPr>
              <a:r>
                <a:rPr lang="en-US" sz="2700" spc="13">
                  <a:solidFill>
                    <a:srgbClr val="000000"/>
                  </a:solidFill>
                  <a:latin typeface="Muli Bold"/>
                </a:rPr>
                <a:t>-Account data               - Transaction data </a:t>
              </a:r>
            </a:p>
            <a:p>
              <a:pPr algn="just">
                <a:lnSpc>
                  <a:spcPts val="3780"/>
                </a:lnSpc>
              </a:pPr>
              <a:r>
                <a:rPr lang="en-US" sz="2700" spc="13">
                  <a:solidFill>
                    <a:srgbClr val="000000"/>
                  </a:solidFill>
                  <a:latin typeface="Muli Bold"/>
                </a:rPr>
                <a:t>-Technical data             - Profile data </a:t>
              </a:r>
            </a:p>
            <a:p>
              <a:pPr algn="just">
                <a:lnSpc>
                  <a:spcPts val="3780"/>
                </a:lnSpc>
              </a:pPr>
              <a:r>
                <a:rPr lang="en-US" sz="2700" spc="13">
                  <a:solidFill>
                    <a:srgbClr val="000000"/>
                  </a:solidFill>
                  <a:latin typeface="Muli Bold"/>
                </a:rPr>
                <a:t>-Usage data                   - Location data </a:t>
              </a:r>
            </a:p>
            <a:p>
              <a:pPr algn="just">
                <a:lnSpc>
                  <a:spcPts val="3780"/>
                </a:lnSpc>
              </a:pPr>
              <a:r>
                <a:rPr lang="en-US" sz="2700" spc="13">
                  <a:solidFill>
                    <a:srgbClr val="000000"/>
                  </a:solidFill>
                  <a:latin typeface="Muli Bold"/>
                </a:rPr>
                <a:t>-Biometric data </a:t>
              </a:r>
            </a:p>
            <a:p>
              <a:pPr marL="0" lvl="0" indent="0" algn="just">
                <a:lnSpc>
                  <a:spcPts val="3780"/>
                </a:lnSpc>
                <a:spcBef>
                  <a:spcPct val="0"/>
                </a:spcBef>
              </a:pPr>
              <a:r>
                <a:rPr lang="en-US" sz="2700" spc="13">
                  <a:solidFill>
                    <a:srgbClr val="000000"/>
                  </a:solidFill>
                  <a:latin typeface="Muli Bold"/>
                </a:rPr>
                <a:t>-Marketing and communications data.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36638" y="34555"/>
            <a:ext cx="7290499" cy="3260829"/>
            <a:chOff x="0" y="0"/>
            <a:chExt cx="9720665" cy="4347772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95250"/>
              <a:ext cx="9720665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000"/>
                </a:lnSpc>
                <a:spcBef>
                  <a:spcPct val="0"/>
                </a:spcBef>
              </a:pPr>
              <a:r>
                <a:rPr lang="en-US" sz="5000" spc="-100">
                  <a:solidFill>
                    <a:srgbClr val="A066CB"/>
                  </a:solidFill>
                  <a:latin typeface="Muli Ultra-Bold"/>
                </a:rPr>
                <a:t>Process: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216587"/>
              <a:ext cx="9720665" cy="3131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780"/>
                </a:lnSpc>
                <a:spcBef>
                  <a:spcPct val="0"/>
                </a:spcBef>
              </a:pPr>
              <a:r>
                <a:rPr lang="en-US" sz="2700" spc="13">
                  <a:solidFill>
                    <a:srgbClr val="000000"/>
                  </a:solidFill>
                  <a:latin typeface="Muli Light"/>
                </a:rPr>
                <a:t>To make a difference, the </a:t>
              </a:r>
              <a:r>
                <a:rPr lang="en-US" sz="2700" spc="13">
                  <a:solidFill>
                    <a:srgbClr val="000000"/>
                  </a:solidFill>
                  <a:latin typeface="Muli Bold"/>
                </a:rPr>
                <a:t>“Reply to customers”</a:t>
              </a:r>
              <a:r>
                <a:rPr lang="en-US" sz="2700" spc="13">
                  <a:solidFill>
                    <a:srgbClr val="000000"/>
                  </a:solidFill>
                  <a:latin typeface="Muli Light"/>
                </a:rPr>
                <a:t> process highlights Lazada's competitive strategy, which is also the key to building sustainable relationships with customers.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7CE35A0-F8FD-1E61-1838-6E19FE4056BE}"/>
              </a:ext>
            </a:extLst>
          </p:cNvPr>
          <p:cNvSpPr txBox="1"/>
          <p:nvPr/>
        </p:nvSpPr>
        <p:spPr>
          <a:xfrm>
            <a:off x="157765" y="8316141"/>
            <a:ext cx="8755798" cy="2005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800" spc="13">
                <a:solidFill>
                  <a:srgbClr val="000000"/>
                </a:solidFill>
                <a:latin typeface="Muli Light"/>
              </a:rPr>
              <a:t>*Data is the foundation of all activities in the information system.</a:t>
            </a:r>
          </a:p>
          <a:p>
            <a:pPr algn="just">
              <a:lnSpc>
                <a:spcPts val="3780"/>
              </a:lnSpc>
            </a:pPr>
            <a:r>
              <a:rPr lang="en-US" sz="2800" spc="13">
                <a:solidFill>
                  <a:srgbClr val="000000"/>
                </a:solidFill>
                <a:latin typeface="Muli Light"/>
              </a:rPr>
              <a:t>Data helps shape decisions, predict trends, and generate valuable information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C37438-3491-80D5-0088-928B31E382AF}"/>
              </a:ext>
            </a:extLst>
          </p:cNvPr>
          <p:cNvSpPr txBox="1"/>
          <p:nvPr/>
        </p:nvSpPr>
        <p:spPr>
          <a:xfrm>
            <a:off x="9581846" y="5618179"/>
            <a:ext cx="7759171" cy="1126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spc="15">
                <a:solidFill>
                  <a:srgbClr val="000000"/>
                </a:solidFill>
                <a:latin typeface="Muli Bold"/>
              </a:rPr>
              <a:t>*Suggestion 2: </a:t>
            </a:r>
            <a:r>
              <a:rPr lang="en-US" sz="3000" spc="15">
                <a:solidFill>
                  <a:srgbClr val="000000"/>
                </a:solidFill>
                <a:latin typeface="Muli Light"/>
              </a:rPr>
              <a:t>Research and deploy new payment methods: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EED274-24D1-D3AA-BD61-1DA1D78A5E22}"/>
              </a:ext>
            </a:extLst>
          </p:cNvPr>
          <p:cNvSpPr txBox="1"/>
          <p:nvPr/>
        </p:nvSpPr>
        <p:spPr>
          <a:xfrm>
            <a:off x="9631597" y="2954407"/>
            <a:ext cx="8338166" cy="225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584"/>
              </a:lnSpc>
              <a:spcBef>
                <a:spcPct val="0"/>
              </a:spcBef>
            </a:pPr>
            <a:r>
              <a:rPr lang="en-US" sz="2390" spc="12">
                <a:solidFill>
                  <a:srgbClr val="000000"/>
                </a:solidFill>
                <a:latin typeface="Muli Bold"/>
              </a:rPr>
              <a:t>-Impact on users</a:t>
            </a:r>
            <a:r>
              <a:rPr lang="en-US" sz="2390" spc="12">
                <a:solidFill>
                  <a:srgbClr val="000000"/>
                </a:solidFill>
                <a:latin typeface="Muli Light"/>
              </a:rPr>
              <a:t>: helping them be more confident in choosing products.</a:t>
            </a:r>
          </a:p>
          <a:p>
            <a:pPr algn="just">
              <a:lnSpc>
                <a:spcPts val="3304"/>
              </a:lnSpc>
              <a:spcBef>
                <a:spcPct val="0"/>
              </a:spcBef>
            </a:pPr>
            <a:endParaRPr lang="en-US" sz="2390" spc="12">
              <a:solidFill>
                <a:srgbClr val="000000"/>
              </a:solidFill>
              <a:latin typeface="Muli Light"/>
            </a:endParaRPr>
          </a:p>
          <a:p>
            <a:pPr algn="just">
              <a:lnSpc>
                <a:spcPts val="3304"/>
              </a:lnSpc>
              <a:spcBef>
                <a:spcPct val="0"/>
              </a:spcBef>
            </a:pPr>
            <a:r>
              <a:rPr lang="en-US" sz="2390" spc="11">
                <a:solidFill>
                  <a:srgbClr val="000000"/>
                </a:solidFill>
                <a:latin typeface="Muli Bold"/>
              </a:rPr>
              <a:t>-Influence on Lazada's strategy:</a:t>
            </a:r>
            <a:r>
              <a:rPr lang="en-US" sz="2390" spc="11">
                <a:solidFill>
                  <a:srgbClr val="000000"/>
                </a:solidFill>
                <a:latin typeface="Muli Light"/>
              </a:rPr>
              <a:t> helps Lazada create a difference and attract customers.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  <p:bldP spid="10" grpId="0"/>
      <p:bldP spid="18" grpId="0"/>
      <p:bldP spid="20" grpId="0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608</Words>
  <Application>Microsoft Office PowerPoint</Application>
  <PresentationFormat>Custom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Muli</vt:lpstr>
      <vt:lpstr>Muli Light</vt:lpstr>
      <vt:lpstr>Arial</vt:lpstr>
      <vt:lpstr>Calibri</vt:lpstr>
      <vt:lpstr>Muli Ultra-Bold Italics</vt:lpstr>
      <vt:lpstr>Muli Ultra-Bold</vt:lpstr>
      <vt:lpstr>Muli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Xanh dương và Tím Thông thường Doanh nghiệp Phát triển ứng dụng Khởi nghiệp Bản thuyết trình trình bày ý tưởng</dc:title>
  <cp:lastModifiedBy>Pham Tran Tien Phat</cp:lastModifiedBy>
  <cp:revision>2</cp:revision>
  <dcterms:created xsi:type="dcterms:W3CDTF">2006-08-16T00:00:00Z</dcterms:created>
  <dcterms:modified xsi:type="dcterms:W3CDTF">2024-04-06T16:40:39Z</dcterms:modified>
  <dc:identifier>DAGBjnAa_5w</dc:identifier>
</cp:coreProperties>
</file>